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5" r:id="rId18"/>
    <p:sldId id="276" r:id="rId19"/>
    <p:sldId id="280" r:id="rId20"/>
    <p:sldId id="281" r:id="rId21"/>
    <p:sldId id="282" r:id="rId22"/>
    <p:sldId id="283" r:id="rId23"/>
    <p:sldId id="284" r:id="rId24"/>
    <p:sldId id="285" r:id="rId25"/>
    <p:sldId id="286" r:id="rId26"/>
    <p:sldId id="287"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218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bài đề xuất theo tinh thần Xây để chuyển đổi — mọi thứ phát triển trên CRM1.0 phải tạo giá trị cho RM ngay hôm nay và mang được sang CRM hiện đại sau này.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VietinBank đã có 4 lớp hệ thống tự phát triển. CRM1.0 không phải hệ thống thứ 5 chồng lên, mà là nơi hợp nhất và chuẩn hóa trước khi mua/thuê CRM hiện đại.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vấn đề là giả định. Khi làm thật, bước đầu tiên là đo số liệu hiện trạng: tỷ lệ trùng, tỷ lệ đầy đủ, số RM dùng hằng tháng.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mục tiêu lấy nguyên từ đề bài. Điểm cộng: mỗi mục tiêu có KPI cụ thể, và các KPI này sẽ trở thành điều kiện chuyển giai đoạn ở slide sau.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Ngắn hạn: làm cho RM dùng và làm sạch dữ liệu. Trung hạn: làm cho dữ liệu sinh ra giá trị. Dài hạn: mang tất cả sang CRM hiện đại. Mỗi giai đoạn đồng thời dừng bớt một hệ thống cũ.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khác biệt: lộ trình thuê/mua CRM hiện đại được kích hoạt bởi mức độ sẵn sàng dữ liệu, đúng vai trò bước đệm của CRM1.0.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module cốt lõi bám theo công việc chính của RM: biết khách hàng, bán hàng, theo dõi giao dịch, đo hiệu suất. Bốn module đề xuất thêm giải quyết các điểm nghẽn RM khách hàng doanh nghiệp hay gặp: khách hàng tiềm năng từ Hội sở, định giá và xin duyệt, xử lý yêu cầu khách hàng, phát hiện rủi ro muộn.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Ngắn hạn chỉ làm 4 module cốt lõi để dồn nguồn lực vào dữ liệu và mức độ sử dụng. Bốn module bổ sung chạy ở trung hạn khi dữ liệu khách hàng đã sạch.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KH5 quan trọng với ngân hàng: mỗi khách hàng phải có một RM chịu trách nhiệm, và dữ liệu không mất khi RM nghỉ hoặc luân chuyển. KH6 mở ra bán hàng theo chuỗi: từ một khách hàng doanh nghiệp tiếp cận nhà cung cấp, đại lý của họ.</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PL1–PL3 cải tiến trực tiếp phần quản lý khách hàng tiềm năng và cơ hội đã chạy từ 5/2026. PL3 giúp RM không phải cập nhật trạng thái hồ sơ tín dụng hai lần.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dịch là lý do RM mở CRM mỗi ngày: biết khách hàng nào sắp đáo hạn, khách hàng nào đang chuyển dòng tiền đi, khách hàng nào có nhu cầu mới. GD5 cần dữ liệu giao dịch đã chuẩn hóa nên để trung hạn.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giá gắn trực tiếp vào cơ hội: giá chào, giá duyệt và lý do ưu đãi đều được lưu lại, trở thành dữ liệu cho phân tích lợi nhuận khách hàng sau này.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Cảnh báo sớm dùng lại dữ liệu module Giao dịch; CRM chỉ hiển thị và giao việc cho RM, không thay thế hệ thống quản lý rủi ro tín dụng hiện có.</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không đứng riêng mà gắn vào module. Dữ liệu chưa sạch thì chưa làm dự báo. Ngắn hạn chỉ dùng AI để làm sạch dữ liệu, chính là phục vụ Dữ liệu.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tính năng này là điều kiện tiên quyết. hồ sơ 360 cho RM lý do để mở CRM mỗi ngày; hồ sơ gốc duy nhất bảo đảm dữ liệu phía sau là một nguồn duy nhất.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Tự động điền là tính năng quan trọng nhất cho Thói quen: RM bớt nhập thì mới chịu dùng. Điểm chất lượng dữ liệu biến Dữ liệu thành việc cụ thể của từng RM.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minh họa cho sản phẩm tín dụng khách hàng doanh nghiệp; mỗi dòng sản phẩm có thể có biến thể nhưng dùng chung bộ khung này. Xác suất theo giai đoạn là nền cho AI dự báo doanh số ở dài hạn.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PL6 chỉ triển khai khi đạt Mốc kiểm tra 1, vì cần lịch sử chuyển đổi khách hàng tiềm năng sạch để AI học.</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HS4–HS5 chỉ bật sau khi đạt Mốc kiểm tra 1: khuyến khích trước, ràng buộc sau.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995680" y="2083335"/>
            <a:ext cx="76200" cy="2032000"/>
          </a:xfrm>
          <a:prstGeom prst="rect">
            <a:avLst/>
          </a:prstGeom>
          <a:solidFill>
            <a:srgbClr val="E0A45C"/>
          </a:solidFill>
          <a:ln/>
        </p:spPr>
      </p:sp>
      <p:sp>
        <p:nvSpPr>
          <p:cNvPr id="3" name="Text 1"/>
          <p:cNvSpPr/>
          <p:nvPr/>
        </p:nvSpPr>
        <p:spPr>
          <a:xfrm>
            <a:off x="1351280" y="2083335"/>
            <a:ext cx="10517124"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E0A45C"/>
                </a:solidFill>
                <a:latin typeface="Be Vietnam Pro" pitchFamily="34" charset="0"/>
                <a:ea typeface="Be Vietnam Pro" pitchFamily="34" charset="-122"/>
                <a:cs typeface="Be Vietnam Pro" pitchFamily="34" charset="-120"/>
              </a:rPr>
              <a:t>ĐỀ BÀI 1 · VỊ TRÍ CHUYÊN VIÊN CAO CẤP</a:t>
            </a:r>
            <a:endParaRPr lang="en-US" sz="1300" dirty="0"/>
          </a:p>
        </p:txBody>
      </p:sp>
      <p:sp>
        <p:nvSpPr>
          <p:cNvPr id="4" name="Text 2"/>
          <p:cNvSpPr/>
          <p:nvPr/>
        </p:nvSpPr>
        <p:spPr>
          <a:xfrm>
            <a:off x="1351280" y="2517615"/>
            <a:ext cx="10517124" cy="125472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F6F5F1"/>
                </a:solidFill>
                <a:latin typeface="Be Vietnam Pro" pitchFamily="34" charset="0"/>
                <a:ea typeface="Be Vietnam Pro" pitchFamily="34" charset="-122"/>
                <a:cs typeface="Be Vietnam Pro" pitchFamily="34" charset="-120"/>
              </a:rPr>
              <a:t>CRM1.0: Lộ trình phát triển và chuyển đổi sang CRM hiện đại</a:t>
            </a:r>
            <a:endParaRPr lang="en-US" sz="4400" dirty="0"/>
          </a:p>
        </p:txBody>
      </p:sp>
      <p:sp>
        <p:nvSpPr>
          <p:cNvPr id="5" name="Text 3"/>
          <p:cNvSpPr/>
          <p:nvPr/>
        </p:nvSpPr>
        <p:spPr>
          <a:xfrm>
            <a:off x="1351280" y="3950136"/>
            <a:ext cx="1051712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BDA"/>
                </a:solidFill>
                <a:latin typeface="Be Vietnam Pro" pitchFamily="34" charset="0"/>
                <a:ea typeface="Be Vietnam Pro" pitchFamily="34" charset="-122"/>
                <a:cs typeface="Be Vietnam Pro" pitchFamily="34" charset="-120"/>
              </a:rPr>
              <a:t>Chuẩn bị dữ liệu · Xây dựng văn hóa dữ liệu · Chuẩn hóa quy trình bán hàng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BỐI CẢNH HIỆN TẠI</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13 năm tự phát triển, CRM1.0 là bước đệm cuối cùng</a:t>
            </a:r>
            <a:endParaRPr lang="en-US" sz="2800" dirty="0"/>
          </a:p>
        </p:txBody>
      </p:sp>
      <p:sp>
        <p:nvSpPr>
          <p:cNvPr id="4" name="Shape 2"/>
          <p:cNvSpPr/>
          <p:nvPr/>
        </p:nvSpPr>
        <p:spPr>
          <a:xfrm>
            <a:off x="815975" y="1717576"/>
            <a:ext cx="2002730" cy="2073573"/>
          </a:xfrm>
          <a:prstGeom prst="roundRect">
            <a:avLst>
              <a:gd name="adj" fmla="val 3646"/>
            </a:avLst>
          </a:prstGeom>
          <a:solidFill>
            <a:srgbClr val="FDFDFB"/>
          </a:solidFill>
          <a:ln w="6350">
            <a:solidFill>
              <a:srgbClr val="DEDBD2"/>
            </a:solidFill>
            <a:prstDash val="solid"/>
          </a:ln>
        </p:spPr>
      </p:sp>
      <p:sp>
        <p:nvSpPr>
          <p:cNvPr id="5" name="Text 3"/>
          <p:cNvSpPr/>
          <p:nvPr/>
        </p:nvSpPr>
        <p:spPr>
          <a:xfrm>
            <a:off x="996950" y="1898551"/>
            <a:ext cx="16915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6B7B"/>
                </a:solidFill>
                <a:latin typeface="Be Vietnam Pro" pitchFamily="34" charset="0"/>
                <a:ea typeface="Be Vietnam Pro" pitchFamily="34" charset="-122"/>
                <a:cs typeface="Be Vietnam Pro" pitchFamily="34" charset="-120"/>
              </a:rPr>
              <a:t>2013</a:t>
            </a:r>
            <a:endParaRPr lang="en-US" sz="1400" dirty="0"/>
          </a:p>
        </p:txBody>
      </p:sp>
      <p:sp>
        <p:nvSpPr>
          <p:cNvPr id="6" name="Text 4"/>
          <p:cNvSpPr/>
          <p:nvPr/>
        </p:nvSpPr>
        <p:spPr>
          <a:xfrm>
            <a:off x="996950" y="2223591"/>
            <a:ext cx="16915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VCRM</a:t>
            </a:r>
            <a:endParaRPr lang="en-US" sz="1600" dirty="0"/>
          </a:p>
        </p:txBody>
      </p:sp>
      <p:sp>
        <p:nvSpPr>
          <p:cNvPr id="7" name="Text 5"/>
          <p:cNvSpPr/>
          <p:nvPr/>
        </p:nvSpPr>
        <p:spPr>
          <a:xfrm>
            <a:off x="996950" y="2543572"/>
            <a:ext cx="169158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Quản lý thông tin khách hàng, tự xây dựng</a:t>
            </a:r>
            <a:endParaRPr lang="en-US" sz="1200" dirty="0"/>
          </a:p>
        </p:txBody>
      </p:sp>
      <p:sp>
        <p:nvSpPr>
          <p:cNvPr id="8" name="Shape 6"/>
          <p:cNvSpPr/>
          <p:nvPr/>
        </p:nvSpPr>
        <p:spPr>
          <a:xfrm>
            <a:off x="2952055" y="1717576"/>
            <a:ext cx="2002830" cy="2073573"/>
          </a:xfrm>
          <a:prstGeom prst="roundRect">
            <a:avLst>
              <a:gd name="adj" fmla="val 3646"/>
            </a:avLst>
          </a:prstGeom>
          <a:solidFill>
            <a:srgbClr val="FDFDFB"/>
          </a:solidFill>
          <a:ln w="6350">
            <a:solidFill>
              <a:srgbClr val="DEDBD2"/>
            </a:solidFill>
            <a:prstDash val="solid"/>
          </a:ln>
        </p:spPr>
      </p:sp>
      <p:sp>
        <p:nvSpPr>
          <p:cNvPr id="9" name="Text 7"/>
          <p:cNvSpPr/>
          <p:nvPr/>
        </p:nvSpPr>
        <p:spPr>
          <a:xfrm>
            <a:off x="3133030" y="1898551"/>
            <a:ext cx="16916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6B7B"/>
                </a:solidFill>
                <a:latin typeface="Be Vietnam Pro" pitchFamily="34" charset="0"/>
                <a:ea typeface="Be Vietnam Pro" pitchFamily="34" charset="-122"/>
                <a:cs typeface="Be Vietnam Pro" pitchFamily="34" charset="-120"/>
              </a:rPr>
              <a:t>2021</a:t>
            </a:r>
            <a:endParaRPr lang="en-US" sz="1400" dirty="0"/>
          </a:p>
        </p:txBody>
      </p:sp>
      <p:sp>
        <p:nvSpPr>
          <p:cNvPr id="10" name="Text 8"/>
          <p:cNvSpPr/>
          <p:nvPr/>
        </p:nvSpPr>
        <p:spPr>
          <a:xfrm>
            <a:off x="3133030" y="2223591"/>
            <a:ext cx="1691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Sales Support</a:t>
            </a:r>
            <a:endParaRPr lang="en-US" sz="1600" dirty="0"/>
          </a:p>
        </p:txBody>
      </p:sp>
      <p:sp>
        <p:nvSpPr>
          <p:cNvPr id="11" name="Text 9"/>
          <p:cNvSpPr/>
          <p:nvPr/>
        </p:nvSpPr>
        <p:spPr>
          <a:xfrm>
            <a:off x="3133030" y="2543572"/>
            <a:ext cx="1691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Công cụ hỗ trợ bán hàng, tự xây dựng</a:t>
            </a:r>
            <a:endParaRPr lang="en-US" sz="1200" dirty="0"/>
          </a:p>
        </p:txBody>
      </p:sp>
      <p:sp>
        <p:nvSpPr>
          <p:cNvPr id="12" name="Shape 10"/>
          <p:cNvSpPr/>
          <p:nvPr/>
        </p:nvSpPr>
        <p:spPr>
          <a:xfrm>
            <a:off x="5088235" y="1717576"/>
            <a:ext cx="2002730" cy="2073573"/>
          </a:xfrm>
          <a:prstGeom prst="roundRect">
            <a:avLst>
              <a:gd name="adj" fmla="val 3646"/>
            </a:avLst>
          </a:prstGeom>
          <a:solidFill>
            <a:srgbClr val="FDFDFB"/>
          </a:solidFill>
          <a:ln w="6350">
            <a:solidFill>
              <a:srgbClr val="DEDBD2"/>
            </a:solidFill>
            <a:prstDash val="solid"/>
          </a:ln>
        </p:spPr>
      </p:sp>
      <p:sp>
        <p:nvSpPr>
          <p:cNvPr id="13" name="Text 11"/>
          <p:cNvSpPr/>
          <p:nvPr/>
        </p:nvSpPr>
        <p:spPr>
          <a:xfrm>
            <a:off x="5269210" y="1898551"/>
            <a:ext cx="16915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6B7B"/>
                </a:solidFill>
                <a:latin typeface="Be Vietnam Pro" pitchFamily="34" charset="0"/>
                <a:ea typeface="Be Vietnam Pro" pitchFamily="34" charset="-122"/>
                <a:cs typeface="Be Vietnam Pro" pitchFamily="34" charset="-120"/>
              </a:rPr>
              <a:t>11/2023 – 6/2024</a:t>
            </a:r>
            <a:endParaRPr lang="en-US" sz="1400" dirty="0"/>
          </a:p>
        </p:txBody>
      </p:sp>
      <p:sp>
        <p:nvSpPr>
          <p:cNvPr id="14" name="Text 12"/>
          <p:cNvSpPr/>
          <p:nvPr/>
        </p:nvSpPr>
        <p:spPr>
          <a:xfrm>
            <a:off x="5269210" y="2223591"/>
            <a:ext cx="16915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RM Workbench</a:t>
            </a:r>
            <a:endParaRPr lang="en-US" sz="1600" dirty="0"/>
          </a:p>
        </p:txBody>
      </p:sp>
      <p:sp>
        <p:nvSpPr>
          <p:cNvPr id="15" name="Text 13"/>
          <p:cNvSpPr/>
          <p:nvPr/>
        </p:nvSpPr>
        <p:spPr>
          <a:xfrm>
            <a:off x="5269210" y="2543572"/>
            <a:ext cx="169158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Không gian làm việc cho RM khách hàng doanh nghiệp, mở rộng toàn hàng từ 6/2024</a:t>
            </a:r>
            <a:endParaRPr lang="en-US" sz="1200" dirty="0"/>
          </a:p>
        </p:txBody>
      </p:sp>
      <p:sp>
        <p:nvSpPr>
          <p:cNvPr id="16" name="Shape 14"/>
          <p:cNvSpPr/>
          <p:nvPr/>
        </p:nvSpPr>
        <p:spPr>
          <a:xfrm>
            <a:off x="7224316" y="1717576"/>
            <a:ext cx="2002830" cy="2073573"/>
          </a:xfrm>
          <a:prstGeom prst="roundRect">
            <a:avLst>
              <a:gd name="adj" fmla="val 3646"/>
            </a:avLst>
          </a:prstGeom>
          <a:solidFill>
            <a:srgbClr val="FDFDFB"/>
          </a:solidFill>
          <a:ln w="6350">
            <a:solidFill>
              <a:srgbClr val="DEDBD2"/>
            </a:solidFill>
            <a:prstDash val="solid"/>
          </a:ln>
        </p:spPr>
      </p:sp>
      <p:sp>
        <p:nvSpPr>
          <p:cNvPr id="17" name="Text 15"/>
          <p:cNvSpPr/>
          <p:nvPr/>
        </p:nvSpPr>
        <p:spPr>
          <a:xfrm>
            <a:off x="7405291" y="1898551"/>
            <a:ext cx="16916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5FA8"/>
                </a:solidFill>
                <a:latin typeface="Be Vietnam Pro" pitchFamily="34" charset="0"/>
                <a:ea typeface="Be Vietnam Pro" pitchFamily="34" charset="-122"/>
                <a:cs typeface="Be Vietnam Pro" pitchFamily="34" charset="-120"/>
              </a:rPr>
              <a:t>5/2026</a:t>
            </a:r>
            <a:endParaRPr lang="en-US" sz="1400" dirty="0"/>
          </a:p>
        </p:txBody>
      </p:sp>
      <p:sp>
        <p:nvSpPr>
          <p:cNvPr id="18" name="Text 16"/>
          <p:cNvSpPr/>
          <p:nvPr/>
        </p:nvSpPr>
        <p:spPr>
          <a:xfrm>
            <a:off x="7405291" y="2223591"/>
            <a:ext cx="169168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CRM1.0 giai đoạn 1</a:t>
            </a:r>
            <a:endParaRPr lang="en-US" sz="1600" dirty="0"/>
          </a:p>
        </p:txBody>
      </p:sp>
      <p:sp>
        <p:nvSpPr>
          <p:cNvPr id="19" name="Text 17"/>
          <p:cNvSpPr/>
          <p:nvPr/>
        </p:nvSpPr>
        <p:spPr>
          <a:xfrm>
            <a:off x="7405291" y="2787352"/>
            <a:ext cx="169168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Khách hàng tiềm năng, cơ hội bán hàng; tiếp tục cải tiến</a:t>
            </a:r>
            <a:endParaRPr lang="en-US" sz="1200" dirty="0"/>
          </a:p>
        </p:txBody>
      </p:sp>
      <p:sp>
        <p:nvSpPr>
          <p:cNvPr id="20" name="Shape 18"/>
          <p:cNvSpPr/>
          <p:nvPr/>
        </p:nvSpPr>
        <p:spPr>
          <a:xfrm>
            <a:off x="9363670" y="1720751"/>
            <a:ext cx="2009180" cy="2067223"/>
          </a:xfrm>
          <a:prstGeom prst="roundRect">
            <a:avLst>
              <a:gd name="adj" fmla="val 3477"/>
            </a:avLst>
          </a:prstGeom>
          <a:solidFill>
            <a:srgbClr val="FBF1E6"/>
          </a:solidFill>
          <a:ln w="12700">
            <a:solidFill>
              <a:srgbClr val="A8540F"/>
            </a:solidFill>
            <a:prstDash val="dash"/>
          </a:ln>
        </p:spPr>
      </p:sp>
      <p:sp>
        <p:nvSpPr>
          <p:cNvPr id="21" name="Text 19"/>
          <p:cNvSpPr/>
          <p:nvPr/>
        </p:nvSpPr>
        <p:spPr>
          <a:xfrm>
            <a:off x="9547820" y="1904901"/>
            <a:ext cx="16916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540F"/>
                </a:solidFill>
                <a:latin typeface="Be Vietnam Pro" pitchFamily="34" charset="0"/>
                <a:ea typeface="Be Vietnam Pro" pitchFamily="34" charset="-122"/>
                <a:cs typeface="Be Vietnam Pro" pitchFamily="34" charset="-120"/>
              </a:rPr>
              <a:t>Tương lai</a:t>
            </a:r>
            <a:endParaRPr lang="en-US" sz="1400" dirty="0"/>
          </a:p>
        </p:txBody>
      </p:sp>
      <p:sp>
        <p:nvSpPr>
          <p:cNvPr id="22" name="Text 20"/>
          <p:cNvSpPr/>
          <p:nvPr/>
        </p:nvSpPr>
        <p:spPr>
          <a:xfrm>
            <a:off x="9547820" y="2229941"/>
            <a:ext cx="1691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CRM hiện đại</a:t>
            </a:r>
            <a:endParaRPr lang="en-US" sz="1600" dirty="0"/>
          </a:p>
        </p:txBody>
      </p:sp>
      <p:sp>
        <p:nvSpPr>
          <p:cNvPr id="23" name="Text 21"/>
          <p:cNvSpPr/>
          <p:nvPr/>
        </p:nvSpPr>
        <p:spPr>
          <a:xfrm>
            <a:off x="9547820" y="2549922"/>
            <a:ext cx="169168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Thuê hoặc mua khi dữ liệu, quy trình và con người sẵn sàng</a:t>
            </a:r>
            <a:endParaRPr lang="en-US" sz="1200" dirty="0"/>
          </a:p>
        </p:txBody>
      </p:sp>
      <p:sp>
        <p:nvSpPr>
          <p:cNvPr id="24" name="Shape 22"/>
          <p:cNvSpPr/>
          <p:nvPr/>
        </p:nvSpPr>
        <p:spPr>
          <a:xfrm>
            <a:off x="812800" y="4099123"/>
            <a:ext cx="10566400" cy="990600"/>
          </a:xfrm>
          <a:prstGeom prst="roundRect">
            <a:avLst>
              <a:gd name="adj" fmla="val 10256"/>
            </a:avLst>
          </a:prstGeom>
          <a:solidFill>
            <a:srgbClr val="13233F"/>
          </a:solidFill>
          <a:ln/>
        </p:spPr>
      </p:sp>
      <p:sp>
        <p:nvSpPr>
          <p:cNvPr id="25" name="Text 23"/>
          <p:cNvSpPr/>
          <p:nvPr/>
        </p:nvSpPr>
        <p:spPr>
          <a:xfrm>
            <a:off x="1092200" y="4478834"/>
            <a:ext cx="1565473"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E0A45C"/>
                </a:solidFill>
                <a:latin typeface="Be Vietnam Pro" pitchFamily="34" charset="0"/>
                <a:ea typeface="Be Vietnam Pro" pitchFamily="34" charset="-122"/>
                <a:cs typeface="Be Vietnam Pro" pitchFamily="34" charset="-120"/>
              </a:rPr>
              <a:t>VAI TRÒ CRM1.0</a:t>
            </a:r>
            <a:endParaRPr lang="en-US" sz="1300" dirty="0"/>
          </a:p>
        </p:txBody>
      </p:sp>
      <p:sp>
        <p:nvSpPr>
          <p:cNvPr id="26" name="Text 24"/>
          <p:cNvSpPr/>
          <p:nvPr/>
        </p:nvSpPr>
        <p:spPr>
          <a:xfrm>
            <a:off x="2860873" y="4327723"/>
            <a:ext cx="84860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5F1"/>
                </a:solidFill>
                <a:latin typeface="Be Vietnam Pro" pitchFamily="34" charset="0"/>
                <a:ea typeface="Be Vietnam Pro" pitchFamily="34" charset="-122"/>
                <a:cs typeface="Be Vietnam Pro" pitchFamily="34" charset="-120"/>
              </a:rPr>
              <a:t>Chuẩn hóa </a:t>
            </a:r>
            <a:r>
              <a:rPr lang="en-US" sz="1500" b="1" dirty="0">
                <a:solidFill>
                  <a:srgbClr val="F6F5F1"/>
                </a:solidFill>
                <a:latin typeface="Be Vietnam Pro" pitchFamily="34" charset="0"/>
                <a:ea typeface="Be Vietnam Pro" pitchFamily="34" charset="-122"/>
                <a:cs typeface="Be Vietnam Pro" pitchFamily="34" charset="-120"/>
              </a:rPr>
              <a:t>dữ liệu</a:t>
            </a:r>
            <a:r>
              <a:rPr lang="en-US" sz="1500" dirty="0">
                <a:solidFill>
                  <a:srgbClr val="F6F5F1"/>
                </a:solidFill>
                <a:latin typeface="Be Vietnam Pro" pitchFamily="34" charset="0"/>
                <a:ea typeface="Be Vietnam Pro" pitchFamily="34" charset="-122"/>
                <a:cs typeface="Be Vietnam Pro" pitchFamily="34" charset="-120"/>
              </a:rPr>
              <a:t>, </a:t>
            </a:r>
            <a:r>
              <a:rPr lang="en-US" sz="1500" b="1" dirty="0">
                <a:solidFill>
                  <a:srgbClr val="F6F5F1"/>
                </a:solidFill>
                <a:latin typeface="Be Vietnam Pro" pitchFamily="34" charset="0"/>
                <a:ea typeface="Be Vietnam Pro" pitchFamily="34" charset="-122"/>
                <a:cs typeface="Be Vietnam Pro" pitchFamily="34" charset="-120"/>
              </a:rPr>
              <a:t>quy trình</a:t>
            </a:r>
            <a:r>
              <a:rPr lang="en-US" sz="1500" dirty="0">
                <a:solidFill>
                  <a:srgbClr val="F6F5F1"/>
                </a:solidFill>
                <a:latin typeface="Be Vietnam Pro" pitchFamily="34" charset="0"/>
                <a:ea typeface="Be Vietnam Pro" pitchFamily="34" charset="-122"/>
                <a:cs typeface="Be Vietnam Pro" pitchFamily="34" charset="-120"/>
              </a:rPr>
              <a:t> và </a:t>
            </a:r>
            <a:r>
              <a:rPr lang="en-US" sz="1500" b="1" dirty="0">
                <a:solidFill>
                  <a:srgbClr val="F6F5F1"/>
                </a:solidFill>
                <a:latin typeface="Be Vietnam Pro" pitchFamily="34" charset="0"/>
                <a:ea typeface="Be Vietnam Pro" pitchFamily="34" charset="-122"/>
                <a:cs typeface="Be Vietnam Pro" pitchFamily="34" charset="-120"/>
              </a:rPr>
              <a:t>hành vi sử dụng</a:t>
            </a:r>
            <a:r>
              <a:rPr lang="en-US" sz="1500" dirty="0">
                <a:solidFill>
                  <a:srgbClr val="F6F5F1"/>
                </a:solidFill>
                <a:latin typeface="Be Vietnam Pro" pitchFamily="34" charset="0"/>
                <a:ea typeface="Be Vietnam Pro" pitchFamily="34" charset="-122"/>
                <a:cs typeface="Be Vietnam Pro" pitchFamily="34" charset="-120"/>
              </a:rPr>
              <a:t> để khi đầu tư CRM hiện đại, VietinBank chỉ cần chuyển đổi chứ không phải làm lại từ đầu.</a:t>
            </a:r>
            <a:endParaRPr lang="en-US" sz="15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02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VẤN ĐỀ</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Ba lớp vấn đề cản trở CRM hiện đại</a:t>
            </a:r>
            <a:endParaRPr lang="en-US" sz="2800" dirty="0"/>
          </a:p>
        </p:txBody>
      </p:sp>
      <p:sp>
        <p:nvSpPr>
          <p:cNvPr id="4" name="Shape 2"/>
          <p:cNvSpPr/>
          <p:nvPr/>
        </p:nvSpPr>
        <p:spPr>
          <a:xfrm>
            <a:off x="815975" y="1666776"/>
            <a:ext cx="3414117" cy="2255044"/>
          </a:xfrm>
          <a:prstGeom prst="roundRect">
            <a:avLst>
              <a:gd name="adj" fmla="val 4365"/>
            </a:avLst>
          </a:prstGeom>
          <a:solidFill>
            <a:srgbClr val="FDFDFB"/>
          </a:solidFill>
          <a:ln w="6350">
            <a:solidFill>
              <a:srgbClr val="DEDBD2"/>
            </a:solidFill>
            <a:prstDash val="solid"/>
          </a:ln>
        </p:spPr>
      </p:sp>
      <p:pic>
        <p:nvPicPr>
          <p:cNvPr id="5" name="Image 0" descr="Settings"/>
          <p:cNvPicPr>
            <a:picLocks noChangeAspect="1"/>
          </p:cNvPicPr>
          <p:nvPr/>
        </p:nvPicPr>
        <p:blipFill>
          <a:blip r:embed="rId3"/>
          <a:srcRect/>
          <a:stretch/>
        </p:blipFill>
        <p:spPr>
          <a:xfrm>
            <a:off x="1022350" y="1873151"/>
            <a:ext cx="279400" cy="279400"/>
          </a:xfrm>
          <a:prstGeom prst="rect">
            <a:avLst/>
          </a:prstGeom>
        </p:spPr>
      </p:pic>
      <p:sp>
        <p:nvSpPr>
          <p:cNvPr id="6" name="Text 3"/>
          <p:cNvSpPr/>
          <p:nvPr/>
        </p:nvSpPr>
        <p:spPr>
          <a:xfrm>
            <a:off x="1403350" y="1883271"/>
            <a:ext cx="102999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Hệ thống</a:t>
            </a:r>
            <a:endParaRPr lang="en-US" sz="1700" dirty="0"/>
          </a:p>
        </p:txBody>
      </p:sp>
      <p:sp>
        <p:nvSpPr>
          <p:cNvPr id="7" name="Text 4"/>
          <p:cNvSpPr/>
          <p:nvPr/>
        </p:nvSpPr>
        <p:spPr>
          <a:xfrm>
            <a:off x="1022350" y="2279551"/>
            <a:ext cx="3091408" cy="1221978"/>
          </a:xfrm>
          <a:prstGeom prst="rect">
            <a:avLst/>
          </a:prstGeom>
          <a:noFill/>
          <a:ln/>
        </p:spPr>
        <p:txBody>
          <a:bodyPr wrap="square" lIns="0" tIns="0" rIns="0" bIns="0" rtlCol="0" anchor="t">
            <a:noAutofit/>
          </a:bodyPr>
          <a:lstStyle/>
          <a:p>
            <a:pPr marL="198120" indent="-162306" algn="l">
              <a:lnSpc>
                <a:spcPts val="1885"/>
              </a:lnSpc>
              <a:buSzPct val="100000"/>
              <a:buChar char="•"/>
            </a:pPr>
            <a:r>
              <a:rPr lang="vi-VN" sz="1300" dirty="0">
                <a:solidFill>
                  <a:srgbClr val="3D4A5C"/>
                </a:solidFill>
                <a:latin typeface="Be Vietnam Pro" pitchFamily="34" charset="0"/>
                <a:ea typeface="Be Vietnam Pro" pitchFamily="34" charset="-122"/>
                <a:cs typeface="Be Vietnam Pro" pitchFamily="34" charset="-120"/>
              </a:rPr>
              <a:t>Nhiều hệ thống tự xây qua các thời kỳ dễ trùng chức năng</a:t>
            </a:r>
          </a:p>
          <a:p>
            <a:pPr marL="198120" indent="-162306" algn="l">
              <a:lnSpc>
                <a:spcPts val="1885"/>
              </a:lnSpc>
              <a:buSzPct val="100000"/>
              <a:buChar char="•"/>
            </a:pPr>
            <a:r>
              <a:rPr lang="vi-VN" sz="1300" dirty="0">
                <a:solidFill>
                  <a:srgbClr val="3D4A5C"/>
                </a:solidFill>
                <a:latin typeface="Be Vietnam Pro" pitchFamily="34" charset="0"/>
                <a:ea typeface="Be Vietnam Pro" pitchFamily="34" charset="-122"/>
                <a:cs typeface="Be Vietnam Pro" pitchFamily="34" charset="-120"/>
              </a:rPr>
              <a:t>RM có thể phải nhập một thông tin ở nhiều nơi</a:t>
            </a:r>
          </a:p>
          <a:p>
            <a:pPr marL="198120" indent="-162306" algn="l">
              <a:lnSpc>
                <a:spcPts val="1885"/>
              </a:lnSpc>
              <a:buSzPct val="100000"/>
              <a:buChar char="•"/>
            </a:pPr>
            <a:r>
              <a:rPr lang="vi-VN" sz="1300" dirty="0">
                <a:solidFill>
                  <a:srgbClr val="3D4A5C"/>
                </a:solidFill>
                <a:latin typeface="Be Vietnam Pro" pitchFamily="34" charset="0"/>
                <a:ea typeface="Be Vietnam Pro" pitchFamily="34" charset="-122"/>
                <a:cs typeface="Be Vietnam Pro" pitchFamily="34" charset="-120"/>
              </a:rPr>
              <a:t>Kết nối giữa các hệ thống thường rời rạc, khó mở rộng</a:t>
            </a:r>
            <a:endParaRPr lang="en-US" sz="1300" dirty="0"/>
          </a:p>
        </p:txBody>
      </p:sp>
      <p:sp>
        <p:nvSpPr>
          <p:cNvPr id="8" name="Shape 5"/>
          <p:cNvSpPr/>
          <p:nvPr/>
        </p:nvSpPr>
        <p:spPr>
          <a:xfrm>
            <a:off x="4388842" y="1666776"/>
            <a:ext cx="3414216" cy="2255044"/>
          </a:xfrm>
          <a:prstGeom prst="roundRect">
            <a:avLst>
              <a:gd name="adj" fmla="val 4365"/>
            </a:avLst>
          </a:prstGeom>
          <a:solidFill>
            <a:srgbClr val="FDFDFB"/>
          </a:solidFill>
          <a:ln w="6350">
            <a:solidFill>
              <a:srgbClr val="DEDBD2"/>
            </a:solidFill>
            <a:prstDash val="solid"/>
          </a:ln>
        </p:spPr>
      </p:sp>
      <p:pic>
        <p:nvPicPr>
          <p:cNvPr id="9" name="Image 1" descr="Database"/>
          <p:cNvPicPr>
            <a:picLocks noChangeAspect="1"/>
          </p:cNvPicPr>
          <p:nvPr/>
        </p:nvPicPr>
        <p:blipFill>
          <a:blip r:embed="rId4"/>
          <a:srcRect/>
          <a:stretch/>
        </p:blipFill>
        <p:spPr>
          <a:xfrm>
            <a:off x="4595217" y="1873151"/>
            <a:ext cx="279400" cy="279400"/>
          </a:xfrm>
          <a:prstGeom prst="rect">
            <a:avLst/>
          </a:prstGeom>
        </p:spPr>
      </p:pic>
      <p:sp>
        <p:nvSpPr>
          <p:cNvPr id="10" name="Text 6"/>
          <p:cNvSpPr/>
          <p:nvPr/>
        </p:nvSpPr>
        <p:spPr>
          <a:xfrm>
            <a:off x="4976217" y="1883271"/>
            <a:ext cx="7788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Dữ liệu</a:t>
            </a:r>
            <a:endParaRPr lang="en-US" sz="1700" dirty="0"/>
          </a:p>
        </p:txBody>
      </p:sp>
      <p:sp>
        <p:nvSpPr>
          <p:cNvPr id="11" name="Text 7"/>
          <p:cNvSpPr/>
          <p:nvPr/>
        </p:nvSpPr>
        <p:spPr>
          <a:xfrm>
            <a:off x="4595217" y="2279551"/>
            <a:ext cx="3091510" cy="1461294"/>
          </a:xfrm>
          <a:prstGeom prst="rect">
            <a:avLst/>
          </a:prstGeom>
          <a:noFill/>
          <a:ln/>
        </p:spPr>
        <p:txBody>
          <a:bodyPr wrap="square" lIns="0" tIns="0" rIns="0" bIns="0" rtlCol="0" anchor="t">
            <a:normAutofit/>
          </a:bodyPr>
          <a:lstStyle/>
          <a:p>
            <a:pPr marL="198120" indent="-162306" algn="l">
              <a:lnSpc>
                <a:spcPts val="1885"/>
              </a:lnSpc>
              <a:buSzPct val="100000"/>
              <a:buChar char="•"/>
            </a:pPr>
            <a:r>
              <a:rPr lang="en-US" sz="1300" dirty="0" err="1">
                <a:solidFill>
                  <a:srgbClr val="3D4A5C"/>
                </a:solidFill>
                <a:latin typeface="Be Vietnam Pro" pitchFamily="34" charset="0"/>
                <a:ea typeface="Be Vietnam Pro" pitchFamily="34" charset="-122"/>
                <a:cs typeface="Be Vietnam Pro" pitchFamily="34" charset="-120"/>
              </a:rPr>
              <a:t>Thông</a:t>
            </a:r>
            <a:r>
              <a:rPr lang="en-US" sz="1300" dirty="0">
                <a:solidFill>
                  <a:srgbClr val="3D4A5C"/>
                </a:solidFill>
                <a:latin typeface="Be Vietnam Pro" pitchFamily="34" charset="0"/>
                <a:ea typeface="Be Vietnam Pro" pitchFamily="34" charset="-122"/>
                <a:cs typeface="Be Vietnam Pro" pitchFamily="34" charset="-120"/>
              </a:rPr>
              <a:t> tin </a:t>
            </a:r>
            <a:r>
              <a:rPr lang="en-US" sz="1300" dirty="0" err="1">
                <a:solidFill>
                  <a:srgbClr val="3D4A5C"/>
                </a:solidFill>
                <a:latin typeface="Be Vietnam Pro" pitchFamily="34" charset="0"/>
                <a:ea typeface="Be Vietnam Pro" pitchFamily="34" charset="-122"/>
                <a:cs typeface="Be Vietnam Pro" pitchFamily="34" charset="-120"/>
              </a:rPr>
              <a:t>khách</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hàng</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phân</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tán</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chưa</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có</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hồ</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sơ</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gốc</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duy</a:t>
            </a:r>
            <a:r>
              <a:rPr lang="en-US" sz="1300" dirty="0">
                <a:solidFill>
                  <a:srgbClr val="3D4A5C"/>
                </a:solidFill>
                <a:latin typeface="Be Vietnam Pro" pitchFamily="34" charset="0"/>
                <a:ea typeface="Be Vietnam Pro" pitchFamily="34" charset="-122"/>
                <a:cs typeface="Be Vietnam Pro" pitchFamily="34" charset="-120"/>
              </a:rPr>
              <a:t> </a:t>
            </a:r>
            <a:r>
              <a:rPr lang="en-US" sz="1300" dirty="0" err="1">
                <a:solidFill>
                  <a:srgbClr val="3D4A5C"/>
                </a:solidFill>
                <a:latin typeface="Be Vietnam Pro" pitchFamily="34" charset="0"/>
                <a:ea typeface="Be Vietnam Pro" pitchFamily="34" charset="-122"/>
                <a:cs typeface="Be Vietnam Pro" pitchFamily="34" charset="-120"/>
              </a:rPr>
              <a:t>nhất</a:t>
            </a:r>
            <a:endParaRPr lang="en-US" sz="1300" dirty="0"/>
          </a:p>
          <a:p>
            <a:pPr marL="198120" indent="-162306" algn="l">
              <a:lnSpc>
                <a:spcPts val="1885"/>
              </a:lnSpc>
              <a:buSzPct val="100000"/>
              <a:buChar char="•"/>
            </a:pPr>
            <a:r>
              <a:rPr lang="vi-VN" sz="1300" dirty="0">
                <a:solidFill>
                  <a:srgbClr val="3D4A5C"/>
                </a:solidFill>
                <a:latin typeface="Be Vietnam Pro" pitchFamily="34" charset="0"/>
                <a:ea typeface="Be Vietnam Pro" pitchFamily="34" charset="-122"/>
                <a:cs typeface="Be Vietnam Pro" pitchFamily="34" charset="-120"/>
              </a:rPr>
              <a:t>Data chưa được chuẩn hóa</a:t>
            </a:r>
          </a:p>
        </p:txBody>
      </p:sp>
      <p:sp>
        <p:nvSpPr>
          <p:cNvPr id="12" name="Shape 8"/>
          <p:cNvSpPr/>
          <p:nvPr/>
        </p:nvSpPr>
        <p:spPr>
          <a:xfrm>
            <a:off x="7961809" y="1666776"/>
            <a:ext cx="3414216" cy="2255044"/>
          </a:xfrm>
          <a:prstGeom prst="roundRect">
            <a:avLst>
              <a:gd name="adj" fmla="val 4365"/>
            </a:avLst>
          </a:prstGeom>
          <a:solidFill>
            <a:srgbClr val="FDFDFB"/>
          </a:solidFill>
          <a:ln w="6350">
            <a:solidFill>
              <a:srgbClr val="DEDBD2"/>
            </a:solidFill>
            <a:prstDash val="solid"/>
          </a:ln>
        </p:spPr>
      </p:sp>
      <p:pic>
        <p:nvPicPr>
          <p:cNvPr id="13" name="Image 2" descr="Users"/>
          <p:cNvPicPr>
            <a:picLocks noChangeAspect="1"/>
          </p:cNvPicPr>
          <p:nvPr/>
        </p:nvPicPr>
        <p:blipFill>
          <a:blip r:embed="rId5"/>
          <a:srcRect/>
          <a:stretch/>
        </p:blipFill>
        <p:spPr>
          <a:xfrm>
            <a:off x="8168184" y="1873151"/>
            <a:ext cx="279400" cy="279400"/>
          </a:xfrm>
          <a:prstGeom prst="rect">
            <a:avLst/>
          </a:prstGeom>
        </p:spPr>
      </p:pic>
      <p:sp>
        <p:nvSpPr>
          <p:cNvPr id="14" name="Text 9"/>
          <p:cNvSpPr/>
          <p:nvPr/>
        </p:nvSpPr>
        <p:spPr>
          <a:xfrm>
            <a:off x="8549184" y="1883271"/>
            <a:ext cx="224717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Con người, quy trình</a:t>
            </a:r>
            <a:endParaRPr lang="en-US" sz="1700" dirty="0"/>
          </a:p>
        </p:txBody>
      </p:sp>
      <p:sp>
        <p:nvSpPr>
          <p:cNvPr id="15" name="Text 10"/>
          <p:cNvSpPr/>
          <p:nvPr/>
        </p:nvSpPr>
        <p:spPr>
          <a:xfrm>
            <a:off x="8168184" y="2279551"/>
            <a:ext cx="3091510" cy="1461294"/>
          </a:xfrm>
          <a:prstGeom prst="rect">
            <a:avLst/>
          </a:prstGeom>
          <a:noFill/>
          <a:ln/>
        </p:spPr>
        <p:txBody>
          <a:bodyPr wrap="square" lIns="0" tIns="0" rIns="0" bIns="0" rtlCol="0" anchor="t">
            <a:normAutofit/>
          </a:bodyPr>
          <a:lstStyle/>
          <a:p>
            <a:pPr marL="198120" indent="-162306" algn="l">
              <a:lnSpc>
                <a:spcPts val="1885"/>
              </a:lnSpc>
              <a:buSzPct val="100000"/>
              <a:buChar char="•"/>
            </a:pPr>
            <a:r>
              <a:rPr lang="en-US" sz="1300" dirty="0">
                <a:solidFill>
                  <a:srgbClr val="3D4A5C"/>
                </a:solidFill>
                <a:latin typeface="Be Vietnam Pro"/>
                <a:ea typeface="Be Vietnam Pro" pitchFamily="34" charset="-122"/>
                <a:cs typeface="Be Vietnam Pro" pitchFamily="34" charset="-120"/>
              </a:rPr>
              <a:t>RM nhập liệu đối phó, chưa thấy lợi ích</a:t>
            </a:r>
            <a:endParaRPr lang="en-US" sz="1300" dirty="0">
              <a:latin typeface="Be Vietnam Pro"/>
            </a:endParaRPr>
          </a:p>
          <a:p>
            <a:pPr marL="198120" indent="-162306" algn="l">
              <a:lnSpc>
                <a:spcPts val="1885"/>
              </a:lnSpc>
              <a:buSzPct val="100000"/>
              <a:buChar char="•"/>
            </a:pPr>
            <a:r>
              <a:rPr lang="vi-VN" sz="1300" b="0" i="0" dirty="0">
                <a:solidFill>
                  <a:srgbClr val="3D4A5C"/>
                </a:solidFill>
                <a:effectLst/>
                <a:latin typeface="Be Vietnam Pro"/>
              </a:rPr>
              <a:t>Định nghĩa giai đoạn bán hàng dễ khác nhau giữa các đơn vị</a:t>
            </a:r>
            <a:endParaRPr lang="en-US" sz="1300" dirty="0">
              <a:latin typeface="Be Vietnam Pro"/>
            </a:endParaRPr>
          </a:p>
          <a:p>
            <a:pPr marL="198120" indent="-162306" algn="l">
              <a:lnSpc>
                <a:spcPts val="1885"/>
              </a:lnSpc>
              <a:buSzPct val="100000"/>
              <a:buChar char="•"/>
            </a:pPr>
            <a:r>
              <a:rPr lang="en-US" sz="1300" dirty="0" err="1">
                <a:solidFill>
                  <a:srgbClr val="3D4A5C"/>
                </a:solidFill>
                <a:latin typeface="Be Vietnam Pro"/>
                <a:ea typeface="Be Vietnam Pro" pitchFamily="34" charset="-122"/>
                <a:cs typeface="Be Vietnam Pro" pitchFamily="34" charset="-120"/>
              </a:rPr>
              <a:t>Quản</a:t>
            </a:r>
            <a:r>
              <a:rPr lang="en-US" sz="1300" dirty="0">
                <a:solidFill>
                  <a:srgbClr val="3D4A5C"/>
                </a:solidFill>
                <a:latin typeface="Be Vietnam Pro"/>
                <a:ea typeface="Be Vietnam Pro" pitchFamily="34" charset="-122"/>
                <a:cs typeface="Be Vietnam Pro" pitchFamily="34" charset="-120"/>
              </a:rPr>
              <a:t> </a:t>
            </a:r>
            <a:r>
              <a:rPr lang="en-US" sz="1300" dirty="0" err="1">
                <a:solidFill>
                  <a:srgbClr val="3D4A5C"/>
                </a:solidFill>
                <a:latin typeface="Be Vietnam Pro"/>
                <a:ea typeface="Be Vietnam Pro" pitchFamily="34" charset="-122"/>
                <a:cs typeface="Be Vietnam Pro" pitchFamily="34" charset="-120"/>
              </a:rPr>
              <a:t>lý</a:t>
            </a:r>
            <a:r>
              <a:rPr lang="en-US" sz="1300" dirty="0">
                <a:solidFill>
                  <a:srgbClr val="3D4A5C"/>
                </a:solidFill>
                <a:latin typeface="Be Vietnam Pro"/>
                <a:ea typeface="Be Vietnam Pro" pitchFamily="34" charset="-122"/>
                <a:cs typeface="Be Vietnam Pro" pitchFamily="34" charset="-120"/>
              </a:rPr>
              <a:t> </a:t>
            </a:r>
            <a:r>
              <a:rPr lang="en-US" sz="1300" dirty="0" err="1">
                <a:solidFill>
                  <a:srgbClr val="3D4A5C"/>
                </a:solidFill>
                <a:latin typeface="Be Vietnam Pro"/>
                <a:ea typeface="Be Vietnam Pro" pitchFamily="34" charset="-122"/>
                <a:cs typeface="Be Vietnam Pro" pitchFamily="34" charset="-120"/>
              </a:rPr>
              <a:t>chưa</a:t>
            </a:r>
            <a:r>
              <a:rPr lang="en-US" sz="1300" dirty="0">
                <a:solidFill>
                  <a:srgbClr val="3D4A5C"/>
                </a:solidFill>
                <a:latin typeface="Be Vietnam Pro"/>
                <a:ea typeface="Be Vietnam Pro" pitchFamily="34" charset="-122"/>
                <a:cs typeface="Be Vietnam Pro" pitchFamily="34" charset="-120"/>
              </a:rPr>
              <a:t> </a:t>
            </a:r>
            <a:r>
              <a:rPr lang="en-US" sz="1300" dirty="0" err="1">
                <a:solidFill>
                  <a:srgbClr val="3D4A5C"/>
                </a:solidFill>
                <a:latin typeface="Be Vietnam Pro"/>
                <a:ea typeface="Be Vietnam Pro" pitchFamily="34" charset="-122"/>
                <a:cs typeface="Be Vietnam Pro" pitchFamily="34" charset="-120"/>
              </a:rPr>
              <a:t>điều</a:t>
            </a:r>
            <a:r>
              <a:rPr lang="en-US" sz="1300" dirty="0">
                <a:solidFill>
                  <a:srgbClr val="3D4A5C"/>
                </a:solidFill>
                <a:latin typeface="Be Vietnam Pro"/>
                <a:ea typeface="Be Vietnam Pro" pitchFamily="34" charset="-122"/>
                <a:cs typeface="Be Vietnam Pro" pitchFamily="34" charset="-120"/>
              </a:rPr>
              <a:t> </a:t>
            </a:r>
            <a:r>
              <a:rPr lang="en-US" sz="1300" dirty="0" err="1">
                <a:solidFill>
                  <a:srgbClr val="3D4A5C"/>
                </a:solidFill>
                <a:latin typeface="Be Vietnam Pro"/>
                <a:ea typeface="Be Vietnam Pro" pitchFamily="34" charset="-122"/>
                <a:cs typeface="Be Vietnam Pro" pitchFamily="34" charset="-120"/>
              </a:rPr>
              <a:t>hành</a:t>
            </a:r>
            <a:r>
              <a:rPr lang="en-US" sz="1300" dirty="0">
                <a:solidFill>
                  <a:srgbClr val="3D4A5C"/>
                </a:solidFill>
                <a:latin typeface="Be Vietnam Pro"/>
                <a:ea typeface="Be Vietnam Pro" pitchFamily="34" charset="-122"/>
                <a:cs typeface="Be Vietnam Pro" pitchFamily="34" charset="-120"/>
              </a:rPr>
              <a:t> </a:t>
            </a:r>
            <a:r>
              <a:rPr lang="en-US" sz="1300" dirty="0" err="1">
                <a:solidFill>
                  <a:srgbClr val="3D4A5C"/>
                </a:solidFill>
                <a:latin typeface="Be Vietnam Pro"/>
                <a:ea typeface="Be Vietnam Pro" pitchFamily="34" charset="-122"/>
                <a:cs typeface="Be Vietnam Pro" pitchFamily="34" charset="-120"/>
              </a:rPr>
              <a:t>bằng</a:t>
            </a:r>
            <a:r>
              <a:rPr lang="en-US" sz="1300" dirty="0">
                <a:solidFill>
                  <a:srgbClr val="3D4A5C"/>
                </a:solidFill>
                <a:latin typeface="Be Vietnam Pro"/>
                <a:ea typeface="Be Vietnam Pro" pitchFamily="34" charset="-122"/>
                <a:cs typeface="Be Vietnam Pro" pitchFamily="34" charset="-120"/>
              </a:rPr>
              <a:t> </a:t>
            </a:r>
            <a:r>
              <a:rPr lang="en-US" sz="1300" dirty="0" err="1">
                <a:solidFill>
                  <a:srgbClr val="3D4A5C"/>
                </a:solidFill>
                <a:latin typeface="Be Vietnam Pro"/>
                <a:ea typeface="Be Vietnam Pro" pitchFamily="34" charset="-122"/>
                <a:cs typeface="Be Vietnam Pro" pitchFamily="34" charset="-120"/>
              </a:rPr>
              <a:t>dữ</a:t>
            </a:r>
            <a:r>
              <a:rPr lang="en-US" sz="1300" dirty="0">
                <a:solidFill>
                  <a:srgbClr val="3D4A5C"/>
                </a:solidFill>
                <a:latin typeface="Be Vietnam Pro"/>
                <a:ea typeface="Be Vietnam Pro" pitchFamily="34" charset="-122"/>
                <a:cs typeface="Be Vietnam Pro" pitchFamily="34" charset="-120"/>
              </a:rPr>
              <a:t> </a:t>
            </a:r>
            <a:r>
              <a:rPr lang="en-US" sz="1300" dirty="0" err="1">
                <a:solidFill>
                  <a:srgbClr val="3D4A5C"/>
                </a:solidFill>
                <a:latin typeface="Be Vietnam Pro"/>
                <a:ea typeface="Be Vietnam Pro" pitchFamily="34" charset="-122"/>
                <a:cs typeface="Be Vietnam Pro" pitchFamily="34" charset="-120"/>
              </a:rPr>
              <a:t>liệu</a:t>
            </a:r>
            <a:r>
              <a:rPr lang="en-US" sz="1300" dirty="0">
                <a:solidFill>
                  <a:srgbClr val="3D4A5C"/>
                </a:solidFill>
                <a:latin typeface="Be Vietnam Pro"/>
                <a:ea typeface="Be Vietnam Pro" pitchFamily="34" charset="-122"/>
                <a:cs typeface="Be Vietnam Pro" pitchFamily="34" charset="-120"/>
              </a:rPr>
              <a:t> CRM</a:t>
            </a:r>
            <a:endParaRPr lang="en-US" sz="1300" dirty="0">
              <a:latin typeface="Be Vietnam Pro"/>
            </a:endParaRPr>
          </a:p>
        </p:txBody>
      </p:sp>
      <p:sp>
        <p:nvSpPr>
          <p:cNvPr id="16" name="Text 11"/>
          <p:cNvSpPr/>
          <p:nvPr/>
        </p:nvSpPr>
        <p:spPr>
          <a:xfrm>
            <a:off x="812800" y="4178995"/>
            <a:ext cx="10566400" cy="889000"/>
          </a:xfrm>
          <a:prstGeom prst="roundRect">
            <a:avLst>
              <a:gd name="adj" fmla="val 8571"/>
            </a:avLst>
          </a:prstGeom>
          <a:solidFill>
            <a:srgbClr val="FBF1E6"/>
          </a:solidFill>
          <a:ln/>
        </p:spPr>
        <p:txBody>
          <a:bodyPr wrap="square" lIns="257082" tIns="155482" rIns="0" bIns="130082" rtlCol="0" anchor="t">
            <a:normAutofit/>
          </a:bodyPr>
          <a:lstStyle/>
          <a:p>
            <a:pPr marL="0" indent="0" algn="l">
              <a:lnSpc>
                <a:spcPts val="2100"/>
              </a:lnSpc>
              <a:buNone/>
            </a:pPr>
            <a:r>
              <a:rPr lang="en-US" sz="1500" b="1" dirty="0">
                <a:solidFill>
                  <a:srgbClr val="13233F"/>
                </a:solidFill>
                <a:latin typeface="Be Vietnam Pro" pitchFamily="34" charset="0"/>
                <a:ea typeface="Be Vietnam Pro" pitchFamily="34" charset="-122"/>
                <a:cs typeface="Be Vietnam Pro" pitchFamily="34" charset="-120"/>
              </a:rPr>
              <a:t>Hệ quả:</a:t>
            </a:r>
            <a:r>
              <a:rPr lang="en-US" sz="1500" dirty="0">
                <a:solidFill>
                  <a:srgbClr val="13233F"/>
                </a:solidFill>
                <a:latin typeface="Be Vietnam Pro" pitchFamily="34" charset="0"/>
                <a:ea typeface="Be Vietnam Pro" pitchFamily="34" charset="-122"/>
                <a:cs typeface="Be Vietnam Pro" pitchFamily="34" charset="-120"/>
              </a:rPr>
              <a:t> dữ liệu chưa đủ tin cậy để ứng dụng AI hay chuyển sang CRM hiện đại. Mua hệ thống mới lúc này chỉ chuyển vấn đề sang nền tảng khác.</a:t>
            </a:r>
            <a:endParaRPr lang="en-US" sz="1500" dirty="0"/>
          </a:p>
        </p:txBody>
      </p:sp>
      <p:sp>
        <p:nvSpPr>
          <p:cNvPr id="17" name="Shape 12"/>
          <p:cNvSpPr/>
          <p:nvPr/>
        </p:nvSpPr>
        <p:spPr>
          <a:xfrm>
            <a:off x="812800" y="4178995"/>
            <a:ext cx="10566400" cy="889000"/>
          </a:xfrm>
          <a:custGeom>
            <a:avLst/>
            <a:gdLst/>
            <a:ahLst/>
            <a:cxnLst/>
            <a:rect l="l" t="t" r="r" b="b"/>
            <a:pathLst>
              <a:path w="10566400" h="889000">
                <a:moveTo>
                  <a:pt x="76200" y="889000"/>
                </a:moveTo>
                <a:lnTo>
                  <a:pt x="76200" y="889000"/>
                </a:lnTo>
                <a:arcTo wR="76200" hR="76200" stAng="5400000" swAng="5400000"/>
                <a:lnTo>
                  <a:pt x="0" y="76200"/>
                </a:lnTo>
                <a:arcTo wR="76200" hR="76200" stAng="10800000" swAng="5400000"/>
                <a:lnTo>
                  <a:pt x="76200" y="0"/>
                </a:lnTo>
                <a:arcTo wR="25400" hR="76200" stAng="16200000" swAng="-5400000"/>
                <a:lnTo>
                  <a:pt x="50800" y="812800"/>
                </a:lnTo>
                <a:arcTo wR="25400" hR="76200" stAng="10800000" swAng="-5400000"/>
                <a:close/>
              </a:path>
            </a:pathLst>
          </a:custGeom>
          <a:solidFill>
            <a:srgbClr val="A8540F"/>
          </a:solidFill>
          <a:ln/>
        </p:spPr>
      </p:sp>
      <p:sp>
        <p:nvSpPr>
          <p:cNvPr id="18"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03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MỤC TIÊU</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Ba mục tiêu, mỗi mục tiêu đo được bằng KPI</a:t>
            </a:r>
            <a:endParaRPr lang="en-US" sz="2800" dirty="0"/>
          </a:p>
        </p:txBody>
      </p:sp>
      <p:sp>
        <p:nvSpPr>
          <p:cNvPr id="4" name="Shape 2"/>
          <p:cNvSpPr/>
          <p:nvPr/>
        </p:nvSpPr>
        <p:spPr>
          <a:xfrm>
            <a:off x="815975" y="1666776"/>
            <a:ext cx="3414117" cy="3051373"/>
          </a:xfrm>
          <a:prstGeom prst="roundRect">
            <a:avLst>
              <a:gd name="adj" fmla="val 3226"/>
            </a:avLst>
          </a:prstGeom>
          <a:solidFill>
            <a:srgbClr val="FDFDFB"/>
          </a:solidFill>
          <a:ln w="6350">
            <a:solidFill>
              <a:srgbClr val="DEDBD2"/>
            </a:solidFill>
            <a:prstDash val="solid"/>
          </a:ln>
        </p:spPr>
      </p:sp>
      <p:sp>
        <p:nvSpPr>
          <p:cNvPr id="5" name="Text 3"/>
          <p:cNvSpPr/>
          <p:nvPr/>
        </p:nvSpPr>
        <p:spPr>
          <a:xfrm>
            <a:off x="1022350" y="1873151"/>
            <a:ext cx="309140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5FA8"/>
                </a:solidFill>
                <a:latin typeface="Be Vietnam Pro" pitchFamily="34" charset="0"/>
                <a:ea typeface="Be Vietnam Pro" pitchFamily="34" charset="-122"/>
                <a:cs typeface="Be Vietnam Pro" pitchFamily="34" charset="-120"/>
              </a:rPr>
              <a:t>Mục tiêu 1 · Dữ liệu</a:t>
            </a:r>
            <a:endParaRPr lang="en-US" sz="1300" dirty="0"/>
          </a:p>
        </p:txBody>
      </p:sp>
      <p:sp>
        <p:nvSpPr>
          <p:cNvPr id="6" name="Text 4"/>
          <p:cNvSpPr/>
          <p:nvPr/>
        </p:nvSpPr>
        <p:spPr>
          <a:xfrm>
            <a:off x="1022350" y="2205831"/>
            <a:ext cx="30914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F"/>
                </a:solidFill>
                <a:latin typeface="Be Vietnam Pro" pitchFamily="34" charset="0"/>
                <a:ea typeface="Be Vietnam Pro" pitchFamily="34" charset="-122"/>
                <a:cs typeface="Be Vietnam Pro" pitchFamily="34" charset="-120"/>
              </a:rPr>
              <a:t>Sẵn sàng dữ liệu</a:t>
            </a:r>
            <a:endParaRPr lang="en-US" sz="1800" dirty="0"/>
          </a:p>
        </p:txBody>
      </p:sp>
      <p:sp>
        <p:nvSpPr>
          <p:cNvPr id="7" name="Text 5"/>
          <p:cNvSpPr/>
          <p:nvPr/>
        </p:nvSpPr>
        <p:spPr>
          <a:xfrm>
            <a:off x="1022350" y="2581672"/>
            <a:ext cx="309140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Be Vietnam Pro" pitchFamily="34" charset="0"/>
                <a:ea typeface="Be Vietnam Pro" pitchFamily="34" charset="-122"/>
                <a:cs typeface="Be Vietnam Pro" pitchFamily="34" charset="-120"/>
              </a:rPr>
              <a:t>Dữ liệu khách hàng sạch, chuẩn, định danh duy nhất, chuyển được sang CRM mới</a:t>
            </a:r>
            <a:endParaRPr lang="en-US" sz="1300" dirty="0"/>
          </a:p>
        </p:txBody>
      </p:sp>
      <p:pic>
        <p:nvPicPr>
          <p:cNvPr id="8" name="Image 0" descr="line"/>
          <p:cNvPicPr>
            <a:picLocks noChangeAspect="1"/>
          </p:cNvPicPr>
          <p:nvPr/>
        </p:nvPicPr>
        <p:blipFill>
          <a:blip r:embed="rId3"/>
          <a:srcRect t="-35" b="-35"/>
          <a:stretch/>
        </p:blipFill>
        <p:spPr>
          <a:xfrm>
            <a:off x="1022350" y="3376513"/>
            <a:ext cx="3001367" cy="12700"/>
          </a:xfrm>
          <a:prstGeom prst="rect">
            <a:avLst/>
          </a:prstGeom>
        </p:spPr>
      </p:pic>
      <p:sp>
        <p:nvSpPr>
          <p:cNvPr id="9" name="Text 6"/>
          <p:cNvSpPr/>
          <p:nvPr/>
        </p:nvSpPr>
        <p:spPr>
          <a:xfrm>
            <a:off x="1022350" y="3490813"/>
            <a:ext cx="30914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Chỉ tiêu cần đạt</a:t>
            </a:r>
            <a:endParaRPr lang="en-US" sz="1200" dirty="0"/>
          </a:p>
        </p:txBody>
      </p:sp>
      <p:sp>
        <p:nvSpPr>
          <p:cNvPr id="10" name="Text 7"/>
          <p:cNvSpPr/>
          <p:nvPr/>
        </p:nvSpPr>
        <p:spPr>
          <a:xfrm>
            <a:off x="1022350" y="3805734"/>
            <a:ext cx="3091408" cy="467320"/>
          </a:xfrm>
          <a:prstGeom prst="rect">
            <a:avLst/>
          </a:prstGeom>
          <a:noFill/>
          <a:ln/>
        </p:spPr>
        <p:txBody>
          <a:bodyPr wrap="square" lIns="0" tIns="0" rIns="0" bIns="0" rtlCol="0" anchor="t">
            <a:normAutofit/>
          </a:bodyPr>
          <a:lstStyle/>
          <a:p>
            <a:pPr marL="182880" indent="-155194" algn="l">
              <a:lnSpc>
                <a:spcPts val="174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Đầy đủ trường bắt buộc ≥ 90%</a:t>
            </a:r>
            <a:endParaRPr lang="en-US" sz="1200" dirty="0"/>
          </a:p>
          <a:p>
            <a:pPr marL="182880" indent="-155194" algn="l">
              <a:lnSpc>
                <a:spcPts val="174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Tỷ lệ trùng lặp &lt; 2%</a:t>
            </a:r>
            <a:endParaRPr lang="en-US" sz="1200" dirty="0"/>
          </a:p>
        </p:txBody>
      </p:sp>
      <p:sp>
        <p:nvSpPr>
          <p:cNvPr id="11" name="Shape 8"/>
          <p:cNvSpPr/>
          <p:nvPr/>
        </p:nvSpPr>
        <p:spPr>
          <a:xfrm>
            <a:off x="4436467" y="1666776"/>
            <a:ext cx="3414216" cy="3051373"/>
          </a:xfrm>
          <a:prstGeom prst="roundRect">
            <a:avLst>
              <a:gd name="adj" fmla="val 3226"/>
            </a:avLst>
          </a:prstGeom>
          <a:solidFill>
            <a:srgbClr val="FDFDFB"/>
          </a:solidFill>
          <a:ln w="6350">
            <a:solidFill>
              <a:srgbClr val="DEDBD2"/>
            </a:solidFill>
            <a:prstDash val="solid"/>
          </a:ln>
        </p:spPr>
      </p:sp>
      <p:sp>
        <p:nvSpPr>
          <p:cNvPr id="12" name="Text 9"/>
          <p:cNvSpPr/>
          <p:nvPr/>
        </p:nvSpPr>
        <p:spPr>
          <a:xfrm>
            <a:off x="4595217" y="1873151"/>
            <a:ext cx="309151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8540F"/>
                </a:solidFill>
                <a:latin typeface="Be Vietnam Pro" pitchFamily="34" charset="0"/>
                <a:ea typeface="Be Vietnam Pro" pitchFamily="34" charset="-122"/>
                <a:cs typeface="Be Vietnam Pro" pitchFamily="34" charset="-120"/>
              </a:rPr>
              <a:t>Mục tiêu 2 · Thói quen</a:t>
            </a:r>
            <a:endParaRPr lang="en-US" sz="1300" dirty="0"/>
          </a:p>
        </p:txBody>
      </p:sp>
      <p:sp>
        <p:nvSpPr>
          <p:cNvPr id="13" name="Text 10"/>
          <p:cNvSpPr/>
          <p:nvPr/>
        </p:nvSpPr>
        <p:spPr>
          <a:xfrm>
            <a:off x="4595217" y="2205831"/>
            <a:ext cx="309151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F"/>
                </a:solidFill>
                <a:latin typeface="Be Vietnam Pro" pitchFamily="34" charset="0"/>
                <a:ea typeface="Be Vietnam Pro" pitchFamily="34" charset="-122"/>
                <a:cs typeface="Be Vietnam Pro" pitchFamily="34" charset="-120"/>
              </a:rPr>
              <a:t>Văn hóa dữ liệu</a:t>
            </a:r>
            <a:endParaRPr lang="en-US" sz="1800" dirty="0"/>
          </a:p>
        </p:txBody>
      </p:sp>
      <p:sp>
        <p:nvSpPr>
          <p:cNvPr id="14" name="Text 11"/>
          <p:cNvSpPr/>
          <p:nvPr/>
        </p:nvSpPr>
        <p:spPr>
          <a:xfrm>
            <a:off x="4595217" y="2581672"/>
            <a:ext cx="309151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Be Vietnam Pro" pitchFamily="34" charset="0"/>
                <a:ea typeface="Be Vietnam Pro" pitchFamily="34" charset="-122"/>
                <a:cs typeface="Be Vietnam Pro" pitchFamily="34" charset="-120"/>
              </a:rPr>
              <a:t>RM và quản lý dùng CRM hằng ngày, ra quyết định dựa trên dữ liệu</a:t>
            </a:r>
            <a:endParaRPr lang="en-US" sz="1300" dirty="0"/>
          </a:p>
        </p:txBody>
      </p:sp>
      <p:pic>
        <p:nvPicPr>
          <p:cNvPr id="15" name="Image 1" descr="line"/>
          <p:cNvPicPr>
            <a:picLocks noChangeAspect="1"/>
          </p:cNvPicPr>
          <p:nvPr/>
        </p:nvPicPr>
        <p:blipFill>
          <a:blip r:embed="rId3"/>
          <a:srcRect t="-35" b="-35"/>
          <a:stretch/>
        </p:blipFill>
        <p:spPr>
          <a:xfrm>
            <a:off x="4595217" y="3145433"/>
            <a:ext cx="3001466" cy="12700"/>
          </a:xfrm>
          <a:prstGeom prst="rect">
            <a:avLst/>
          </a:prstGeom>
        </p:spPr>
      </p:pic>
      <p:sp>
        <p:nvSpPr>
          <p:cNvPr id="16" name="Text 12"/>
          <p:cNvSpPr/>
          <p:nvPr/>
        </p:nvSpPr>
        <p:spPr>
          <a:xfrm>
            <a:off x="4595217" y="3259733"/>
            <a:ext cx="30915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Chỉ tiêu cần đạt</a:t>
            </a:r>
            <a:endParaRPr lang="en-US" sz="1200" dirty="0"/>
          </a:p>
        </p:txBody>
      </p:sp>
      <p:sp>
        <p:nvSpPr>
          <p:cNvPr id="17" name="Text 13"/>
          <p:cNvSpPr/>
          <p:nvPr/>
        </p:nvSpPr>
        <p:spPr>
          <a:xfrm>
            <a:off x="4595217" y="3574653"/>
            <a:ext cx="3091510" cy="688280"/>
          </a:xfrm>
          <a:prstGeom prst="rect">
            <a:avLst/>
          </a:prstGeom>
          <a:noFill/>
          <a:ln/>
        </p:spPr>
        <p:txBody>
          <a:bodyPr wrap="square" lIns="0" tIns="0" rIns="0" bIns="0" rtlCol="0" anchor="t">
            <a:normAutofit/>
          </a:bodyPr>
          <a:lstStyle/>
          <a:p>
            <a:pPr marL="182880" indent="-155194" algn="l">
              <a:lnSpc>
                <a:spcPts val="174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 85% RM dùng hằng tháng</a:t>
            </a:r>
            <a:endParaRPr lang="en-US" sz="1200" dirty="0"/>
          </a:p>
          <a:p>
            <a:pPr marL="182880" indent="-155194" algn="l">
              <a:lnSpc>
                <a:spcPts val="174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 80% cuộc gặp khách hàng có biên bản</a:t>
            </a:r>
            <a:endParaRPr lang="en-US" sz="1200" dirty="0"/>
          </a:p>
        </p:txBody>
      </p:sp>
      <p:sp>
        <p:nvSpPr>
          <p:cNvPr id="18" name="Shape 14"/>
          <p:cNvSpPr/>
          <p:nvPr/>
        </p:nvSpPr>
        <p:spPr>
          <a:xfrm>
            <a:off x="7961809" y="1666776"/>
            <a:ext cx="3414216" cy="3051373"/>
          </a:xfrm>
          <a:prstGeom prst="roundRect">
            <a:avLst>
              <a:gd name="adj" fmla="val 3226"/>
            </a:avLst>
          </a:prstGeom>
          <a:solidFill>
            <a:srgbClr val="FDFDFB"/>
          </a:solidFill>
          <a:ln w="6350">
            <a:solidFill>
              <a:srgbClr val="DEDBD2"/>
            </a:solidFill>
            <a:prstDash val="solid"/>
          </a:ln>
        </p:spPr>
      </p:sp>
      <p:sp>
        <p:nvSpPr>
          <p:cNvPr id="19" name="Text 15"/>
          <p:cNvSpPr/>
          <p:nvPr/>
        </p:nvSpPr>
        <p:spPr>
          <a:xfrm>
            <a:off x="8168184" y="1873151"/>
            <a:ext cx="309151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B6E5E"/>
                </a:solidFill>
                <a:latin typeface="Be Vietnam Pro" pitchFamily="34" charset="0"/>
                <a:ea typeface="Be Vietnam Pro" pitchFamily="34" charset="-122"/>
                <a:cs typeface="Be Vietnam Pro" pitchFamily="34" charset="-120"/>
              </a:rPr>
              <a:t>Mục tiêu 3 · Quy trình</a:t>
            </a:r>
            <a:endParaRPr lang="en-US" sz="1300" dirty="0"/>
          </a:p>
        </p:txBody>
      </p:sp>
      <p:sp>
        <p:nvSpPr>
          <p:cNvPr id="20" name="Text 16"/>
          <p:cNvSpPr/>
          <p:nvPr/>
        </p:nvSpPr>
        <p:spPr>
          <a:xfrm>
            <a:off x="8168184" y="2205831"/>
            <a:ext cx="3091510" cy="57388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F"/>
                </a:solidFill>
                <a:latin typeface="Be Vietnam Pro" pitchFamily="34" charset="0"/>
                <a:ea typeface="Be Vietnam Pro" pitchFamily="34" charset="-122"/>
                <a:cs typeface="Be Vietnam Pro" pitchFamily="34" charset="-120"/>
              </a:rPr>
              <a:t>Chuẩn hóa quy trình bán hàng</a:t>
            </a:r>
            <a:endParaRPr lang="en-US" sz="1800" dirty="0"/>
          </a:p>
        </p:txBody>
      </p:sp>
      <p:sp>
        <p:nvSpPr>
          <p:cNvPr id="21" name="Text 17"/>
          <p:cNvSpPr/>
          <p:nvPr/>
        </p:nvSpPr>
        <p:spPr>
          <a:xfrm>
            <a:off x="8168184" y="2855913"/>
            <a:ext cx="309151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Be Vietnam Pro" pitchFamily="34" charset="0"/>
                <a:ea typeface="Be Vietnam Pro" pitchFamily="34" charset="-122"/>
                <a:cs typeface="Be Vietnam Pro" pitchFamily="34" charset="-120"/>
              </a:rPr>
              <a:t>Một quy trình, một bộ định nghĩa giai đoạn cho toàn hàng</a:t>
            </a:r>
            <a:endParaRPr lang="en-US" sz="1300" dirty="0"/>
          </a:p>
        </p:txBody>
      </p:sp>
      <p:pic>
        <p:nvPicPr>
          <p:cNvPr id="22" name="Image 2" descr="line"/>
          <p:cNvPicPr>
            <a:picLocks noChangeAspect="1"/>
          </p:cNvPicPr>
          <p:nvPr/>
        </p:nvPicPr>
        <p:blipFill>
          <a:blip r:embed="rId3"/>
          <a:srcRect t="-35" b="-35"/>
          <a:stretch/>
        </p:blipFill>
        <p:spPr>
          <a:xfrm>
            <a:off x="8168184" y="3419673"/>
            <a:ext cx="3001466" cy="12700"/>
          </a:xfrm>
          <a:prstGeom prst="rect">
            <a:avLst/>
          </a:prstGeom>
        </p:spPr>
      </p:pic>
      <p:sp>
        <p:nvSpPr>
          <p:cNvPr id="23" name="Text 18"/>
          <p:cNvSpPr/>
          <p:nvPr/>
        </p:nvSpPr>
        <p:spPr>
          <a:xfrm>
            <a:off x="8168184" y="3533973"/>
            <a:ext cx="30915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Chỉ tiêu cần đạt</a:t>
            </a:r>
            <a:endParaRPr lang="en-US" sz="1200" dirty="0"/>
          </a:p>
        </p:txBody>
      </p:sp>
      <p:sp>
        <p:nvSpPr>
          <p:cNvPr id="24" name="Text 19"/>
          <p:cNvSpPr/>
          <p:nvPr/>
        </p:nvSpPr>
        <p:spPr>
          <a:xfrm>
            <a:off x="8168184" y="3848894"/>
            <a:ext cx="3091510" cy="688280"/>
          </a:xfrm>
          <a:prstGeom prst="rect">
            <a:avLst/>
          </a:prstGeom>
          <a:noFill/>
          <a:ln/>
        </p:spPr>
        <p:txBody>
          <a:bodyPr wrap="square" lIns="0" tIns="0" rIns="0" bIns="0" rtlCol="0" anchor="t">
            <a:normAutofit/>
          </a:bodyPr>
          <a:lstStyle/>
          <a:p>
            <a:pPr marL="182880" indent="-155194" algn="l">
              <a:lnSpc>
                <a:spcPts val="174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100% cơ hội theo giai đoạn chuẩn</a:t>
            </a:r>
            <a:endParaRPr lang="en-US" sz="1200" dirty="0"/>
          </a:p>
          <a:p>
            <a:pPr marL="182880" indent="-155194" algn="l">
              <a:lnSpc>
                <a:spcPts val="174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 90% doanh số gắn với cơ hội trên CRM</a:t>
            </a:r>
            <a:endParaRPr lang="en-US" sz="1200" dirty="0"/>
          </a:p>
        </p:txBody>
      </p:sp>
      <p:sp>
        <p:nvSpPr>
          <p:cNvPr id="25"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04  ·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LỘ TRÌNH TỔNG QUAN</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Ba giai đoạn: nền móng → giá trị → chuyển đổi</a:t>
            </a:r>
            <a:endParaRPr lang="en-US" sz="2800" dirty="0"/>
          </a:p>
        </p:txBody>
      </p:sp>
      <p:sp>
        <p:nvSpPr>
          <p:cNvPr id="4" name="Shape 2"/>
          <p:cNvSpPr/>
          <p:nvPr/>
        </p:nvSpPr>
        <p:spPr>
          <a:xfrm>
            <a:off x="815975" y="1641376"/>
            <a:ext cx="3418384" cy="3226594"/>
          </a:xfrm>
          <a:prstGeom prst="roundRect">
            <a:avLst>
              <a:gd name="adj" fmla="val 3050"/>
            </a:avLst>
          </a:prstGeom>
          <a:solidFill>
            <a:srgbClr val="FDFDFB"/>
          </a:solidFill>
          <a:ln w="6350">
            <a:solidFill>
              <a:srgbClr val="D3DAE4"/>
            </a:solidFill>
            <a:prstDash val="solid"/>
          </a:ln>
        </p:spPr>
      </p:sp>
      <p:sp>
        <p:nvSpPr>
          <p:cNvPr id="5" name="Text 3"/>
          <p:cNvSpPr/>
          <p:nvPr/>
        </p:nvSpPr>
        <p:spPr>
          <a:xfrm>
            <a:off x="996950" y="1822351"/>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Ngắn hạn · Quý 4/2026 – Quý 2/2027</a:t>
            </a:r>
            <a:endParaRPr lang="en-US" sz="1200" dirty="0"/>
          </a:p>
        </p:txBody>
      </p:sp>
      <p:sp>
        <p:nvSpPr>
          <p:cNvPr id="6" name="Text 4"/>
          <p:cNvSpPr/>
          <p:nvPr/>
        </p:nvSpPr>
        <p:spPr>
          <a:xfrm>
            <a:off x="996950" y="2124571"/>
            <a:ext cx="31481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F"/>
                </a:solidFill>
                <a:latin typeface="Be Vietnam Pro" pitchFamily="34" charset="0"/>
                <a:ea typeface="Be Vietnam Pro" pitchFamily="34" charset="-122"/>
                <a:cs typeface="Be Vietnam Pro" pitchFamily="34" charset="-120"/>
              </a:rPr>
              <a:t>Nền móng</a:t>
            </a:r>
            <a:endParaRPr lang="en-US" sz="1800" dirty="0"/>
          </a:p>
        </p:txBody>
      </p:sp>
      <p:sp>
        <p:nvSpPr>
          <p:cNvPr id="7" name="Text 5"/>
          <p:cNvSpPr/>
          <p:nvPr/>
        </p:nvSpPr>
        <p:spPr>
          <a:xfrm>
            <a:off x="996950" y="2487712"/>
            <a:ext cx="31481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3233F"/>
                </a:solidFill>
                <a:latin typeface="Be Vietnam Pro" pitchFamily="34" charset="0"/>
                <a:ea typeface="Be Vietnam Pro" pitchFamily="34" charset="-122"/>
                <a:cs typeface="Be Vietnam Pro" pitchFamily="34" charset="-120"/>
              </a:rPr>
              <a:t>RM dùng CRM1.0 làm công cụ chính; dữ liệu khách hàng hợp nhất và sạch</a:t>
            </a:r>
            <a:endParaRPr lang="en-US" sz="1300" dirty="0"/>
          </a:p>
        </p:txBody>
      </p:sp>
      <p:pic>
        <p:nvPicPr>
          <p:cNvPr id="8" name="Image 0" descr="line"/>
          <p:cNvPicPr>
            <a:picLocks noChangeAspect="1"/>
          </p:cNvPicPr>
          <p:nvPr/>
        </p:nvPicPr>
        <p:blipFill>
          <a:blip r:embed="rId3"/>
          <a:srcRect l="-35" r="-35"/>
          <a:stretch/>
        </p:blipFill>
        <p:spPr>
          <a:xfrm>
            <a:off x="996950" y="3038773"/>
            <a:ext cx="3056434" cy="12700"/>
          </a:xfrm>
          <a:prstGeom prst="rect">
            <a:avLst/>
          </a:prstGeom>
        </p:spPr>
      </p:pic>
      <p:sp>
        <p:nvSpPr>
          <p:cNvPr id="9" name="Text 6"/>
          <p:cNvSpPr/>
          <p:nvPr/>
        </p:nvSpPr>
        <p:spPr>
          <a:xfrm>
            <a:off x="996950" y="3140373"/>
            <a:ext cx="314812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Dữ liệu:</a:t>
            </a:r>
            <a:r>
              <a:rPr lang="en-US" sz="1200" dirty="0">
                <a:solidFill>
                  <a:srgbClr val="3D4A5C"/>
                </a:solidFill>
                <a:latin typeface="Be Vietnam Pro" pitchFamily="34" charset="0"/>
                <a:ea typeface="Be Vietnam Pro" pitchFamily="34" charset="-122"/>
                <a:cs typeface="Be Vietnam Pro" pitchFamily="34" charset="-120"/>
              </a:rPr>
              <a:t> Hồ sơ gốc, loại bỏ trùng lặp, tiêu chuẩn dữ liệu</a:t>
            </a:r>
            <a:endParaRPr lang="en-US" sz="1200" dirty="0"/>
          </a:p>
        </p:txBody>
      </p:sp>
      <p:sp>
        <p:nvSpPr>
          <p:cNvPr id="10" name="Text 7"/>
          <p:cNvSpPr/>
          <p:nvPr/>
        </p:nvSpPr>
        <p:spPr>
          <a:xfrm>
            <a:off x="996950" y="3655913"/>
            <a:ext cx="314812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540F"/>
                </a:solidFill>
                <a:latin typeface="Be Vietnam Pro" pitchFamily="34" charset="0"/>
                <a:ea typeface="Be Vietnam Pro" pitchFamily="34" charset="-122"/>
                <a:cs typeface="Be Vietnam Pro" pitchFamily="34" charset="-120"/>
              </a:rPr>
              <a:t>Thói quen:</a:t>
            </a:r>
            <a:r>
              <a:rPr lang="en-US" sz="1200" dirty="0">
                <a:solidFill>
                  <a:srgbClr val="3D4A5C"/>
                </a:solidFill>
                <a:latin typeface="Be Vietnam Pro" pitchFamily="34" charset="0"/>
                <a:ea typeface="Be Vietnam Pro" pitchFamily="34" charset="-122"/>
                <a:cs typeface="Be Vietnam Pro" pitchFamily="34" charset="-120"/>
              </a:rPr>
              <a:t> Giảm nhập tay, bảng điều hành</a:t>
            </a:r>
            <a:endParaRPr lang="en-US" sz="1200" dirty="0"/>
          </a:p>
        </p:txBody>
      </p:sp>
      <p:sp>
        <p:nvSpPr>
          <p:cNvPr id="11" name="Text 8"/>
          <p:cNvSpPr/>
          <p:nvPr/>
        </p:nvSpPr>
        <p:spPr>
          <a:xfrm>
            <a:off x="996950" y="4171454"/>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E5E"/>
                </a:solidFill>
                <a:latin typeface="Be Vietnam Pro" pitchFamily="34" charset="0"/>
                <a:ea typeface="Be Vietnam Pro" pitchFamily="34" charset="-122"/>
                <a:cs typeface="Be Vietnam Pro" pitchFamily="34" charset="-120"/>
              </a:rPr>
              <a:t>Quy trình:</a:t>
            </a:r>
            <a:r>
              <a:rPr lang="en-US" sz="1200" dirty="0">
                <a:solidFill>
                  <a:srgbClr val="3D4A5C"/>
                </a:solidFill>
                <a:latin typeface="Be Vietnam Pro" pitchFamily="34" charset="0"/>
                <a:ea typeface="Be Vietnam Pro" pitchFamily="34" charset="-122"/>
                <a:cs typeface="Be Vietnam Pro" pitchFamily="34" charset="-120"/>
              </a:rPr>
              <a:t> Giai đoạn bán hàng chuẩn</a:t>
            </a:r>
            <a:endParaRPr lang="en-US" sz="1200" dirty="0"/>
          </a:p>
        </p:txBody>
      </p:sp>
      <p:sp>
        <p:nvSpPr>
          <p:cNvPr id="12" name="Text 9"/>
          <p:cNvSpPr/>
          <p:nvPr/>
        </p:nvSpPr>
        <p:spPr>
          <a:xfrm>
            <a:off x="996950" y="4473674"/>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B"/>
                </a:solidFill>
                <a:latin typeface="Be Vietnam Pro" pitchFamily="34" charset="0"/>
                <a:ea typeface="Be Vietnam Pro" pitchFamily="34" charset="-122"/>
                <a:cs typeface="Be Vietnam Pro" pitchFamily="34" charset="-120"/>
              </a:rPr>
              <a:t>Dừng: Sales Support</a:t>
            </a:r>
            <a:endParaRPr lang="en-US" sz="1200" dirty="0"/>
          </a:p>
        </p:txBody>
      </p:sp>
      <p:sp>
        <p:nvSpPr>
          <p:cNvPr id="13" name="Shape 10"/>
          <p:cNvSpPr/>
          <p:nvPr/>
        </p:nvSpPr>
        <p:spPr>
          <a:xfrm>
            <a:off x="4393109" y="1641376"/>
            <a:ext cx="3418483" cy="3226594"/>
          </a:xfrm>
          <a:prstGeom prst="roundRect">
            <a:avLst>
              <a:gd name="adj" fmla="val 3050"/>
            </a:avLst>
          </a:prstGeom>
          <a:solidFill>
            <a:srgbClr val="FDFDFB"/>
          </a:solidFill>
          <a:ln w="6350">
            <a:solidFill>
              <a:srgbClr val="D3DAE4"/>
            </a:solidFill>
            <a:prstDash val="solid"/>
          </a:ln>
        </p:spPr>
      </p:sp>
      <p:sp>
        <p:nvSpPr>
          <p:cNvPr id="14" name="Text 11"/>
          <p:cNvSpPr/>
          <p:nvPr/>
        </p:nvSpPr>
        <p:spPr>
          <a:xfrm>
            <a:off x="4574084" y="1822351"/>
            <a:ext cx="31482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Trung hạn · Quý 3/2027 – Quý 2/2028</a:t>
            </a:r>
            <a:endParaRPr lang="en-US" sz="1200" dirty="0"/>
          </a:p>
        </p:txBody>
      </p:sp>
      <p:sp>
        <p:nvSpPr>
          <p:cNvPr id="15" name="Text 12"/>
          <p:cNvSpPr/>
          <p:nvPr/>
        </p:nvSpPr>
        <p:spPr>
          <a:xfrm>
            <a:off x="4574084" y="2124571"/>
            <a:ext cx="314822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F"/>
                </a:solidFill>
                <a:latin typeface="Be Vietnam Pro" pitchFamily="34" charset="0"/>
                <a:ea typeface="Be Vietnam Pro" pitchFamily="34" charset="-122"/>
                <a:cs typeface="Be Vietnam Pro" pitchFamily="34" charset="-120"/>
              </a:rPr>
              <a:t>Mở rộng và AI</a:t>
            </a:r>
            <a:endParaRPr lang="en-US" sz="1800" dirty="0"/>
          </a:p>
        </p:txBody>
      </p:sp>
      <p:sp>
        <p:nvSpPr>
          <p:cNvPr id="16" name="Text 13"/>
          <p:cNvSpPr/>
          <p:nvPr/>
        </p:nvSpPr>
        <p:spPr>
          <a:xfrm>
            <a:off x="4574084" y="2487712"/>
            <a:ext cx="314822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3233F"/>
                </a:solidFill>
                <a:latin typeface="Be Vietnam Pro" pitchFamily="34" charset="0"/>
                <a:ea typeface="Be Vietnam Pro" pitchFamily="34" charset="-122"/>
                <a:cs typeface="Be Vietnam Pro" pitchFamily="34" charset="-120"/>
              </a:rPr>
              <a:t>Dữ liệu sinh ra giá trị bán hàng; đủ chuẩn để ứng dụng AI</a:t>
            </a:r>
            <a:endParaRPr lang="en-US" sz="1300" dirty="0"/>
          </a:p>
        </p:txBody>
      </p:sp>
      <p:pic>
        <p:nvPicPr>
          <p:cNvPr id="17" name="Image 1" descr="line"/>
          <p:cNvPicPr>
            <a:picLocks noChangeAspect="1"/>
          </p:cNvPicPr>
          <p:nvPr/>
        </p:nvPicPr>
        <p:blipFill>
          <a:blip r:embed="rId3"/>
          <a:srcRect l="-35" r="-35"/>
          <a:stretch/>
        </p:blipFill>
        <p:spPr>
          <a:xfrm>
            <a:off x="4574084" y="3038773"/>
            <a:ext cx="3056533" cy="12700"/>
          </a:xfrm>
          <a:prstGeom prst="rect">
            <a:avLst/>
          </a:prstGeom>
        </p:spPr>
      </p:pic>
      <p:sp>
        <p:nvSpPr>
          <p:cNvPr id="18" name="Text 14"/>
          <p:cNvSpPr/>
          <p:nvPr/>
        </p:nvSpPr>
        <p:spPr>
          <a:xfrm>
            <a:off x="4574084" y="3140373"/>
            <a:ext cx="31482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Dữ liệu:</a:t>
            </a:r>
            <a:r>
              <a:rPr lang="en-US" sz="1200" dirty="0">
                <a:solidFill>
                  <a:srgbClr val="3D4A5C"/>
                </a:solidFill>
                <a:latin typeface="Be Vietnam Pro" pitchFamily="34" charset="0"/>
                <a:ea typeface="Be Vietnam Pro" pitchFamily="34" charset="-122"/>
                <a:cs typeface="Be Vietnam Pro" pitchFamily="34" charset="-120"/>
              </a:rPr>
              <a:t> Làm giàu dữ liệu, chuẩn cho AI</a:t>
            </a:r>
            <a:endParaRPr lang="en-US" sz="1200" dirty="0"/>
          </a:p>
        </p:txBody>
      </p:sp>
      <p:sp>
        <p:nvSpPr>
          <p:cNvPr id="19" name="Text 15"/>
          <p:cNvSpPr/>
          <p:nvPr/>
        </p:nvSpPr>
        <p:spPr>
          <a:xfrm>
            <a:off x="4574084" y="3442593"/>
            <a:ext cx="31482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540F"/>
                </a:solidFill>
                <a:latin typeface="Be Vietnam Pro" pitchFamily="34" charset="0"/>
                <a:ea typeface="Be Vietnam Pro" pitchFamily="34" charset="-122"/>
                <a:cs typeface="Be Vietnam Pro" pitchFamily="34" charset="-120"/>
              </a:rPr>
              <a:t>Thói quen:</a:t>
            </a:r>
            <a:r>
              <a:rPr lang="en-US" sz="1200" dirty="0">
                <a:solidFill>
                  <a:srgbClr val="3D4A5C"/>
                </a:solidFill>
                <a:latin typeface="Be Vietnam Pro" pitchFamily="34" charset="0"/>
                <a:ea typeface="Be Vietnam Pro" pitchFamily="34" charset="-122"/>
                <a:cs typeface="Be Vietnam Pro" pitchFamily="34" charset="-120"/>
              </a:rPr>
              <a:t> Gắn KPI, AI giúp RM bớt việc</a:t>
            </a:r>
            <a:endParaRPr lang="en-US" sz="1200" dirty="0"/>
          </a:p>
        </p:txBody>
      </p:sp>
      <p:sp>
        <p:nvSpPr>
          <p:cNvPr id="20" name="Text 16"/>
          <p:cNvSpPr/>
          <p:nvPr/>
        </p:nvSpPr>
        <p:spPr>
          <a:xfrm>
            <a:off x="4574084" y="3744813"/>
            <a:ext cx="3148229"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E5E"/>
                </a:solidFill>
                <a:latin typeface="Be Vietnam Pro" pitchFamily="34" charset="0"/>
                <a:ea typeface="Be Vietnam Pro" pitchFamily="34" charset="-122"/>
                <a:cs typeface="Be Vietnam Pro" pitchFamily="34" charset="-120"/>
              </a:rPr>
              <a:t>Quy trình:</a:t>
            </a:r>
            <a:r>
              <a:rPr lang="en-US" sz="1200" dirty="0">
                <a:solidFill>
                  <a:srgbClr val="3D4A5C"/>
                </a:solidFill>
                <a:latin typeface="Be Vietnam Pro" pitchFamily="34" charset="0"/>
                <a:ea typeface="Be Vietnam Pro" pitchFamily="34" charset="-122"/>
                <a:cs typeface="Be Vietnam Pro" pitchFamily="34" charset="-120"/>
              </a:rPr>
              <a:t> Cẩm nang bán hàng, chiến dịch, yêu cầu khách hàng</a:t>
            </a:r>
            <a:endParaRPr lang="en-US" sz="1200" dirty="0"/>
          </a:p>
        </p:txBody>
      </p:sp>
      <p:sp>
        <p:nvSpPr>
          <p:cNvPr id="21" name="Text 17"/>
          <p:cNvSpPr/>
          <p:nvPr/>
        </p:nvSpPr>
        <p:spPr>
          <a:xfrm>
            <a:off x="4574084" y="4260354"/>
            <a:ext cx="31482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B"/>
                </a:solidFill>
                <a:latin typeface="Be Vietnam Pro" pitchFamily="34" charset="0"/>
                <a:ea typeface="Be Vietnam Pro" pitchFamily="34" charset="-122"/>
                <a:cs typeface="Be Vietnam Pro" pitchFamily="34" charset="-120"/>
              </a:rPr>
              <a:t>Dừng: VCRM</a:t>
            </a:r>
            <a:endParaRPr lang="en-US" sz="1200" dirty="0"/>
          </a:p>
        </p:txBody>
      </p:sp>
      <p:sp>
        <p:nvSpPr>
          <p:cNvPr id="22" name="Shape 18"/>
          <p:cNvSpPr/>
          <p:nvPr/>
        </p:nvSpPr>
        <p:spPr>
          <a:xfrm>
            <a:off x="7967166" y="1638201"/>
            <a:ext cx="3412034" cy="3232944"/>
          </a:xfrm>
          <a:prstGeom prst="roundRect">
            <a:avLst>
              <a:gd name="adj" fmla="val 3143"/>
            </a:avLst>
          </a:prstGeom>
          <a:solidFill>
            <a:srgbClr val="13233F"/>
          </a:solidFill>
          <a:ln/>
        </p:spPr>
      </p:sp>
      <p:sp>
        <p:nvSpPr>
          <p:cNvPr id="23" name="Text 19"/>
          <p:cNvSpPr/>
          <p:nvPr/>
        </p:nvSpPr>
        <p:spPr>
          <a:xfrm>
            <a:off x="8144966" y="1816001"/>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0A45C"/>
                </a:solidFill>
                <a:latin typeface="Be Vietnam Pro" pitchFamily="34" charset="0"/>
                <a:ea typeface="Be Vietnam Pro" pitchFamily="34" charset="-122"/>
                <a:cs typeface="Be Vietnam Pro" pitchFamily="34" charset="-120"/>
              </a:rPr>
              <a:t>Dài hạn · từ Quý 3/2028</a:t>
            </a:r>
            <a:endParaRPr lang="en-US" sz="1200" dirty="0"/>
          </a:p>
        </p:txBody>
      </p:sp>
      <p:sp>
        <p:nvSpPr>
          <p:cNvPr id="24" name="Text 20"/>
          <p:cNvSpPr/>
          <p:nvPr/>
        </p:nvSpPr>
        <p:spPr>
          <a:xfrm>
            <a:off x="8144966" y="2118221"/>
            <a:ext cx="31481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1"/>
                </a:solidFill>
                <a:latin typeface="Be Vietnam Pro" pitchFamily="34" charset="0"/>
                <a:ea typeface="Be Vietnam Pro" pitchFamily="34" charset="-122"/>
                <a:cs typeface="Be Vietnam Pro" pitchFamily="34" charset="-120"/>
              </a:rPr>
              <a:t>Chuyển đổi</a:t>
            </a:r>
            <a:endParaRPr lang="en-US" sz="1800" dirty="0"/>
          </a:p>
        </p:txBody>
      </p:sp>
      <p:sp>
        <p:nvSpPr>
          <p:cNvPr id="25" name="Text 21"/>
          <p:cNvSpPr/>
          <p:nvPr/>
        </p:nvSpPr>
        <p:spPr>
          <a:xfrm>
            <a:off x="8144966" y="2481362"/>
            <a:ext cx="31481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5F1"/>
                </a:solidFill>
                <a:latin typeface="Be Vietnam Pro" pitchFamily="34" charset="0"/>
                <a:ea typeface="Be Vietnam Pro" pitchFamily="34" charset="-122"/>
                <a:cs typeface="Be Vietnam Pro" pitchFamily="34" charset="-120"/>
              </a:rPr>
              <a:t>Thuê/mua CRM hiện đại và chuyển đổi không đứt gãy</a:t>
            </a:r>
            <a:endParaRPr lang="en-US" sz="1300" dirty="0"/>
          </a:p>
        </p:txBody>
      </p:sp>
      <p:pic>
        <p:nvPicPr>
          <p:cNvPr id="26" name="Image 2" descr="line"/>
          <p:cNvPicPr>
            <a:picLocks noChangeAspect="1"/>
          </p:cNvPicPr>
          <p:nvPr/>
        </p:nvPicPr>
        <p:blipFill>
          <a:blip r:embed="rId4"/>
          <a:srcRect l="-35" r="-35"/>
          <a:stretch/>
        </p:blipFill>
        <p:spPr>
          <a:xfrm>
            <a:off x="8144966" y="3032423"/>
            <a:ext cx="3056434" cy="12700"/>
          </a:xfrm>
          <a:prstGeom prst="rect">
            <a:avLst/>
          </a:prstGeom>
        </p:spPr>
      </p:pic>
      <p:sp>
        <p:nvSpPr>
          <p:cNvPr id="27" name="Text 22"/>
          <p:cNvSpPr/>
          <p:nvPr/>
        </p:nvSpPr>
        <p:spPr>
          <a:xfrm>
            <a:off x="8144966" y="3134023"/>
            <a:ext cx="314812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DB6E8"/>
                </a:solidFill>
                <a:latin typeface="Be Vietnam Pro" pitchFamily="34" charset="0"/>
                <a:ea typeface="Be Vietnam Pro" pitchFamily="34" charset="-122"/>
                <a:cs typeface="Be Vietnam Pro" pitchFamily="34" charset="-120"/>
              </a:rPr>
              <a:t>Dữ liệu:</a:t>
            </a:r>
            <a:r>
              <a:rPr lang="en-US" sz="1200" dirty="0">
                <a:solidFill>
                  <a:srgbClr val="DCE4EE"/>
                </a:solidFill>
                <a:latin typeface="Be Vietnam Pro" pitchFamily="34" charset="0"/>
                <a:ea typeface="Be Vietnam Pro" pitchFamily="34" charset="-122"/>
                <a:cs typeface="Be Vietnam Pro" pitchFamily="34" charset="-120"/>
              </a:rPr>
              <a:t> Chuyển dữ liệu sạch sang hệ thống mới</a:t>
            </a:r>
            <a:endParaRPr lang="en-US" sz="1200" dirty="0"/>
          </a:p>
        </p:txBody>
      </p:sp>
      <p:sp>
        <p:nvSpPr>
          <p:cNvPr id="28" name="Text 23"/>
          <p:cNvSpPr/>
          <p:nvPr/>
        </p:nvSpPr>
        <p:spPr>
          <a:xfrm>
            <a:off x="8144966" y="3649563"/>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0A45C"/>
                </a:solidFill>
                <a:latin typeface="Be Vietnam Pro" pitchFamily="34" charset="0"/>
                <a:ea typeface="Be Vietnam Pro" pitchFamily="34" charset="-122"/>
                <a:cs typeface="Be Vietnam Pro" pitchFamily="34" charset="-120"/>
              </a:rPr>
              <a:t>Thói quen:</a:t>
            </a:r>
            <a:r>
              <a:rPr lang="en-US" sz="1200" dirty="0">
                <a:solidFill>
                  <a:srgbClr val="DCE4EE"/>
                </a:solidFill>
                <a:latin typeface="Be Vietnam Pro" pitchFamily="34" charset="0"/>
                <a:ea typeface="Be Vietnam Pro" pitchFamily="34" charset="-122"/>
                <a:cs typeface="Be Vietnam Pro" pitchFamily="34" charset="-120"/>
              </a:rPr>
              <a:t> Văn hóa dữ liệu đã hình thành</a:t>
            </a:r>
            <a:endParaRPr lang="en-US" sz="1200" dirty="0"/>
          </a:p>
        </p:txBody>
      </p:sp>
      <p:sp>
        <p:nvSpPr>
          <p:cNvPr id="29" name="Text 24"/>
          <p:cNvSpPr/>
          <p:nvPr/>
        </p:nvSpPr>
        <p:spPr>
          <a:xfrm>
            <a:off x="8144966" y="3951784"/>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FC4B0"/>
                </a:solidFill>
                <a:latin typeface="Be Vietnam Pro" pitchFamily="34" charset="0"/>
                <a:ea typeface="Be Vietnam Pro" pitchFamily="34" charset="-122"/>
                <a:cs typeface="Be Vietnam Pro" pitchFamily="34" charset="-120"/>
              </a:rPr>
              <a:t>Quy trình:</a:t>
            </a:r>
            <a:r>
              <a:rPr lang="en-US" sz="1200" dirty="0">
                <a:solidFill>
                  <a:srgbClr val="DCE4EE"/>
                </a:solidFill>
                <a:latin typeface="Be Vietnam Pro" pitchFamily="34" charset="0"/>
                <a:ea typeface="Be Vietnam Pro" pitchFamily="34" charset="-122"/>
                <a:cs typeface="Be Vietnam Pro" pitchFamily="34" charset="-120"/>
              </a:rPr>
              <a:t> Cấu hình lại, không thiết kế lại</a:t>
            </a:r>
            <a:endParaRPr lang="en-US" sz="1200" dirty="0"/>
          </a:p>
        </p:txBody>
      </p:sp>
      <p:sp>
        <p:nvSpPr>
          <p:cNvPr id="30" name="Text 25"/>
          <p:cNvSpPr/>
          <p:nvPr/>
        </p:nvSpPr>
        <p:spPr>
          <a:xfrm>
            <a:off x="8144966" y="4254004"/>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FCBDA"/>
                </a:solidFill>
                <a:latin typeface="Be Vietnam Pro" pitchFamily="34" charset="0"/>
                <a:ea typeface="Be Vietnam Pro" pitchFamily="34" charset="-122"/>
                <a:cs typeface="Be Vietnam Pro" pitchFamily="34" charset="-120"/>
              </a:rPr>
              <a:t>Dừng: CRM1.0 sau chạy song song</a:t>
            </a:r>
            <a:endParaRPr lang="en-US" sz="1200" dirty="0"/>
          </a:p>
        </p:txBody>
      </p:sp>
      <p:sp>
        <p:nvSpPr>
          <p:cNvPr id="31"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ĐIỀU KIỆN CHUYỂN GIAI ĐOẠN</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Chuyển giai đoạn theo KPI, không theo lịch</a:t>
            </a:r>
            <a:endParaRPr lang="en-US" sz="2800" dirty="0"/>
          </a:p>
        </p:txBody>
      </p:sp>
      <p:sp>
        <p:nvSpPr>
          <p:cNvPr id="4" name="Shape 2"/>
          <p:cNvSpPr/>
          <p:nvPr/>
        </p:nvSpPr>
        <p:spPr>
          <a:xfrm>
            <a:off x="815975" y="1666776"/>
            <a:ext cx="5200650" cy="1797050"/>
          </a:xfrm>
          <a:prstGeom prst="roundRect">
            <a:avLst>
              <a:gd name="adj" fmla="val 5477"/>
            </a:avLst>
          </a:prstGeom>
          <a:solidFill>
            <a:srgbClr val="FDFDFB"/>
          </a:solidFill>
          <a:ln w="6350">
            <a:solidFill>
              <a:srgbClr val="D3DAE4"/>
            </a:solidFill>
            <a:prstDash val="solid"/>
          </a:ln>
        </p:spPr>
      </p:sp>
      <p:pic>
        <p:nvPicPr>
          <p:cNvPr id="5" name="Image 0" descr="Key"/>
          <p:cNvPicPr>
            <a:picLocks noChangeAspect="1"/>
          </p:cNvPicPr>
          <p:nvPr/>
        </p:nvPicPr>
        <p:blipFill>
          <a:blip r:embed="rId3"/>
          <a:srcRect/>
          <a:stretch/>
        </p:blipFill>
        <p:spPr>
          <a:xfrm>
            <a:off x="1022350" y="1873151"/>
            <a:ext cx="279400" cy="279400"/>
          </a:xfrm>
          <a:prstGeom prst="rect">
            <a:avLst/>
          </a:prstGeom>
        </p:spPr>
      </p:pic>
      <p:sp>
        <p:nvSpPr>
          <p:cNvPr id="6" name="Text 3"/>
          <p:cNvSpPr/>
          <p:nvPr/>
        </p:nvSpPr>
        <p:spPr>
          <a:xfrm>
            <a:off x="1403350" y="1883271"/>
            <a:ext cx="422434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Mốc kiểm tra 1: Ngắn hạn → Trung hạn</a:t>
            </a:r>
            <a:endParaRPr lang="en-US" sz="1700" dirty="0"/>
          </a:p>
        </p:txBody>
      </p:sp>
      <p:sp>
        <p:nvSpPr>
          <p:cNvPr id="7" name="Text 4"/>
          <p:cNvSpPr/>
          <p:nvPr/>
        </p:nvSpPr>
        <p:spPr>
          <a:xfrm>
            <a:off x="1022350" y="2266851"/>
            <a:ext cx="4931537" cy="1016000"/>
          </a:xfrm>
          <a:prstGeom prst="rect">
            <a:avLst/>
          </a:prstGeom>
          <a:noFill/>
          <a:ln/>
        </p:spPr>
        <p:txBody>
          <a:bodyPr wrap="square" lIns="0" tIns="0" rIns="0" bIns="0" rtlCol="0" anchor="t">
            <a:normAutofit/>
          </a:bodyPr>
          <a:lstStyle/>
          <a:p>
            <a:pPr marL="198120" indent="-162306" algn="l">
              <a:lnSpc>
                <a:spcPts val="1950"/>
              </a:lnSpc>
              <a:buSzPct val="100000"/>
              <a:buChar char="•"/>
            </a:pPr>
            <a:r>
              <a:rPr lang="en-US" sz="1300" dirty="0">
                <a:solidFill>
                  <a:srgbClr val="3D4A5C"/>
                </a:solidFill>
                <a:latin typeface="Be Vietnam Pro" pitchFamily="34" charset="0"/>
                <a:ea typeface="Be Vietnam Pro" pitchFamily="34" charset="-122"/>
                <a:cs typeface="Be Vietnam Pro" pitchFamily="34" charset="-120"/>
              </a:rPr>
              <a:t>Dữ liệu khách hàng đầy đủ ≥ 80%</a:t>
            </a:r>
            <a:endParaRPr lang="en-US" sz="1300" dirty="0"/>
          </a:p>
          <a:p>
            <a:pPr marL="198120" indent="-162306" algn="l">
              <a:lnSpc>
                <a:spcPts val="1950"/>
              </a:lnSpc>
              <a:buSzPct val="100000"/>
              <a:buChar char="•"/>
            </a:pPr>
            <a:r>
              <a:rPr lang="en-US" sz="1300" dirty="0">
                <a:solidFill>
                  <a:srgbClr val="3D4A5C"/>
                </a:solidFill>
                <a:latin typeface="Be Vietnam Pro" pitchFamily="34" charset="0"/>
                <a:ea typeface="Be Vietnam Pro" pitchFamily="34" charset="-122"/>
                <a:cs typeface="Be Vietnam Pro" pitchFamily="34" charset="-120"/>
              </a:rPr>
              <a:t>≥ 70% RM dùng CRM hằng tháng</a:t>
            </a:r>
            <a:endParaRPr lang="en-US" sz="1300" dirty="0"/>
          </a:p>
          <a:p>
            <a:pPr marL="198120" indent="-162306" algn="l">
              <a:lnSpc>
                <a:spcPts val="1950"/>
              </a:lnSpc>
              <a:buSzPct val="100000"/>
              <a:buChar char="•"/>
            </a:pPr>
            <a:r>
              <a:rPr lang="en-US" sz="1300" dirty="0">
                <a:solidFill>
                  <a:srgbClr val="3D4A5C"/>
                </a:solidFill>
                <a:latin typeface="Be Vietnam Pro" pitchFamily="34" charset="0"/>
                <a:ea typeface="Be Vietnam Pro" pitchFamily="34" charset="-122"/>
                <a:cs typeface="Be Vietnam Pro" pitchFamily="34" charset="-120"/>
              </a:rPr>
              <a:t>100% cơ hội theo giai đoạn chuẩn</a:t>
            </a:r>
            <a:endParaRPr lang="en-US" sz="1300" dirty="0"/>
          </a:p>
          <a:p>
            <a:pPr marL="198120" indent="-162306" algn="l">
              <a:lnSpc>
                <a:spcPts val="1950"/>
              </a:lnSpc>
              <a:buSzPct val="100000"/>
              <a:buChar char="•"/>
            </a:pPr>
            <a:r>
              <a:rPr lang="en-US" sz="1300" dirty="0">
                <a:solidFill>
                  <a:srgbClr val="3D4A5C"/>
                </a:solidFill>
                <a:latin typeface="Be Vietnam Pro" pitchFamily="34" charset="0"/>
                <a:ea typeface="Be Vietnam Pro" pitchFamily="34" charset="-122"/>
                <a:cs typeface="Be Vietnam Pro" pitchFamily="34" charset="-120"/>
              </a:rPr>
              <a:t>Đã dừng Sales Support</a:t>
            </a:r>
            <a:endParaRPr lang="en-US" sz="1300" dirty="0"/>
          </a:p>
        </p:txBody>
      </p:sp>
      <p:sp>
        <p:nvSpPr>
          <p:cNvPr id="8" name="Shape 5"/>
          <p:cNvSpPr/>
          <p:nvPr/>
        </p:nvSpPr>
        <p:spPr>
          <a:xfrm>
            <a:off x="6175375" y="1666776"/>
            <a:ext cx="5200650" cy="1797050"/>
          </a:xfrm>
          <a:prstGeom prst="roundRect">
            <a:avLst>
              <a:gd name="adj" fmla="val 5477"/>
            </a:avLst>
          </a:prstGeom>
          <a:solidFill>
            <a:srgbClr val="FDFDFB"/>
          </a:solidFill>
          <a:ln w="6350">
            <a:solidFill>
              <a:srgbClr val="D3DAE4"/>
            </a:solidFill>
            <a:prstDash val="solid"/>
          </a:ln>
        </p:spPr>
      </p:sp>
      <p:pic>
        <p:nvPicPr>
          <p:cNvPr id="9" name="Image 1" descr="Key"/>
          <p:cNvPicPr>
            <a:picLocks noChangeAspect="1"/>
          </p:cNvPicPr>
          <p:nvPr/>
        </p:nvPicPr>
        <p:blipFill>
          <a:blip r:embed="rId4"/>
          <a:srcRect/>
          <a:stretch/>
        </p:blipFill>
        <p:spPr>
          <a:xfrm>
            <a:off x="6381750" y="1873151"/>
            <a:ext cx="279400" cy="279400"/>
          </a:xfrm>
          <a:prstGeom prst="rect">
            <a:avLst/>
          </a:prstGeom>
        </p:spPr>
      </p:pic>
      <p:sp>
        <p:nvSpPr>
          <p:cNvPr id="10" name="Text 6"/>
          <p:cNvSpPr/>
          <p:nvPr/>
        </p:nvSpPr>
        <p:spPr>
          <a:xfrm>
            <a:off x="6762750" y="1883271"/>
            <a:ext cx="406492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Mốc kiểm tra 2: Trung hạn → Dài hạn</a:t>
            </a:r>
            <a:endParaRPr lang="en-US" sz="1700" dirty="0"/>
          </a:p>
        </p:txBody>
      </p:sp>
      <p:sp>
        <p:nvSpPr>
          <p:cNvPr id="11" name="Text 7"/>
          <p:cNvSpPr/>
          <p:nvPr/>
        </p:nvSpPr>
        <p:spPr>
          <a:xfrm>
            <a:off x="6381750" y="2266851"/>
            <a:ext cx="4931537" cy="1016000"/>
          </a:xfrm>
          <a:prstGeom prst="rect">
            <a:avLst/>
          </a:prstGeom>
          <a:noFill/>
          <a:ln/>
        </p:spPr>
        <p:txBody>
          <a:bodyPr wrap="square" lIns="0" tIns="0" rIns="0" bIns="0" rtlCol="0" anchor="t">
            <a:normAutofit/>
          </a:bodyPr>
          <a:lstStyle/>
          <a:p>
            <a:pPr marL="198120" indent="-162306" algn="l">
              <a:lnSpc>
                <a:spcPts val="1950"/>
              </a:lnSpc>
              <a:buSzPct val="100000"/>
              <a:buChar char="•"/>
            </a:pPr>
            <a:r>
              <a:rPr lang="en-US" sz="1300" dirty="0">
                <a:solidFill>
                  <a:srgbClr val="3D4A5C"/>
                </a:solidFill>
                <a:latin typeface="Be Vietnam Pro" pitchFamily="34" charset="0"/>
                <a:ea typeface="Be Vietnam Pro" pitchFamily="34" charset="-122"/>
                <a:cs typeface="Be Vietnam Pro" pitchFamily="34" charset="-120"/>
              </a:rPr>
              <a:t>Tỷ lệ trùng lặp &lt; 2%</a:t>
            </a:r>
            <a:endParaRPr lang="en-US" sz="1300" dirty="0"/>
          </a:p>
          <a:p>
            <a:pPr marL="198120" indent="-162306" algn="l">
              <a:lnSpc>
                <a:spcPts val="1950"/>
              </a:lnSpc>
              <a:buSzPct val="100000"/>
              <a:buChar char="•"/>
            </a:pPr>
            <a:r>
              <a:rPr lang="en-US" sz="1300" dirty="0">
                <a:solidFill>
                  <a:srgbClr val="3D4A5C"/>
                </a:solidFill>
                <a:latin typeface="Be Vietnam Pro" pitchFamily="34" charset="0"/>
                <a:ea typeface="Be Vietnam Pro" pitchFamily="34" charset="-122"/>
                <a:cs typeface="Be Vietnam Pro" pitchFamily="34" charset="-120"/>
              </a:rPr>
              <a:t>Có 12 tháng dữ liệu bán hàng sạch</a:t>
            </a:r>
            <a:endParaRPr lang="en-US" sz="1300" dirty="0"/>
          </a:p>
          <a:p>
            <a:pPr marL="198120" indent="-162306" algn="l">
              <a:lnSpc>
                <a:spcPts val="1950"/>
              </a:lnSpc>
              <a:buSzPct val="100000"/>
              <a:buChar char="•"/>
            </a:pPr>
            <a:r>
              <a:rPr lang="en-US" sz="1300" dirty="0">
                <a:solidFill>
                  <a:srgbClr val="3D4A5C"/>
                </a:solidFill>
                <a:latin typeface="Be Vietnam Pro" pitchFamily="34" charset="0"/>
                <a:ea typeface="Be Vietnam Pro" pitchFamily="34" charset="-122"/>
                <a:cs typeface="Be Vietnam Pro" pitchFamily="34" charset="-120"/>
              </a:rPr>
              <a:t>≥ 85% RM dùng CRM h</a:t>
            </a:r>
            <a:r>
              <a:rPr lang="vi-VN" sz="1300" dirty="0">
                <a:solidFill>
                  <a:srgbClr val="3D4A5C"/>
                </a:solidFill>
                <a:latin typeface="Be Vietnam Pro" pitchFamily="34" charset="0"/>
                <a:ea typeface="Be Vietnam Pro" pitchFamily="34" charset="-122"/>
                <a:cs typeface="Be Vietnam Pro" pitchFamily="34" charset="-120"/>
              </a:rPr>
              <a:t>àng</a:t>
            </a:r>
            <a:r>
              <a:rPr lang="en-US" sz="1300" dirty="0">
                <a:solidFill>
                  <a:srgbClr val="3D4A5C"/>
                </a:solidFill>
                <a:latin typeface="Be Vietnam Pro" pitchFamily="34" charset="0"/>
                <a:ea typeface="Be Vietnam Pro" pitchFamily="34" charset="-122"/>
                <a:cs typeface="Be Vietnam Pro" pitchFamily="34" charset="-120"/>
              </a:rPr>
              <a:t> tháng</a:t>
            </a:r>
            <a:endParaRPr lang="en-US" sz="1300" dirty="0"/>
          </a:p>
          <a:p>
            <a:pPr marL="198120" indent="-162306" algn="l">
              <a:lnSpc>
                <a:spcPts val="1950"/>
              </a:lnSpc>
              <a:buSzPct val="100000"/>
              <a:buChar char="•"/>
            </a:pPr>
            <a:r>
              <a:rPr lang="en-US" sz="1300" dirty="0">
                <a:solidFill>
                  <a:srgbClr val="3D4A5C"/>
                </a:solidFill>
                <a:latin typeface="Be Vietnam Pro" pitchFamily="34" charset="0"/>
                <a:ea typeface="Be Vietnam Pro" pitchFamily="34" charset="-122"/>
                <a:cs typeface="Be Vietnam Pro" pitchFamily="34" charset="-120"/>
              </a:rPr>
              <a:t>Cấu trúc dữ liệu và lớp kết nối chuẩn (API) đã sẵn sàng</a:t>
            </a:r>
            <a:endParaRPr lang="en-US" sz="1300" dirty="0"/>
          </a:p>
        </p:txBody>
      </p:sp>
      <p:sp>
        <p:nvSpPr>
          <p:cNvPr id="12" name="Shape 8"/>
          <p:cNvSpPr/>
          <p:nvPr/>
        </p:nvSpPr>
        <p:spPr>
          <a:xfrm>
            <a:off x="812800" y="3721001"/>
            <a:ext cx="10566400" cy="939800"/>
          </a:xfrm>
          <a:prstGeom prst="roundRect">
            <a:avLst>
              <a:gd name="adj" fmla="val 10811"/>
            </a:avLst>
          </a:prstGeom>
          <a:solidFill>
            <a:srgbClr val="13233F"/>
          </a:solidFill>
          <a:ln/>
        </p:spPr>
      </p:sp>
      <p:pic>
        <p:nvPicPr>
          <p:cNvPr id="13" name="Image 2" descr="Warning"/>
          <p:cNvPicPr>
            <a:picLocks noChangeAspect="1"/>
          </p:cNvPicPr>
          <p:nvPr/>
        </p:nvPicPr>
        <p:blipFill>
          <a:blip r:embed="rId5"/>
          <a:srcRect l="-491" r="-491"/>
          <a:stretch/>
        </p:blipFill>
        <p:spPr>
          <a:xfrm>
            <a:off x="1066800" y="4038501"/>
            <a:ext cx="224433" cy="304800"/>
          </a:xfrm>
          <a:prstGeom prst="rect">
            <a:avLst/>
          </a:prstGeom>
        </p:spPr>
      </p:pic>
      <p:sp>
        <p:nvSpPr>
          <p:cNvPr id="14" name="Text 9"/>
          <p:cNvSpPr/>
          <p:nvPr/>
        </p:nvSpPr>
        <p:spPr>
          <a:xfrm>
            <a:off x="1443633" y="3924201"/>
            <a:ext cx="997201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5F1"/>
                </a:solidFill>
                <a:latin typeface="Be Vietnam Pro" pitchFamily="34" charset="0"/>
                <a:ea typeface="Be Vietnam Pro" pitchFamily="34" charset="-122"/>
                <a:cs typeface="Be Vietnam Pro" pitchFamily="34" charset="-120"/>
              </a:rPr>
              <a:t>Chưa đạt mốc thì kéo dài giai đoạn. </a:t>
            </a:r>
            <a:r>
              <a:rPr lang="en-US" sz="1500" b="1" dirty="0">
                <a:solidFill>
                  <a:srgbClr val="F6F5F1"/>
                </a:solidFill>
                <a:latin typeface="Be Vietnam Pro" pitchFamily="34" charset="0"/>
                <a:ea typeface="Be Vietnam Pro" pitchFamily="34" charset="-122"/>
                <a:cs typeface="Be Vietnam Pro" pitchFamily="34" charset="-120"/>
              </a:rPr>
              <a:t>Chỉ ký hợp đồng CRM hiện đại khi đạt Mốc kiểm tra 2</a:t>
            </a:r>
            <a:r>
              <a:rPr lang="en-US" sz="1500" dirty="0">
                <a:solidFill>
                  <a:srgbClr val="F6F5F1"/>
                </a:solidFill>
                <a:latin typeface="Be Vietnam Pro" pitchFamily="34" charset="0"/>
                <a:ea typeface="Be Vietnam Pro" pitchFamily="34" charset="-122"/>
                <a:cs typeface="Be Vietnam Pro" pitchFamily="34" charset="-120"/>
              </a:rPr>
              <a:t>, tránh mua hệ thống mới trên dữ liệu chưa sẵn sàng.</a:t>
            </a:r>
            <a:endParaRPr lang="en-US" sz="1500" dirty="0"/>
          </a:p>
        </p:txBody>
      </p:sp>
      <p:sp>
        <p:nvSpPr>
          <p:cNvPr id="15"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KIẾN TRÚC MODULE CRM1.0</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8 module xoay quanh công việc hằng ngày của RM</a:t>
            </a:r>
            <a:endParaRPr lang="en-US" sz="2800" dirty="0"/>
          </a:p>
        </p:txBody>
      </p:sp>
      <p:sp>
        <p:nvSpPr>
          <p:cNvPr id="4" name="Shape 2"/>
          <p:cNvSpPr/>
          <p:nvPr/>
        </p:nvSpPr>
        <p:spPr>
          <a:xfrm>
            <a:off x="819150" y="1415951"/>
            <a:ext cx="10553700" cy="419100"/>
          </a:xfrm>
          <a:prstGeom prst="roundRect">
            <a:avLst>
              <a:gd name="adj" fmla="val 16667"/>
            </a:avLst>
          </a:prstGeom>
          <a:solidFill>
            <a:srgbClr val="E3ECF7"/>
          </a:solidFill>
          <a:ln w="12700">
            <a:solidFill>
              <a:srgbClr val="1D5FA8"/>
            </a:solidFill>
            <a:prstDash val="solid"/>
          </a:ln>
        </p:spPr>
      </p:sp>
      <p:pic>
        <p:nvPicPr>
          <p:cNvPr id="5" name="Image 0" descr="Lightbulb"/>
          <p:cNvPicPr>
            <a:picLocks noChangeAspect="1"/>
          </p:cNvPicPr>
          <p:nvPr/>
        </p:nvPicPr>
        <p:blipFill>
          <a:blip r:embed="rId3"/>
          <a:srcRect/>
          <a:stretch/>
        </p:blipFill>
        <p:spPr>
          <a:xfrm>
            <a:off x="977900" y="1511201"/>
            <a:ext cx="228600" cy="228600"/>
          </a:xfrm>
          <a:prstGeom prst="rect">
            <a:avLst/>
          </a:prstGeom>
        </p:spPr>
      </p:pic>
      <p:sp>
        <p:nvSpPr>
          <p:cNvPr id="6" name="Text 3"/>
          <p:cNvSpPr/>
          <p:nvPr/>
        </p:nvSpPr>
        <p:spPr>
          <a:xfrm>
            <a:off x="1308100" y="1518841"/>
            <a:ext cx="835007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Trợ lý AI cho RM</a:t>
            </a:r>
            <a:r>
              <a:rPr lang="en-US" sz="1200" dirty="0">
                <a:solidFill>
                  <a:srgbClr val="13233F"/>
                </a:solidFill>
                <a:latin typeface="Be Vietnam Pro" pitchFamily="34" charset="0"/>
                <a:ea typeface="Be Vietnam Pro" pitchFamily="34" charset="-122"/>
                <a:cs typeface="Be Vietnam Pro" pitchFamily="34" charset="-120"/>
              </a:rPr>
              <a:t> · xuyên suốt các module: tóm tắt khách hàng, soạn biên bản, gợi ý cơ hội, hỏi đáp chính sách</a:t>
            </a:r>
            <a:endParaRPr lang="en-US" sz="1200" dirty="0"/>
          </a:p>
        </p:txBody>
      </p:sp>
      <p:sp>
        <p:nvSpPr>
          <p:cNvPr id="7" name="Text 4"/>
          <p:cNvSpPr/>
          <p:nvPr/>
        </p:nvSpPr>
        <p:spPr>
          <a:xfrm>
            <a:off x="812800" y="194300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Module cốt lõi</a:t>
            </a:r>
            <a:endParaRPr lang="en-US" sz="1200" dirty="0"/>
          </a:p>
        </p:txBody>
      </p:sp>
      <p:sp>
        <p:nvSpPr>
          <p:cNvPr id="8" name="Shape 5"/>
          <p:cNvSpPr/>
          <p:nvPr/>
        </p:nvSpPr>
        <p:spPr>
          <a:xfrm>
            <a:off x="812800" y="2257921"/>
            <a:ext cx="2565400" cy="970161"/>
          </a:xfrm>
          <a:prstGeom prst="roundRect">
            <a:avLst>
              <a:gd name="adj" fmla="val 7854"/>
            </a:avLst>
          </a:prstGeom>
          <a:solidFill>
            <a:srgbClr val="13233F"/>
          </a:solidFill>
          <a:ln/>
        </p:spPr>
      </p:sp>
      <p:sp>
        <p:nvSpPr>
          <p:cNvPr id="9" name="Text 6"/>
          <p:cNvSpPr/>
          <p:nvPr/>
        </p:nvSpPr>
        <p:spPr>
          <a:xfrm>
            <a:off x="965200" y="2397621"/>
            <a:ext cx="23284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5F1"/>
                </a:solidFill>
                <a:latin typeface="Be Vietnam Pro" pitchFamily="34" charset="0"/>
                <a:ea typeface="Be Vietnam Pro" pitchFamily="34" charset="-122"/>
                <a:cs typeface="Be Vietnam Pro" pitchFamily="34" charset="-120"/>
              </a:rPr>
              <a:t>Quản lý khách hàng</a:t>
            </a:r>
            <a:endParaRPr lang="en-US" sz="1500" dirty="0"/>
          </a:p>
        </p:txBody>
      </p:sp>
      <p:sp>
        <p:nvSpPr>
          <p:cNvPr id="10" name="Text 7"/>
          <p:cNvSpPr/>
          <p:nvPr/>
        </p:nvSpPr>
        <p:spPr>
          <a:xfrm>
            <a:off x="965200" y="2677021"/>
            <a:ext cx="2328418"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Be Vietnam Pro" pitchFamily="34" charset="0"/>
                <a:ea typeface="Be Vietnam Pro" pitchFamily="34" charset="-122"/>
                <a:cs typeface="Be Vietnam Pro" pitchFamily="34" charset="-120"/>
              </a:rPr>
              <a:t>Hồ sơ 360, dữ liệu sạch, phân giao danh mục</a:t>
            </a:r>
            <a:endParaRPr lang="en-US" sz="1200" dirty="0"/>
          </a:p>
        </p:txBody>
      </p:sp>
      <p:sp>
        <p:nvSpPr>
          <p:cNvPr id="11" name="Shape 8"/>
          <p:cNvSpPr/>
          <p:nvPr/>
        </p:nvSpPr>
        <p:spPr>
          <a:xfrm>
            <a:off x="3479800" y="2257921"/>
            <a:ext cx="2565400" cy="970161"/>
          </a:xfrm>
          <a:prstGeom prst="roundRect">
            <a:avLst>
              <a:gd name="adj" fmla="val 7854"/>
            </a:avLst>
          </a:prstGeom>
          <a:solidFill>
            <a:srgbClr val="13233F"/>
          </a:solidFill>
          <a:ln/>
        </p:spPr>
      </p:sp>
      <p:sp>
        <p:nvSpPr>
          <p:cNvPr id="12" name="Text 9"/>
          <p:cNvSpPr/>
          <p:nvPr/>
        </p:nvSpPr>
        <p:spPr>
          <a:xfrm>
            <a:off x="3632200" y="2397621"/>
            <a:ext cx="23284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5F1"/>
                </a:solidFill>
                <a:latin typeface="Be Vietnam Pro" pitchFamily="34" charset="0"/>
                <a:ea typeface="Be Vietnam Pro" pitchFamily="34" charset="-122"/>
                <a:cs typeface="Be Vietnam Pro" pitchFamily="34" charset="-120"/>
              </a:rPr>
              <a:t>Sales pipeline</a:t>
            </a:r>
            <a:endParaRPr lang="en-US" sz="1500" dirty="0"/>
          </a:p>
        </p:txBody>
      </p:sp>
      <p:sp>
        <p:nvSpPr>
          <p:cNvPr id="13" name="Text 10"/>
          <p:cNvSpPr/>
          <p:nvPr/>
        </p:nvSpPr>
        <p:spPr>
          <a:xfrm>
            <a:off x="3632200" y="2677021"/>
            <a:ext cx="2328418"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Be Vietnam Pro" pitchFamily="34" charset="0"/>
                <a:ea typeface="Be Vietnam Pro" pitchFamily="34" charset="-122"/>
                <a:cs typeface="Be Vietnam Pro" pitchFamily="34" charset="-120"/>
              </a:rPr>
              <a:t>Khách hàng tiềm năng, cơ hội, lịch hẹn, cẩm nang bán hàng</a:t>
            </a:r>
            <a:endParaRPr lang="en-US" sz="1200" dirty="0"/>
          </a:p>
        </p:txBody>
      </p:sp>
      <p:sp>
        <p:nvSpPr>
          <p:cNvPr id="14" name="Shape 11"/>
          <p:cNvSpPr/>
          <p:nvPr/>
        </p:nvSpPr>
        <p:spPr>
          <a:xfrm>
            <a:off x="6146800" y="2257921"/>
            <a:ext cx="2565400" cy="970161"/>
          </a:xfrm>
          <a:prstGeom prst="roundRect">
            <a:avLst>
              <a:gd name="adj" fmla="val 7854"/>
            </a:avLst>
          </a:prstGeom>
          <a:solidFill>
            <a:srgbClr val="13233F"/>
          </a:solidFill>
          <a:ln/>
        </p:spPr>
      </p:sp>
      <p:sp>
        <p:nvSpPr>
          <p:cNvPr id="15" name="Text 12"/>
          <p:cNvSpPr/>
          <p:nvPr/>
        </p:nvSpPr>
        <p:spPr>
          <a:xfrm>
            <a:off x="6299200" y="2397621"/>
            <a:ext cx="23284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5F1"/>
                </a:solidFill>
                <a:latin typeface="Be Vietnam Pro" pitchFamily="34" charset="0"/>
                <a:ea typeface="Be Vietnam Pro" pitchFamily="34" charset="-122"/>
                <a:cs typeface="Be Vietnam Pro" pitchFamily="34" charset="-120"/>
              </a:rPr>
              <a:t>Giao dịch</a:t>
            </a:r>
            <a:endParaRPr lang="en-US" sz="1500" dirty="0"/>
          </a:p>
        </p:txBody>
      </p:sp>
      <p:sp>
        <p:nvSpPr>
          <p:cNvPr id="16" name="Text 13"/>
          <p:cNvSpPr/>
          <p:nvPr/>
        </p:nvSpPr>
        <p:spPr>
          <a:xfrm>
            <a:off x="6299200" y="2677021"/>
            <a:ext cx="2328418"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Be Vietnam Pro" pitchFamily="34" charset="0"/>
                <a:ea typeface="Be Vietnam Pro" pitchFamily="34" charset="-122"/>
                <a:cs typeface="Be Vietnam Pro" pitchFamily="34" charset="-120"/>
              </a:rPr>
              <a:t>Số dư, đáo hạn, biến động, thu nhập theo khách hàng</a:t>
            </a:r>
            <a:endParaRPr lang="en-US" sz="1200" dirty="0"/>
          </a:p>
        </p:txBody>
      </p:sp>
      <p:sp>
        <p:nvSpPr>
          <p:cNvPr id="17" name="Shape 14"/>
          <p:cNvSpPr/>
          <p:nvPr/>
        </p:nvSpPr>
        <p:spPr>
          <a:xfrm>
            <a:off x="8813800" y="2257921"/>
            <a:ext cx="2565400" cy="970161"/>
          </a:xfrm>
          <a:prstGeom prst="roundRect">
            <a:avLst>
              <a:gd name="adj" fmla="val 7854"/>
            </a:avLst>
          </a:prstGeom>
          <a:solidFill>
            <a:srgbClr val="13233F"/>
          </a:solidFill>
          <a:ln/>
        </p:spPr>
      </p:sp>
      <p:sp>
        <p:nvSpPr>
          <p:cNvPr id="18" name="Text 15"/>
          <p:cNvSpPr/>
          <p:nvPr/>
        </p:nvSpPr>
        <p:spPr>
          <a:xfrm>
            <a:off x="8966200" y="2397621"/>
            <a:ext cx="23284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5F1"/>
                </a:solidFill>
                <a:latin typeface="Be Vietnam Pro" pitchFamily="34" charset="0"/>
                <a:ea typeface="Be Vietnam Pro" pitchFamily="34" charset="-122"/>
                <a:cs typeface="Be Vietnam Pro" pitchFamily="34" charset="-120"/>
              </a:rPr>
              <a:t>Hiệu suất hoạt động</a:t>
            </a:r>
            <a:endParaRPr lang="en-US" sz="1500" dirty="0"/>
          </a:p>
        </p:txBody>
      </p:sp>
      <p:sp>
        <p:nvSpPr>
          <p:cNvPr id="19" name="Text 16"/>
          <p:cNvSpPr/>
          <p:nvPr/>
        </p:nvSpPr>
        <p:spPr>
          <a:xfrm>
            <a:off x="8966200" y="2677021"/>
            <a:ext cx="2328418"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Be Vietnam Pro" pitchFamily="34" charset="0"/>
                <a:ea typeface="Be Vietnam Pro" pitchFamily="34" charset="-122"/>
                <a:cs typeface="Be Vietnam Pro" pitchFamily="34" charset="-120"/>
              </a:rPr>
              <a:t>Bảng điều hành, chỉ tiêu, KPI, thi đua</a:t>
            </a:r>
            <a:endParaRPr lang="en-US" sz="1200" dirty="0"/>
          </a:p>
        </p:txBody>
      </p:sp>
      <p:sp>
        <p:nvSpPr>
          <p:cNvPr id="20" name="Text 17"/>
          <p:cNvSpPr/>
          <p:nvPr/>
        </p:nvSpPr>
        <p:spPr>
          <a:xfrm>
            <a:off x="812800" y="3329682"/>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540F"/>
                </a:solidFill>
                <a:latin typeface="Be Vietnam Pro" pitchFamily="34" charset="0"/>
                <a:ea typeface="Be Vietnam Pro" pitchFamily="34" charset="-122"/>
                <a:cs typeface="Be Vietnam Pro" pitchFamily="34" charset="-120"/>
              </a:rPr>
              <a:t>Module đề xuất bổ sung</a:t>
            </a:r>
            <a:endParaRPr lang="en-US" sz="1200" dirty="0"/>
          </a:p>
        </p:txBody>
      </p:sp>
      <p:sp>
        <p:nvSpPr>
          <p:cNvPr id="21" name="Shape 18"/>
          <p:cNvSpPr/>
          <p:nvPr/>
        </p:nvSpPr>
        <p:spPr>
          <a:xfrm>
            <a:off x="819150" y="3650952"/>
            <a:ext cx="2552700" cy="982861"/>
          </a:xfrm>
          <a:prstGeom prst="roundRect">
            <a:avLst>
              <a:gd name="adj" fmla="val 7107"/>
            </a:avLst>
          </a:prstGeom>
          <a:solidFill>
            <a:srgbClr val="FBF1E6"/>
          </a:solidFill>
          <a:ln w="12700">
            <a:solidFill>
              <a:srgbClr val="A8540F"/>
            </a:solidFill>
            <a:prstDash val="dash"/>
          </a:ln>
        </p:spPr>
      </p:sp>
      <p:sp>
        <p:nvSpPr>
          <p:cNvPr id="22" name="Text 19"/>
          <p:cNvSpPr/>
          <p:nvPr/>
        </p:nvSpPr>
        <p:spPr>
          <a:xfrm>
            <a:off x="977900" y="3797002"/>
            <a:ext cx="23022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F"/>
                </a:solidFill>
                <a:latin typeface="Be Vietnam Pro" pitchFamily="34" charset="0"/>
                <a:ea typeface="Be Vietnam Pro" pitchFamily="34" charset="-122"/>
                <a:cs typeface="Be Vietnam Pro" pitchFamily="34" charset="-120"/>
              </a:rPr>
              <a:t>Chiến dịch</a:t>
            </a:r>
            <a:endParaRPr lang="en-US" sz="1500" dirty="0"/>
          </a:p>
        </p:txBody>
      </p:sp>
      <p:sp>
        <p:nvSpPr>
          <p:cNvPr id="23" name="Text 20"/>
          <p:cNvSpPr/>
          <p:nvPr/>
        </p:nvSpPr>
        <p:spPr>
          <a:xfrm>
            <a:off x="977900" y="4076402"/>
            <a:ext cx="2302256"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Be Vietnam Pro" pitchFamily="34" charset="0"/>
                <a:ea typeface="Be Vietnam Pro" pitchFamily="34" charset="-122"/>
                <a:cs typeface="Be Vietnam Pro" pitchFamily="34" charset="-120"/>
              </a:rPr>
              <a:t>Hội sở giao khách hàng mục tiêu cho RM</a:t>
            </a:r>
            <a:endParaRPr lang="en-US" sz="1200" dirty="0"/>
          </a:p>
        </p:txBody>
      </p:sp>
      <p:sp>
        <p:nvSpPr>
          <p:cNvPr id="24" name="Shape 21"/>
          <p:cNvSpPr/>
          <p:nvPr/>
        </p:nvSpPr>
        <p:spPr>
          <a:xfrm>
            <a:off x="3486150" y="3650952"/>
            <a:ext cx="2552700" cy="982861"/>
          </a:xfrm>
          <a:prstGeom prst="roundRect">
            <a:avLst>
              <a:gd name="adj" fmla="val 7107"/>
            </a:avLst>
          </a:prstGeom>
          <a:solidFill>
            <a:srgbClr val="FBF1E6"/>
          </a:solidFill>
          <a:ln w="12700">
            <a:solidFill>
              <a:srgbClr val="A8540F"/>
            </a:solidFill>
            <a:prstDash val="dash"/>
          </a:ln>
        </p:spPr>
      </p:sp>
      <p:sp>
        <p:nvSpPr>
          <p:cNvPr id="25" name="Text 22"/>
          <p:cNvSpPr/>
          <p:nvPr/>
        </p:nvSpPr>
        <p:spPr>
          <a:xfrm>
            <a:off x="3644900" y="3797002"/>
            <a:ext cx="23022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F"/>
                </a:solidFill>
                <a:latin typeface="Be Vietnam Pro" pitchFamily="34" charset="0"/>
                <a:ea typeface="Be Vietnam Pro" pitchFamily="34" charset="-122"/>
                <a:cs typeface="Be Vietnam Pro" pitchFamily="34" charset="-120"/>
              </a:rPr>
              <a:t>Định giá và đề xuất</a:t>
            </a:r>
            <a:endParaRPr lang="en-US" sz="1500" dirty="0"/>
          </a:p>
        </p:txBody>
      </p:sp>
      <p:sp>
        <p:nvSpPr>
          <p:cNvPr id="26" name="Text 23"/>
          <p:cNvSpPr/>
          <p:nvPr/>
        </p:nvSpPr>
        <p:spPr>
          <a:xfrm>
            <a:off x="3644900" y="4076402"/>
            <a:ext cx="2302256"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Be Vietnam Pro" pitchFamily="34" charset="0"/>
                <a:ea typeface="Be Vietnam Pro" pitchFamily="34" charset="-122"/>
                <a:cs typeface="Be Vietnam Pro" pitchFamily="34" charset="-120"/>
              </a:rPr>
              <a:t>Tính giá, duyệt ưu đãi, soạn đề xuất</a:t>
            </a:r>
            <a:endParaRPr lang="en-US" sz="1200" dirty="0"/>
          </a:p>
        </p:txBody>
      </p:sp>
      <p:sp>
        <p:nvSpPr>
          <p:cNvPr id="27" name="Shape 24"/>
          <p:cNvSpPr/>
          <p:nvPr/>
        </p:nvSpPr>
        <p:spPr>
          <a:xfrm>
            <a:off x="6153150" y="3650952"/>
            <a:ext cx="2552700" cy="982861"/>
          </a:xfrm>
          <a:prstGeom prst="roundRect">
            <a:avLst>
              <a:gd name="adj" fmla="val 7107"/>
            </a:avLst>
          </a:prstGeom>
          <a:solidFill>
            <a:srgbClr val="FBF1E6"/>
          </a:solidFill>
          <a:ln w="12700">
            <a:solidFill>
              <a:srgbClr val="A8540F"/>
            </a:solidFill>
            <a:prstDash val="dash"/>
          </a:ln>
        </p:spPr>
      </p:sp>
      <p:sp>
        <p:nvSpPr>
          <p:cNvPr id="28" name="Text 25"/>
          <p:cNvSpPr/>
          <p:nvPr/>
        </p:nvSpPr>
        <p:spPr>
          <a:xfrm>
            <a:off x="6311900" y="3797002"/>
            <a:ext cx="23022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F"/>
                </a:solidFill>
                <a:latin typeface="Be Vietnam Pro" pitchFamily="34" charset="0"/>
                <a:ea typeface="Be Vietnam Pro" pitchFamily="34" charset="-122"/>
                <a:cs typeface="Be Vietnam Pro" pitchFamily="34" charset="-120"/>
              </a:rPr>
              <a:t>Dịch vụ khách hàng</a:t>
            </a:r>
            <a:endParaRPr lang="en-US" sz="1500" dirty="0"/>
          </a:p>
        </p:txBody>
      </p:sp>
      <p:sp>
        <p:nvSpPr>
          <p:cNvPr id="29" name="Text 26"/>
          <p:cNvSpPr/>
          <p:nvPr/>
        </p:nvSpPr>
        <p:spPr>
          <a:xfrm>
            <a:off x="6311900" y="4076402"/>
            <a:ext cx="2302256"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Be Vietnam Pro" pitchFamily="34" charset="0"/>
                <a:ea typeface="Be Vietnam Pro" pitchFamily="34" charset="-122"/>
                <a:cs typeface="Be Vietnam Pro" pitchFamily="34" charset="-120"/>
              </a:rPr>
              <a:t>Yêu cầu, khiếu nại, thời hạn xử lý</a:t>
            </a:r>
            <a:endParaRPr lang="en-US" sz="1200" dirty="0"/>
          </a:p>
        </p:txBody>
      </p:sp>
      <p:sp>
        <p:nvSpPr>
          <p:cNvPr id="30" name="Shape 27"/>
          <p:cNvSpPr/>
          <p:nvPr/>
        </p:nvSpPr>
        <p:spPr>
          <a:xfrm>
            <a:off x="8820150" y="3650952"/>
            <a:ext cx="2552700" cy="982861"/>
          </a:xfrm>
          <a:prstGeom prst="roundRect">
            <a:avLst>
              <a:gd name="adj" fmla="val 7107"/>
            </a:avLst>
          </a:prstGeom>
          <a:solidFill>
            <a:srgbClr val="FBF1E6"/>
          </a:solidFill>
          <a:ln w="12700">
            <a:solidFill>
              <a:srgbClr val="A8540F"/>
            </a:solidFill>
            <a:prstDash val="dash"/>
          </a:ln>
        </p:spPr>
      </p:sp>
      <p:sp>
        <p:nvSpPr>
          <p:cNvPr id="31" name="Text 28"/>
          <p:cNvSpPr/>
          <p:nvPr/>
        </p:nvSpPr>
        <p:spPr>
          <a:xfrm>
            <a:off x="8978900" y="3797002"/>
            <a:ext cx="23022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F"/>
                </a:solidFill>
                <a:latin typeface="Be Vietnam Pro" pitchFamily="34" charset="0"/>
                <a:ea typeface="Be Vietnam Pro" pitchFamily="34" charset="-122"/>
                <a:cs typeface="Be Vietnam Pro" pitchFamily="34" charset="-120"/>
              </a:rPr>
              <a:t>Cảnh báo sớm</a:t>
            </a:r>
            <a:endParaRPr lang="en-US" sz="1500" dirty="0"/>
          </a:p>
        </p:txBody>
      </p:sp>
      <p:sp>
        <p:nvSpPr>
          <p:cNvPr id="32" name="Text 29"/>
          <p:cNvSpPr/>
          <p:nvPr/>
        </p:nvSpPr>
        <p:spPr>
          <a:xfrm>
            <a:off x="8978900" y="4076402"/>
            <a:ext cx="2302256"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Be Vietnam Pro" pitchFamily="34" charset="0"/>
                <a:ea typeface="Be Vietnam Pro" pitchFamily="34" charset="-122"/>
                <a:cs typeface="Be Vietnam Pro" pitchFamily="34" charset="-120"/>
              </a:rPr>
              <a:t>Tín hiệu rủi ro khách hàng, danh sách theo dõi</a:t>
            </a:r>
            <a:endParaRPr lang="en-US" sz="1200" dirty="0"/>
          </a:p>
        </p:txBody>
      </p:sp>
      <p:sp>
        <p:nvSpPr>
          <p:cNvPr id="33" name="Shape 30"/>
          <p:cNvSpPr/>
          <p:nvPr/>
        </p:nvSpPr>
        <p:spPr>
          <a:xfrm>
            <a:off x="812800" y="4741763"/>
            <a:ext cx="10566400" cy="406400"/>
          </a:xfrm>
          <a:prstGeom prst="roundRect">
            <a:avLst>
              <a:gd name="adj" fmla="val 18750"/>
            </a:avLst>
          </a:prstGeom>
          <a:solidFill>
            <a:srgbClr val="E1E4EA"/>
          </a:solidFill>
          <a:ln/>
        </p:spPr>
      </p:sp>
      <p:pic>
        <p:nvPicPr>
          <p:cNvPr id="34" name="Image 1" descr="Database"/>
          <p:cNvPicPr>
            <a:picLocks noChangeAspect="1"/>
          </p:cNvPicPr>
          <p:nvPr/>
        </p:nvPicPr>
        <p:blipFill>
          <a:blip r:embed="rId4"/>
          <a:srcRect/>
          <a:stretch/>
        </p:blipFill>
        <p:spPr>
          <a:xfrm>
            <a:off x="965200" y="4830663"/>
            <a:ext cx="228600" cy="228600"/>
          </a:xfrm>
          <a:prstGeom prst="rect">
            <a:avLst/>
          </a:prstGeom>
        </p:spPr>
      </p:pic>
      <p:sp>
        <p:nvSpPr>
          <p:cNvPr id="35" name="Text 31"/>
          <p:cNvSpPr/>
          <p:nvPr/>
        </p:nvSpPr>
        <p:spPr>
          <a:xfrm>
            <a:off x="1295400" y="4838303"/>
            <a:ext cx="891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Nền tảng dữ liệu và tích hợp</a:t>
            </a:r>
            <a:r>
              <a:rPr lang="en-US" sz="1200" dirty="0">
                <a:solidFill>
                  <a:srgbClr val="13233F"/>
                </a:solidFill>
                <a:latin typeface="Be Vietnam Pro" pitchFamily="34" charset="0"/>
                <a:ea typeface="Be Vietnam Pro" pitchFamily="34" charset="-122"/>
                <a:cs typeface="Be Vietnam Pro" pitchFamily="34" charset="-120"/>
              </a:rPr>
              <a:t> · hồ sơ gốc duy nhất · hệ thống lõi, hệ thống tín dụng, kho dữ liệu · lớp kết nối chuẩn (API)</a:t>
            </a:r>
            <a:endParaRPr lang="en-US" sz="1200" dirty="0"/>
          </a:p>
        </p:txBody>
      </p:sp>
      <p:sp>
        <p:nvSpPr>
          <p:cNvPr id="36" name="Text 3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08  ·  Mỗi tính năng có mã theo module, ví dụ KH1 thuộc Quản lý khách hàng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796822" y="78058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BẢN ĐỒ TÍNH NĂNG</a:t>
            </a:r>
            <a:endParaRPr lang="en-US" sz="1200" dirty="0"/>
          </a:p>
        </p:txBody>
      </p:sp>
      <p:sp>
        <p:nvSpPr>
          <p:cNvPr id="3" name="Text 1"/>
          <p:cNvSpPr/>
          <p:nvPr/>
        </p:nvSpPr>
        <p:spPr>
          <a:xfrm>
            <a:off x="796822" y="1050857"/>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Ngắn hạn tập trung 4 module cốt lõi</a:t>
            </a:r>
            <a:endParaRPr lang="en-US" sz="2800" dirty="0"/>
          </a:p>
        </p:txBody>
      </p:sp>
      <p:sp>
        <p:nvSpPr>
          <p:cNvPr id="4" name="Shape 2"/>
          <p:cNvSpPr/>
          <p:nvPr/>
        </p:nvSpPr>
        <p:spPr>
          <a:xfrm>
            <a:off x="667416" y="1637538"/>
            <a:ext cx="10695806" cy="3876006"/>
          </a:xfrm>
          <a:prstGeom prst="roundRect">
            <a:avLst>
              <a:gd name="adj" fmla="val 2016"/>
            </a:avLst>
          </a:prstGeom>
          <a:solidFill>
            <a:srgbClr val="FDFDFB"/>
          </a:solidFill>
          <a:ln/>
        </p:spPr>
      </p:sp>
      <p:sp>
        <p:nvSpPr>
          <p:cNvPr id="5" name="Shape 3"/>
          <p:cNvSpPr/>
          <p:nvPr/>
        </p:nvSpPr>
        <p:spPr>
          <a:xfrm>
            <a:off x="796822" y="1637538"/>
            <a:ext cx="10566400" cy="3779242"/>
          </a:xfrm>
          <a:custGeom>
            <a:avLst/>
            <a:gdLst/>
            <a:ahLst/>
            <a:cxnLst/>
            <a:rect l="l" t="t" r="r" b="b"/>
            <a:pathLst>
              <a:path w="10566400" h="3779242">
                <a:moveTo>
                  <a:pt x="10490200" y="0"/>
                </a:moveTo>
                <a:lnTo>
                  <a:pt x="10490200" y="0"/>
                </a:lnTo>
                <a:arcTo wR="76200" hR="76200" stAng="16200000" swAng="5400000"/>
                <a:lnTo>
                  <a:pt x="10566400" y="3703042"/>
                </a:lnTo>
                <a:arcTo wR="76200" hR="76200" stAng="0" swAng="5400000"/>
                <a:lnTo>
                  <a:pt x="76200" y="3779242"/>
                </a:lnTo>
                <a:arcTo wR="76200" hR="76200" stAng="5400000" swAng="5400000"/>
                <a:lnTo>
                  <a:pt x="0" y="3703042"/>
                </a:lnTo>
                <a:arcTo wR="76200" hR="69850" stAng="10800000" swAng="-5400000"/>
                <a:lnTo>
                  <a:pt x="10490200" y="3772892"/>
                </a:lnTo>
                <a:arcTo wR="69850" hR="69850" stAng="5400000" swAng="-5400000"/>
                <a:lnTo>
                  <a:pt x="10560050" y="76200"/>
                </a:lnTo>
                <a:arcTo wR="69850" hR="76200" stAng="0" swAng="-5400000"/>
                <a:close/>
              </a:path>
            </a:pathLst>
          </a:custGeom>
          <a:solidFill>
            <a:srgbClr val="DEDBD2"/>
          </a:solidFill>
          <a:ln/>
        </p:spPr>
      </p:sp>
      <p:sp>
        <p:nvSpPr>
          <p:cNvPr id="6" name="Shape 4"/>
          <p:cNvSpPr/>
          <p:nvPr/>
        </p:nvSpPr>
        <p:spPr>
          <a:xfrm>
            <a:off x="796822" y="1637538"/>
            <a:ext cx="10566400" cy="3779242"/>
          </a:xfrm>
          <a:custGeom>
            <a:avLst/>
            <a:gdLst/>
            <a:ahLst/>
            <a:cxnLst/>
            <a:rect l="l" t="t" r="r" b="b"/>
            <a:pathLst>
              <a:path w="10566400" h="3779242">
                <a:moveTo>
                  <a:pt x="76200" y="3779242"/>
                </a:moveTo>
                <a:lnTo>
                  <a:pt x="76200" y="3779242"/>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3703042"/>
                </a:lnTo>
                <a:arcTo wR="6350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07222185"/>
              </p:ext>
            </p:extLst>
          </p:nvPr>
        </p:nvGraphicFramePr>
        <p:xfrm>
          <a:off x="863194" y="1713737"/>
          <a:ext cx="10369551" cy="3723608"/>
        </p:xfrm>
        <a:graphic>
          <a:graphicData uri="http://schemas.openxmlformats.org/drawingml/2006/table">
            <a:tbl>
              <a:tblPr/>
              <a:tblGrid>
                <a:gridCol w="1970215">
                  <a:extLst>
                    <a:ext uri="{9D8B030D-6E8A-4147-A177-3AD203B41FA5}">
                      <a16:colId xmlns:a16="http://schemas.microsoft.com/office/drawing/2014/main" val="20000"/>
                    </a:ext>
                  </a:extLst>
                </a:gridCol>
                <a:gridCol w="3110865">
                  <a:extLst>
                    <a:ext uri="{9D8B030D-6E8A-4147-A177-3AD203B41FA5}">
                      <a16:colId xmlns:a16="http://schemas.microsoft.com/office/drawing/2014/main" val="20001"/>
                    </a:ext>
                  </a:extLst>
                </a:gridCol>
                <a:gridCol w="3110865">
                  <a:extLst>
                    <a:ext uri="{9D8B030D-6E8A-4147-A177-3AD203B41FA5}">
                      <a16:colId xmlns:a16="http://schemas.microsoft.com/office/drawing/2014/main" val="20002"/>
                    </a:ext>
                  </a:extLst>
                </a:gridCol>
                <a:gridCol w="2177606">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F6F5F1"/>
                          </a:solidFill>
                          <a:latin typeface="Be Vietnam Pro"/>
                          <a:ea typeface="Be Vietnam Pro" pitchFamily="34" charset="-122"/>
                          <a:cs typeface="Be Vietnam Pro" pitchFamily="34" charset="-120"/>
                        </a:rPr>
                        <a:t>Module</a:t>
                      </a:r>
                      <a:endParaRPr lang="en-US" sz="1200" dirty="0">
                        <a:latin typeface="Be Vietnam Pro"/>
                        <a:ea typeface="Be Vietnam Pro" charset="0"/>
                        <a:cs typeface="Be Vietnam Pro" charset="0"/>
                      </a:endParaRPr>
                    </a:p>
                  </a:txBody>
                  <a:tcPr marL="53340" marR="53340" marT="53340" marB="53340">
                    <a:lnL w="0" cap="flat" cmpd="sng" algn="ctr">
                      <a:noFill/>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a:ea typeface="Be Vietnam Pro" pitchFamily="34" charset="-122"/>
                          <a:cs typeface="Be Vietnam Pro" pitchFamily="34" charset="-120"/>
                        </a:rPr>
                        <a:t>Ưu tiên 1 · Ngắn hạn</a:t>
                      </a:r>
                      <a:endParaRPr lang="en-US" sz="1200" dirty="0">
                        <a:latin typeface="Be Vietnam Pro"/>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a:ea typeface="Be Vietnam Pro" pitchFamily="34" charset="-122"/>
                          <a:cs typeface="Be Vietnam Pro" pitchFamily="34" charset="-120"/>
                        </a:rPr>
                        <a:t>Ưu tiên 2 · Trung hạn</a:t>
                      </a:r>
                      <a:endParaRPr lang="en-US" sz="1200" dirty="0">
                        <a:latin typeface="Be Vietnam Pro"/>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a:ea typeface="Be Vietnam Pro" pitchFamily="34" charset="-122"/>
                          <a:cs typeface="Be Vietnam Pro" pitchFamily="34" charset="-120"/>
                        </a:rPr>
                        <a:t>Ưu tiên 3 · Dài hạn</a:t>
                      </a:r>
                      <a:endParaRPr lang="en-US" sz="1200" dirty="0">
                        <a:latin typeface="Be Vietnam Pro"/>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13233F"/>
                          </a:solidFill>
                          <a:latin typeface="Be Vietnam Pro"/>
                          <a:ea typeface="Be Vietnam Pro" pitchFamily="34" charset="-122"/>
                          <a:cs typeface="Be Vietnam Pro" pitchFamily="34" charset="-120"/>
                        </a:rPr>
                        <a:t>Quản </a:t>
                      </a:r>
                      <a:r>
                        <a:rPr lang="en-US" sz="1200" dirty="0" err="1">
                          <a:solidFill>
                            <a:srgbClr val="13233F"/>
                          </a:solidFill>
                          <a:latin typeface="Be Vietnam Pro"/>
                          <a:ea typeface="Be Vietnam Pro" pitchFamily="34" charset="-122"/>
                          <a:cs typeface="Be Vietnam Pro" pitchFamily="34" charset="-120"/>
                        </a:rPr>
                        <a:t>lý</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khác</a:t>
                      </a:r>
                      <a:r>
                        <a:rPr lang="vi-VN" sz="1200" dirty="0">
                          <a:solidFill>
                            <a:srgbClr val="13233F"/>
                          </a:solidFill>
                          <a:latin typeface="Be Vietnam Pro"/>
                          <a:ea typeface="Be Vietnam Pro" pitchFamily="34" charset="-122"/>
                          <a:cs typeface="Be Vietnam Pro" pitchFamily="34" charset="-120"/>
                        </a:rPr>
                        <a:t>h hàng</a:t>
                      </a:r>
                      <a:endParaRPr lang="en-US" sz="1200" b="0" kern="1200" dirty="0">
                        <a:solidFill>
                          <a:srgbClr val="F6F5F1"/>
                        </a:solidFill>
                        <a:latin typeface="Be Vietnam Pro"/>
                        <a:ea typeface="Be Vietnam Pro" pitchFamily="34" charset="-122"/>
                        <a:cs typeface="Be Vietnam Pro" charset="0"/>
                      </a:endParaRPr>
                    </a:p>
                  </a:txBody>
                  <a:tcPr marL="53340" marR="53340" marT="53340" marB="53340">
                    <a:lnL w="0" cap="flat" cmpd="sng" algn="ctr">
                      <a:noFill/>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171450" indent="-171450">
                        <a:lnSpc>
                          <a:spcPts val="1680"/>
                        </a:lnSpc>
                        <a:buFont typeface="Arial" panose="020B0604020202020204" pitchFamily="34" charset="0"/>
                        <a:buChar char="•"/>
                      </a:pPr>
                      <a:r>
                        <a:rPr lang="vi-VN" sz="1200" dirty="0">
                          <a:solidFill>
                            <a:srgbClr val="13233F"/>
                          </a:solidFill>
                          <a:latin typeface="Be Vietnam Pro" pitchFamily="34" charset="0"/>
                          <a:ea typeface="Be Vietnam Pro" pitchFamily="34" charset="-122"/>
                          <a:cs typeface="Be Vietnam Pro" pitchFamily="34" charset="-120"/>
                        </a:rPr>
                        <a:t>Hồ sơ 360</a:t>
                      </a:r>
                    </a:p>
                    <a:p>
                      <a:pPr marL="171450" indent="-171450">
                        <a:lnSpc>
                          <a:spcPts val="1680"/>
                        </a:lnSpc>
                        <a:buFont typeface="Arial" panose="020B0604020202020204" pitchFamily="34" charset="0"/>
                        <a:buChar char="•"/>
                      </a:pPr>
                      <a:r>
                        <a:rPr lang="vi-VN" sz="1200" dirty="0">
                          <a:solidFill>
                            <a:srgbClr val="13233F"/>
                          </a:solidFill>
                          <a:latin typeface="Be Vietnam Pro" pitchFamily="34" charset="0"/>
                          <a:ea typeface="Be Vietnam Pro" pitchFamily="34" charset="-122"/>
                          <a:cs typeface="Be Vietnam Pro" pitchFamily="34" charset="-120"/>
                        </a:rPr>
                        <a:t>Hồ sơ gốc</a:t>
                      </a:r>
                    </a:p>
                    <a:p>
                      <a:pPr marL="171450" indent="-171450">
                        <a:lnSpc>
                          <a:spcPts val="1680"/>
                        </a:lnSpc>
                        <a:buFont typeface="Arial" panose="020B0604020202020204" pitchFamily="34" charset="0"/>
                        <a:buChar char="•"/>
                      </a:pPr>
                      <a:r>
                        <a:rPr lang="vi-VN" sz="1200" dirty="0">
                          <a:solidFill>
                            <a:srgbClr val="13233F"/>
                          </a:solidFill>
                          <a:latin typeface="Be Vietnam Pro" pitchFamily="34" charset="0"/>
                          <a:ea typeface="Be Vietnam Pro" pitchFamily="34" charset="-122"/>
                          <a:cs typeface="Be Vietnam Pro" pitchFamily="34" charset="-120"/>
                        </a:rPr>
                        <a:t>Tự điền dữ liệu</a:t>
                      </a:r>
                    </a:p>
                    <a:p>
                      <a:pPr marL="171450" indent="-171450">
                        <a:lnSpc>
                          <a:spcPts val="1680"/>
                        </a:lnSpc>
                        <a:buFont typeface="Arial" panose="020B0604020202020204" pitchFamily="34" charset="0"/>
                        <a:buChar char="•"/>
                      </a:pPr>
                      <a:r>
                        <a:rPr lang="vi-VN" sz="1200" dirty="0">
                          <a:solidFill>
                            <a:srgbClr val="13233F"/>
                          </a:solidFill>
                          <a:latin typeface="Be Vietnam Pro" pitchFamily="34" charset="0"/>
                          <a:ea typeface="Be Vietnam Pro" pitchFamily="34" charset="-122"/>
                          <a:cs typeface="Be Vietnam Pro" pitchFamily="34" charset="-120"/>
                        </a:rPr>
                        <a:t>Chấm điểm dữ liệu</a:t>
                      </a:r>
                    </a:p>
                    <a:p>
                      <a:pPr marL="171450" indent="-171450">
                        <a:lnSpc>
                          <a:spcPts val="1680"/>
                        </a:lnSpc>
                        <a:buFont typeface="Arial" panose="020B0604020202020204" pitchFamily="34" charset="0"/>
                        <a:buChar char="•"/>
                      </a:pPr>
                      <a:r>
                        <a:rPr lang="vi-VN" sz="1200" dirty="0">
                          <a:solidFill>
                            <a:srgbClr val="13233F"/>
                          </a:solidFill>
                          <a:latin typeface="Be Vietnam Pro" pitchFamily="34" charset="0"/>
                          <a:ea typeface="Be Vietnam Pro" pitchFamily="34" charset="-122"/>
                          <a:cs typeface="Be Vietnam Pro" pitchFamily="34" charset="-120"/>
                        </a:rPr>
                        <a:t>Phân công chăm sóc KH</a:t>
                      </a: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171450" indent="-171450">
                        <a:lnSpc>
                          <a:spcPts val="1680"/>
                        </a:lnSpc>
                        <a:buFont typeface="Arial" panose="020B0604020202020204" pitchFamily="34" charset="0"/>
                        <a:buChar char="•"/>
                      </a:pPr>
                      <a:r>
                        <a:rPr lang="vi-VN" sz="1200" dirty="0">
                          <a:solidFill>
                            <a:srgbClr val="13233F"/>
                          </a:solidFill>
                          <a:latin typeface="Be Vietnam Pro" pitchFamily="34" charset="0"/>
                          <a:ea typeface="Be Vietnam Pro" pitchFamily="34" charset="-122"/>
                          <a:cs typeface="Be Vietnam Pro" pitchFamily="34" charset="-120"/>
                        </a:rPr>
                        <a:t>Segment</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kh</a:t>
                      </a:r>
                      <a:r>
                        <a:rPr lang="vi-VN" sz="1200" dirty="0">
                          <a:solidFill>
                            <a:srgbClr val="13233F"/>
                          </a:solidFill>
                          <a:latin typeface="Be Vietnam Pro"/>
                          <a:ea typeface="Be Vietnam Pro" pitchFamily="34" charset="-122"/>
                          <a:cs typeface="Be Vietnam Pro" pitchFamily="34" charset="-120"/>
                        </a:rPr>
                        <a:t>ách hàng</a:t>
                      </a:r>
                    </a:p>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AI tóm tắt</a:t>
                      </a:r>
                      <a:endParaRPr lang="en-US" sz="1200" dirty="0">
                        <a:latin typeface="Be Vietnam Pro"/>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Chuyển dữ liệu sang CRM mới</a:t>
                      </a:r>
                      <a:endParaRPr lang="en-US" sz="1200" dirty="0">
                        <a:latin typeface="Be Vietnam Pro"/>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13233F"/>
                          </a:solidFill>
                          <a:latin typeface="Be Vietnam Pro"/>
                          <a:ea typeface="Be Vietnam Pro" pitchFamily="34" charset="-122"/>
                          <a:cs typeface="Be Vietnam Pro" pitchFamily="34" charset="-120"/>
                        </a:rPr>
                        <a:t>Sales pipeline</a:t>
                      </a:r>
                      <a:endParaRPr lang="en-US" sz="1200" dirty="0">
                        <a:latin typeface="Be Vietnam Pro"/>
                        <a:ea typeface="Be Vietnam Pro" charset="0"/>
                        <a:cs typeface="Be Vietnam Pro" charset="0"/>
                      </a:endParaRPr>
                    </a:p>
                  </a:txBody>
                  <a:tcPr marL="53340" marR="53340" marT="53340" marB="53340">
                    <a:lnL w="0" cap="flat" cmpd="sng" algn="ctr">
                      <a:noFill/>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171450" indent="-171450">
                        <a:lnSpc>
                          <a:spcPts val="1680"/>
                        </a:lnSpc>
                        <a:buFont typeface="Arial" panose="020B0604020202020204" pitchFamily="34" charset="0"/>
                        <a:buChar char="•"/>
                      </a:pPr>
                      <a:r>
                        <a:rPr lang="en-US" sz="1200" dirty="0" err="1">
                          <a:solidFill>
                            <a:srgbClr val="13233F"/>
                          </a:solidFill>
                          <a:latin typeface="Be Vietnam Pro"/>
                          <a:ea typeface="Be Vietnam Pro" pitchFamily="34" charset="-122"/>
                          <a:cs typeface="Be Vietnam Pro" pitchFamily="34" charset="-120"/>
                        </a:rPr>
                        <a:t>Giai</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đoạn</a:t>
                      </a:r>
                      <a:r>
                        <a:rPr lang="vi-VN" sz="1200" dirty="0">
                          <a:solidFill>
                            <a:srgbClr val="13233F"/>
                          </a:solidFill>
                          <a:latin typeface="Be Vietnam Pro" pitchFamily="34" charset="0"/>
                          <a:ea typeface="Be Vietnam Pro" pitchFamily="34" charset="-122"/>
                          <a:cs typeface="Be Vietnam Pro" pitchFamily="34" charset="-120"/>
                        </a:rPr>
                        <a:t> bán hàng chuẩn</a:t>
                      </a:r>
                    </a:p>
                    <a:p>
                      <a:pPr marL="171450" indent="-171450">
                        <a:lnSpc>
                          <a:spcPts val="1680"/>
                        </a:lnSpc>
                        <a:buFont typeface="Arial" panose="020B0604020202020204" pitchFamily="34" charset="0"/>
                        <a:buChar char="•"/>
                      </a:pPr>
                      <a:r>
                        <a:rPr lang="vi-VN" sz="1200" dirty="0">
                          <a:solidFill>
                            <a:srgbClr val="13233F"/>
                          </a:solidFill>
                          <a:latin typeface="Be Vietnam Pro" pitchFamily="34" charset="0"/>
                          <a:ea typeface="Be Vietnam Pro" pitchFamily="34" charset="-122"/>
                          <a:cs typeface="Be Vietnam Pro" pitchFamily="34" charset="-120"/>
                        </a:rPr>
                        <a:t>Biên bản gặp khách hàng</a:t>
                      </a:r>
                    </a:p>
                    <a:p>
                      <a:pPr marL="171450" indent="-171450">
                        <a:lnSpc>
                          <a:spcPts val="1680"/>
                        </a:lnSpc>
                        <a:buFont typeface="Arial" panose="020B0604020202020204" pitchFamily="34" charset="0"/>
                        <a:buChar char="•"/>
                      </a:pPr>
                      <a:r>
                        <a:rPr lang="vi-VN" sz="1200" dirty="0">
                          <a:solidFill>
                            <a:srgbClr val="13233F"/>
                          </a:solidFill>
                          <a:latin typeface="Be Vietnam Pro"/>
                          <a:ea typeface="Be Vietnam Pro" pitchFamily="34" charset="-122"/>
                          <a:cs typeface="Be Vietnam Pro" pitchFamily="34" charset="-120"/>
                        </a:rPr>
                        <a:t>Lấy </a:t>
                      </a:r>
                      <a:r>
                        <a:rPr lang="en-US" sz="1200" dirty="0" err="1">
                          <a:solidFill>
                            <a:srgbClr val="13233F"/>
                          </a:solidFill>
                          <a:latin typeface="Be Vietnam Pro"/>
                          <a:ea typeface="Be Vietnam Pro" pitchFamily="34" charset="-122"/>
                          <a:cs typeface="Be Vietnam Pro" pitchFamily="34" charset="-120"/>
                        </a:rPr>
                        <a:t>kết</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quả</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phê</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duyệt</a:t>
                      </a:r>
                      <a:endParaRPr lang="en-US" sz="1200" dirty="0">
                        <a:latin typeface="Be Vietnam Pro"/>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Cẩm nang </a:t>
                      </a:r>
                      <a:r>
                        <a:rPr lang="en-US" sz="1200" dirty="0" err="1">
                          <a:solidFill>
                            <a:srgbClr val="13233F"/>
                          </a:solidFill>
                          <a:latin typeface="Be Vietnam Pro"/>
                          <a:ea typeface="Be Vietnam Pro" pitchFamily="34" charset="-122"/>
                          <a:cs typeface="Be Vietnam Pro" pitchFamily="34" charset="-120"/>
                        </a:rPr>
                        <a:t>bán</a:t>
                      </a:r>
                      <a:r>
                        <a:rPr lang="en-US" sz="1200" dirty="0">
                          <a:solidFill>
                            <a:srgbClr val="13233F"/>
                          </a:solidFill>
                          <a:latin typeface="Be Vietnam Pro"/>
                          <a:ea typeface="Be Vietnam Pro" pitchFamily="34" charset="-122"/>
                          <a:cs typeface="Be Vietnam Pro" pitchFamily="34" charset="-120"/>
                        </a:rPr>
                        <a:t> h</a:t>
                      </a:r>
                      <a:r>
                        <a:rPr lang="vi-VN" sz="1200" dirty="0">
                          <a:solidFill>
                            <a:srgbClr val="13233F"/>
                          </a:solidFill>
                          <a:latin typeface="Be Vietnam Pro"/>
                          <a:ea typeface="Be Vietnam Pro" pitchFamily="34" charset="-122"/>
                          <a:cs typeface="Be Vietnam Pro" pitchFamily="34" charset="-120"/>
                        </a:rPr>
                        <a:t>àng</a:t>
                      </a:r>
                    </a:p>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AI </a:t>
                      </a:r>
                      <a:r>
                        <a:rPr lang="en-US" sz="1200" dirty="0" err="1">
                          <a:solidFill>
                            <a:srgbClr val="13233F"/>
                          </a:solidFill>
                          <a:latin typeface="Be Vietnam Pro"/>
                          <a:ea typeface="Be Vietnam Pro" pitchFamily="34" charset="-122"/>
                          <a:cs typeface="Be Vietnam Pro" pitchFamily="34" charset="-120"/>
                        </a:rPr>
                        <a:t>biên</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bản</a:t>
                      </a:r>
                      <a:endParaRPr lang="vi-VN" sz="1200" dirty="0">
                        <a:solidFill>
                          <a:srgbClr val="13233F"/>
                        </a:solidFill>
                        <a:latin typeface="Be Vietnam Pro"/>
                        <a:ea typeface="Be Vietnam Pro" pitchFamily="34" charset="-122"/>
                        <a:cs typeface="Be Vietnam Pro" pitchFamily="34" charset="-120"/>
                      </a:endParaRPr>
                    </a:p>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AI chấm điểm</a:t>
                      </a:r>
                      <a:endParaRPr lang="en-US" sz="1200" dirty="0">
                        <a:latin typeface="Be Vietnam Pro"/>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AI dự báo doanh số</a:t>
                      </a:r>
                      <a:endParaRPr lang="en-US" sz="1200" dirty="0">
                        <a:latin typeface="Be Vietnam Pro"/>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3233F"/>
                          </a:solidFill>
                          <a:latin typeface="Be Vietnam Pro"/>
                          <a:ea typeface="Be Vietnam Pro" pitchFamily="34" charset="-122"/>
                          <a:cs typeface="Be Vietnam Pro" pitchFamily="34" charset="-120"/>
                        </a:rPr>
                        <a:t>Giao dịch</a:t>
                      </a:r>
                      <a:endParaRPr lang="en-US" sz="1200" dirty="0">
                        <a:latin typeface="Be Vietnam Pro"/>
                        <a:ea typeface="Be Vietnam Pro" charset="0"/>
                        <a:cs typeface="Be Vietnam Pro" charset="0"/>
                      </a:endParaRPr>
                    </a:p>
                  </a:txBody>
                  <a:tcPr marL="53340" marR="53340" marT="53340" marB="53340">
                    <a:lnL w="0" cap="flat" cmpd="sng" algn="ctr">
                      <a:noFill/>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Tổng quan </a:t>
                      </a:r>
                      <a:r>
                        <a:rPr lang="en-US" sz="1200" dirty="0" err="1">
                          <a:solidFill>
                            <a:srgbClr val="13233F"/>
                          </a:solidFill>
                          <a:latin typeface="Be Vietnam Pro"/>
                          <a:ea typeface="Be Vietnam Pro" pitchFamily="34" charset="-122"/>
                          <a:cs typeface="Be Vietnam Pro" pitchFamily="34" charset="-120"/>
                        </a:rPr>
                        <a:t>giao</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dịch</a:t>
                      </a:r>
                      <a:endParaRPr lang="vi-VN" sz="1200" dirty="0">
                        <a:solidFill>
                          <a:srgbClr val="13233F"/>
                        </a:solidFill>
                        <a:latin typeface="Be Vietnam Pro"/>
                        <a:ea typeface="Be Vietnam Pro" pitchFamily="34" charset="-122"/>
                        <a:cs typeface="Be Vietnam Pro" pitchFamily="34" charset="-120"/>
                      </a:endParaRPr>
                    </a:p>
                    <a:p>
                      <a:pPr marL="171450" indent="-171450">
                        <a:lnSpc>
                          <a:spcPts val="1680"/>
                        </a:lnSpc>
                        <a:buFont typeface="Arial" panose="020B0604020202020204" pitchFamily="34" charset="0"/>
                        <a:buChar char="•"/>
                      </a:pPr>
                      <a:r>
                        <a:rPr lang="en-US" sz="1200" dirty="0" err="1">
                          <a:solidFill>
                            <a:srgbClr val="13233F"/>
                          </a:solidFill>
                          <a:latin typeface="Be Vietnam Pro"/>
                          <a:ea typeface="Be Vietnam Pro" pitchFamily="34" charset="-122"/>
                          <a:cs typeface="Be Vietnam Pro" pitchFamily="34" charset="-120"/>
                        </a:rPr>
                        <a:t>lịch</a:t>
                      </a:r>
                      <a:r>
                        <a:rPr lang="en-US" sz="1200" dirty="0">
                          <a:solidFill>
                            <a:srgbClr val="13233F"/>
                          </a:solidFill>
                          <a:latin typeface="Be Vietnam Pro"/>
                          <a:ea typeface="Be Vietnam Pro" pitchFamily="34" charset="-122"/>
                          <a:cs typeface="Be Vietnam Pro" pitchFamily="34" charset="-120"/>
                        </a:rPr>
                        <a:t> đáo hạn</a:t>
                      </a:r>
                      <a:endParaRPr lang="en-US" sz="1200" dirty="0">
                        <a:latin typeface="Be Vietnam Pro"/>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Cảnh báo </a:t>
                      </a:r>
                      <a:r>
                        <a:rPr lang="en-US" sz="1200" dirty="0" err="1">
                          <a:solidFill>
                            <a:srgbClr val="13233F"/>
                          </a:solidFill>
                          <a:latin typeface="Be Vietnam Pro"/>
                          <a:ea typeface="Be Vietnam Pro" pitchFamily="34" charset="-122"/>
                          <a:cs typeface="Be Vietnam Pro" pitchFamily="34" charset="-120"/>
                        </a:rPr>
                        <a:t>biến</a:t>
                      </a:r>
                      <a:r>
                        <a:rPr lang="en-US" sz="1200" dirty="0">
                          <a:solidFill>
                            <a:srgbClr val="13233F"/>
                          </a:solidFill>
                          <a:latin typeface="Be Vietnam Pro"/>
                          <a:ea typeface="Be Vietnam Pro" pitchFamily="34" charset="-122"/>
                          <a:cs typeface="Be Vietnam Pro" pitchFamily="34" charset="-120"/>
                        </a:rPr>
                        <a:t> đ</a:t>
                      </a:r>
                      <a:r>
                        <a:rPr lang="vi-VN" sz="1200" dirty="0">
                          <a:solidFill>
                            <a:srgbClr val="13233F"/>
                          </a:solidFill>
                          <a:latin typeface="Be Vietnam Pro"/>
                          <a:ea typeface="Be Vietnam Pro" pitchFamily="34" charset="-122"/>
                          <a:cs typeface="Be Vietnam Pro" pitchFamily="34" charset="-120"/>
                        </a:rPr>
                        <a:t>ộng</a:t>
                      </a:r>
                    </a:p>
                    <a:p>
                      <a:pPr marL="171450" indent="-171450">
                        <a:lnSpc>
                          <a:spcPts val="1680"/>
                        </a:lnSpc>
                        <a:buFont typeface="Arial" panose="020B0604020202020204" pitchFamily="34" charset="0"/>
                        <a:buChar char="•"/>
                      </a:pPr>
                      <a:r>
                        <a:rPr lang="vi-VN" sz="1200" dirty="0">
                          <a:solidFill>
                            <a:srgbClr val="13233F"/>
                          </a:solidFill>
                          <a:latin typeface="Be Vietnam Pro"/>
                          <a:ea typeface="Be Vietnam Pro" pitchFamily="34" charset="-122"/>
                          <a:cs typeface="Be Vietnam Pro" pitchFamily="34" charset="-120"/>
                        </a:rPr>
                        <a:t>T</a:t>
                      </a:r>
                      <a:r>
                        <a:rPr lang="en-US" sz="1200" dirty="0">
                          <a:solidFill>
                            <a:srgbClr val="13233F"/>
                          </a:solidFill>
                          <a:latin typeface="Be Vietnam Pro"/>
                          <a:ea typeface="Be Vietnam Pro" pitchFamily="34" charset="-122"/>
                          <a:cs typeface="Be Vietnam Pro" pitchFamily="34" charset="-120"/>
                        </a:rPr>
                        <a:t>hu </a:t>
                      </a:r>
                      <a:r>
                        <a:rPr lang="en-US" sz="1200" dirty="0" err="1">
                          <a:solidFill>
                            <a:srgbClr val="13233F"/>
                          </a:solidFill>
                          <a:latin typeface="Be Vietnam Pro"/>
                          <a:ea typeface="Be Vietnam Pro" pitchFamily="34" charset="-122"/>
                          <a:cs typeface="Be Vietnam Pro" pitchFamily="34" charset="-120"/>
                        </a:rPr>
                        <a:t>nhập</a:t>
                      </a:r>
                      <a:endParaRPr lang="vi-VN" sz="1200" dirty="0">
                        <a:solidFill>
                          <a:srgbClr val="13233F"/>
                        </a:solidFill>
                        <a:latin typeface="Be Vietnam Pro"/>
                        <a:ea typeface="Be Vietnam Pro" pitchFamily="34" charset="-122"/>
                        <a:cs typeface="Be Vietnam Pro" pitchFamily="34" charset="-120"/>
                      </a:endParaRPr>
                    </a:p>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AI gợi ý</a:t>
                      </a:r>
                      <a:endParaRPr lang="en-US" sz="1200" dirty="0">
                        <a:latin typeface="Be Vietnam Pro"/>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a:ea typeface="Be Vietnam Pro" pitchFamily="34" charset="-122"/>
                          <a:cs typeface="Be Vietnam Pro" pitchFamily="34" charset="-120"/>
                        </a:rPr>
                        <a:t>–</a:t>
                      </a:r>
                      <a:endParaRPr lang="en-US" sz="1200" dirty="0">
                        <a:latin typeface="Be Vietnam Pro"/>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3233F"/>
                          </a:solidFill>
                          <a:latin typeface="Be Vietnam Pro"/>
                          <a:ea typeface="Be Vietnam Pro" pitchFamily="34" charset="-122"/>
                          <a:cs typeface="Be Vietnam Pro" pitchFamily="34" charset="-120"/>
                        </a:rPr>
                        <a:t>Hiệu suất</a:t>
                      </a:r>
                      <a:endParaRPr lang="en-US" sz="1200" dirty="0">
                        <a:latin typeface="Be Vietnam Pro"/>
                        <a:ea typeface="Be Vietnam Pro" charset="0"/>
                        <a:cs typeface="Be Vietnam Pro" charset="0"/>
                      </a:endParaRPr>
                    </a:p>
                  </a:txBody>
                  <a:tcPr marL="53340" marR="53340" marT="53340" marB="53340">
                    <a:lnL w="0" cap="flat" cmpd="sng" algn="ctr">
                      <a:noFill/>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171450" indent="-171450">
                        <a:lnSpc>
                          <a:spcPts val="1680"/>
                        </a:lnSpc>
                        <a:buFont typeface="Arial" panose="020B0604020202020204" pitchFamily="34" charset="0"/>
                        <a:buChar char="•"/>
                      </a:pPr>
                      <a:r>
                        <a:rPr lang="en-US" sz="1200" dirty="0">
                          <a:solidFill>
                            <a:srgbClr val="13233F"/>
                          </a:solidFill>
                          <a:latin typeface="Be Vietnam Pro"/>
                          <a:ea typeface="Be Vietnam Pro" pitchFamily="34" charset="-122"/>
                          <a:cs typeface="Be Vietnam Pro" pitchFamily="34" charset="-120"/>
                        </a:rPr>
                        <a:t>Bảng </a:t>
                      </a:r>
                      <a:r>
                        <a:rPr lang="en-US" sz="1200" dirty="0" err="1">
                          <a:solidFill>
                            <a:srgbClr val="13233F"/>
                          </a:solidFill>
                          <a:latin typeface="Be Vietnam Pro"/>
                          <a:ea typeface="Be Vietnam Pro" pitchFamily="34" charset="-122"/>
                          <a:cs typeface="Be Vietnam Pro" pitchFamily="34" charset="-120"/>
                        </a:rPr>
                        <a:t>điều</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hà</a:t>
                      </a:r>
                      <a:r>
                        <a:rPr lang="vi-VN" sz="1200" dirty="0">
                          <a:solidFill>
                            <a:srgbClr val="13233F"/>
                          </a:solidFill>
                          <a:latin typeface="Be Vietnam Pro"/>
                          <a:ea typeface="Be Vietnam Pro" pitchFamily="34" charset="-122"/>
                          <a:cs typeface="Be Vietnam Pro" pitchFamily="34" charset="-120"/>
                        </a:rPr>
                        <a:t>nh</a:t>
                      </a:r>
                    </a:p>
                    <a:p>
                      <a:pPr marL="171450" indent="-171450">
                        <a:lnSpc>
                          <a:spcPts val="1680"/>
                        </a:lnSpc>
                        <a:buFont typeface="Arial" panose="020B0604020202020204" pitchFamily="34" charset="0"/>
                        <a:buChar char="•"/>
                      </a:pPr>
                      <a:r>
                        <a:rPr lang="vi-VN" sz="1200" dirty="0">
                          <a:solidFill>
                            <a:srgbClr val="13233F"/>
                          </a:solidFill>
                          <a:latin typeface="Be Vietnam Pro"/>
                          <a:ea typeface="Be Vietnam Pro" pitchFamily="34" charset="-122"/>
                          <a:cs typeface="Be Vietnam Pro" pitchFamily="34" charset="-120"/>
                        </a:rPr>
                        <a:t>C</a:t>
                      </a:r>
                      <a:r>
                        <a:rPr lang="en-US" sz="1200" dirty="0" err="1">
                          <a:solidFill>
                            <a:srgbClr val="13233F"/>
                          </a:solidFill>
                          <a:latin typeface="Be Vietnam Pro"/>
                          <a:ea typeface="Be Vietnam Pro" pitchFamily="34" charset="-122"/>
                          <a:cs typeface="Be Vietnam Pro" pitchFamily="34" charset="-120"/>
                        </a:rPr>
                        <a:t>hỉ</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tiê</a:t>
                      </a:r>
                      <a:r>
                        <a:rPr lang="vi-VN" sz="1200" dirty="0">
                          <a:solidFill>
                            <a:srgbClr val="13233F"/>
                          </a:solidFill>
                          <a:latin typeface="Be Vietnam Pro"/>
                          <a:ea typeface="Be Vietnam Pro" pitchFamily="34" charset="-122"/>
                          <a:cs typeface="Be Vietnam Pro" pitchFamily="34" charset="-120"/>
                        </a:rPr>
                        <a:t>u</a:t>
                      </a:r>
                    </a:p>
                    <a:p>
                      <a:pPr marL="171450" indent="-171450">
                        <a:lnSpc>
                          <a:spcPts val="1680"/>
                        </a:lnSpc>
                        <a:buFont typeface="Arial" panose="020B0604020202020204" pitchFamily="34" charset="0"/>
                        <a:buChar char="•"/>
                      </a:pPr>
                      <a:r>
                        <a:rPr lang="vi-VN" sz="1200" dirty="0">
                          <a:solidFill>
                            <a:srgbClr val="13233F"/>
                          </a:solidFill>
                          <a:latin typeface="Be Vietnam Pro"/>
                          <a:ea typeface="Be Vietnam Pro" pitchFamily="34" charset="-122"/>
                          <a:cs typeface="Be Vietnam Pro" pitchFamily="34" charset="-120"/>
                        </a:rPr>
                        <a:t>C</a:t>
                      </a:r>
                      <a:r>
                        <a:rPr lang="en-US" sz="1200" dirty="0" err="1">
                          <a:solidFill>
                            <a:srgbClr val="13233F"/>
                          </a:solidFill>
                          <a:latin typeface="Be Vietnam Pro"/>
                          <a:ea typeface="Be Vietnam Pro" pitchFamily="34" charset="-122"/>
                          <a:cs typeface="Be Vietnam Pro" pitchFamily="34" charset="-120"/>
                        </a:rPr>
                        <a:t>hỉ</a:t>
                      </a:r>
                      <a:r>
                        <a:rPr lang="en-US" sz="1200" dirty="0">
                          <a:solidFill>
                            <a:srgbClr val="13233F"/>
                          </a:solidFill>
                          <a:latin typeface="Be Vietnam Pro"/>
                          <a:ea typeface="Be Vietnam Pro" pitchFamily="34" charset="-122"/>
                          <a:cs typeface="Be Vietnam Pro" pitchFamily="34" charset="-120"/>
                        </a:rPr>
                        <a:t> số hoạt động</a:t>
                      </a:r>
                      <a:endParaRPr lang="en-US" sz="1200" dirty="0">
                        <a:latin typeface="Be Vietnam Pro"/>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171450" indent="-171450">
                        <a:lnSpc>
                          <a:spcPts val="1680"/>
                        </a:lnSpc>
                        <a:buFont typeface="Arial" panose="020B0604020202020204" pitchFamily="34" charset="0"/>
                        <a:buChar char="•"/>
                      </a:pPr>
                      <a:r>
                        <a:rPr lang="en-US" sz="1200" dirty="0" err="1">
                          <a:solidFill>
                            <a:srgbClr val="13233F"/>
                          </a:solidFill>
                          <a:latin typeface="Be Vietnam Pro"/>
                          <a:ea typeface="Be Vietnam Pro" pitchFamily="34" charset="-122"/>
                          <a:cs typeface="Be Vietnam Pro" pitchFamily="34" charset="-120"/>
                        </a:rPr>
                        <a:t>Thi</a:t>
                      </a:r>
                      <a:r>
                        <a:rPr lang="en-US" sz="1200" dirty="0">
                          <a:solidFill>
                            <a:srgbClr val="13233F"/>
                          </a:solidFill>
                          <a:latin typeface="Be Vietnam Pro"/>
                          <a:ea typeface="Be Vietnam Pro" pitchFamily="34" charset="-122"/>
                          <a:cs typeface="Be Vietnam Pro" pitchFamily="34" charset="-120"/>
                        </a:rPr>
                        <a:t> </a:t>
                      </a:r>
                      <a:r>
                        <a:rPr lang="en-US" sz="1200" dirty="0" err="1">
                          <a:solidFill>
                            <a:srgbClr val="13233F"/>
                          </a:solidFill>
                          <a:latin typeface="Be Vietnam Pro"/>
                          <a:ea typeface="Be Vietnam Pro" pitchFamily="34" charset="-122"/>
                          <a:cs typeface="Be Vietnam Pro" pitchFamily="34" charset="-120"/>
                        </a:rPr>
                        <a:t>đua</a:t>
                      </a:r>
                      <a:endParaRPr lang="vi-VN" sz="1200" dirty="0">
                        <a:solidFill>
                          <a:srgbClr val="13233F"/>
                        </a:solidFill>
                        <a:latin typeface="Be Vietnam Pro"/>
                        <a:ea typeface="Be Vietnam Pro" pitchFamily="34" charset="-122"/>
                        <a:cs typeface="Be Vietnam Pro" pitchFamily="34" charset="-120"/>
                      </a:endParaRPr>
                    </a:p>
                    <a:p>
                      <a:pPr marL="171450" indent="-171450">
                        <a:lnSpc>
                          <a:spcPts val="1680"/>
                        </a:lnSpc>
                        <a:buFont typeface="Arial" panose="020B0604020202020204" pitchFamily="34" charset="0"/>
                        <a:buChar char="•"/>
                      </a:pPr>
                      <a:r>
                        <a:rPr lang="vi-VN" sz="1200" dirty="0">
                          <a:solidFill>
                            <a:srgbClr val="13233F"/>
                          </a:solidFill>
                          <a:latin typeface="Be Vietnam Pro"/>
                          <a:ea typeface="Be Vietnam Pro" pitchFamily="34" charset="-122"/>
                          <a:cs typeface="Be Vietnam Pro" pitchFamily="34" charset="-120"/>
                        </a:rPr>
                        <a:t>K</a:t>
                      </a:r>
                      <a:r>
                        <a:rPr lang="en-US" sz="1200" dirty="0" err="1">
                          <a:solidFill>
                            <a:srgbClr val="13233F"/>
                          </a:solidFill>
                          <a:latin typeface="Be Vietnam Pro"/>
                          <a:ea typeface="Be Vietnam Pro" pitchFamily="34" charset="-122"/>
                          <a:cs typeface="Be Vietnam Pro" pitchFamily="34" charset="-120"/>
                        </a:rPr>
                        <a:t>ết</a:t>
                      </a:r>
                      <a:r>
                        <a:rPr lang="en-US" sz="1200" dirty="0">
                          <a:solidFill>
                            <a:srgbClr val="13233F"/>
                          </a:solidFill>
                          <a:latin typeface="Be Vietnam Pro"/>
                          <a:ea typeface="Be Vietnam Pro" pitchFamily="34" charset="-122"/>
                          <a:cs typeface="Be Vietnam Pro" pitchFamily="34" charset="-120"/>
                        </a:rPr>
                        <a:t> nối KPI đánh giá</a:t>
                      </a:r>
                      <a:endParaRPr lang="en-US" sz="1200" dirty="0">
                        <a:latin typeface="Be Vietnam Pro"/>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a:ea typeface="Be Vietnam Pro" pitchFamily="34" charset="-122"/>
                          <a:cs typeface="Be Vietnam Pro" pitchFamily="34" charset="-120"/>
                        </a:rPr>
                        <a:t>–</a:t>
                      </a:r>
                      <a:endParaRPr lang="en-US" sz="1200" dirty="0">
                        <a:latin typeface="Be Vietnam Pro"/>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4"/>
                  </a:ext>
                </a:extLst>
              </a:tr>
            </a:tbl>
          </a:graphicData>
        </a:graphic>
      </p:graphicFrame>
      <p:sp>
        <p:nvSpPr>
          <p:cNvPr id="8" name="Text 5"/>
          <p:cNvSpPr/>
          <p:nvPr/>
        </p:nvSpPr>
        <p:spPr>
          <a:xfrm>
            <a:off x="667416" y="631360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09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MODULE CỐT LÕI 1 · QUẢN LÝ KHÁCH HÀNG</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vi-VN" sz="2800" b="1" i="0" dirty="0">
                <a:solidFill>
                  <a:srgbClr val="13233F"/>
                </a:solidFill>
                <a:effectLst/>
                <a:latin typeface="Be Vietnam Pro"/>
              </a:rPr>
              <a:t>Một hồ sơ duy nhất, đúng người phụ trách</a:t>
            </a:r>
            <a:endParaRPr lang="en-US" sz="2800" dirty="0"/>
          </a:p>
        </p:txBody>
      </p:sp>
      <p:sp>
        <p:nvSpPr>
          <p:cNvPr id="4" name="Shape 2"/>
          <p:cNvSpPr/>
          <p:nvPr/>
        </p:nvSpPr>
        <p:spPr>
          <a:xfrm>
            <a:off x="639546" y="1384200"/>
            <a:ext cx="9399603" cy="4102200"/>
          </a:xfrm>
          <a:prstGeom prst="roundRect">
            <a:avLst>
              <a:gd name="adj" fmla="val 2082"/>
            </a:avLst>
          </a:prstGeom>
          <a:solidFill>
            <a:srgbClr val="FDFDFB"/>
          </a:solidFill>
          <a:ln/>
        </p:spPr>
      </p:sp>
      <p:sp>
        <p:nvSpPr>
          <p:cNvPr id="5" name="Shape 3"/>
          <p:cNvSpPr/>
          <p:nvPr/>
        </p:nvSpPr>
        <p:spPr>
          <a:xfrm>
            <a:off x="812800" y="1384201"/>
            <a:ext cx="9399603" cy="3761582"/>
          </a:xfrm>
          <a:custGeom>
            <a:avLst/>
            <a:gdLst/>
            <a:ahLst/>
            <a:cxnLst/>
            <a:rect l="l" t="t" r="r" b="b"/>
            <a:pathLst>
              <a:path w="10566400" h="3659981">
                <a:moveTo>
                  <a:pt x="10490200" y="0"/>
                </a:moveTo>
                <a:lnTo>
                  <a:pt x="10490200" y="0"/>
                </a:lnTo>
                <a:arcTo wR="76200" hR="76200" stAng="16200000" swAng="5400000"/>
                <a:lnTo>
                  <a:pt x="10566400" y="3583781"/>
                </a:lnTo>
                <a:arcTo wR="76200" hR="76200" stAng="0" swAng="5400000"/>
                <a:lnTo>
                  <a:pt x="76200" y="3659981"/>
                </a:lnTo>
                <a:arcTo wR="76200" hR="76200" stAng="5400000" swAng="5400000"/>
                <a:lnTo>
                  <a:pt x="0" y="3583781"/>
                </a:lnTo>
                <a:arcTo wR="76200" hR="69850" stAng="10800000" swAng="-5400000"/>
                <a:lnTo>
                  <a:pt x="10490200" y="3653631"/>
                </a:lnTo>
                <a:arcTo wR="69850" hR="69850" stAng="5400000" swAng="-5400000"/>
                <a:lnTo>
                  <a:pt x="10560050" y="76200"/>
                </a:lnTo>
                <a:arcTo wR="69850" hR="76200" stAng="0" swAng="-5400000"/>
                <a:close/>
              </a:path>
            </a:pathLst>
          </a:custGeom>
          <a:solidFill>
            <a:srgbClr val="DEDBD2"/>
          </a:solidFill>
          <a:ln/>
        </p:spPr>
      </p:sp>
      <p:sp>
        <p:nvSpPr>
          <p:cNvPr id="6" name="Shape 4"/>
          <p:cNvSpPr/>
          <p:nvPr/>
        </p:nvSpPr>
        <p:spPr>
          <a:xfrm>
            <a:off x="812800" y="1384201"/>
            <a:ext cx="9399603" cy="3761581"/>
          </a:xfrm>
          <a:custGeom>
            <a:avLst/>
            <a:gdLst/>
            <a:ahLst/>
            <a:cxnLst/>
            <a:rect l="l" t="t" r="r" b="b"/>
            <a:pathLst>
              <a:path w="10566400" h="3659981">
                <a:moveTo>
                  <a:pt x="76200" y="3659981"/>
                </a:moveTo>
                <a:lnTo>
                  <a:pt x="76200" y="3659981"/>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3583781"/>
                </a:lnTo>
                <a:arcTo wR="6350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3661785723"/>
              </p:ext>
            </p:extLst>
          </p:nvPr>
        </p:nvGraphicFramePr>
        <p:xfrm>
          <a:off x="914400" y="1562001"/>
          <a:ext cx="8934994" cy="3513932"/>
        </p:xfrm>
        <a:graphic>
          <a:graphicData uri="http://schemas.openxmlformats.org/drawingml/2006/table">
            <a:tbl>
              <a:tblPr/>
              <a:tblGrid>
                <a:gridCol w="731520">
                  <a:extLst>
                    <a:ext uri="{9D8B030D-6E8A-4147-A177-3AD203B41FA5}">
                      <a16:colId xmlns:a16="http://schemas.microsoft.com/office/drawing/2014/main" val="20000"/>
                    </a:ext>
                  </a:extLst>
                </a:gridCol>
                <a:gridCol w="2698511">
                  <a:extLst>
                    <a:ext uri="{9D8B030D-6E8A-4147-A177-3AD203B41FA5}">
                      <a16:colId xmlns:a16="http://schemas.microsoft.com/office/drawing/2014/main" val="20001"/>
                    </a:ext>
                  </a:extLst>
                </a:gridCol>
                <a:gridCol w="4179379">
                  <a:extLst>
                    <a:ext uri="{9D8B030D-6E8A-4147-A177-3AD203B41FA5}">
                      <a16:colId xmlns:a16="http://schemas.microsoft.com/office/drawing/2014/main" val="20002"/>
                    </a:ext>
                  </a:extLst>
                </a:gridCol>
                <a:gridCol w="1325584">
                  <a:extLst>
                    <a:ext uri="{9D8B030D-6E8A-4147-A177-3AD203B41FA5}">
                      <a16:colId xmlns:a16="http://schemas.microsoft.com/office/drawing/2014/main" val="20003"/>
                    </a:ext>
                  </a:extLst>
                </a:gridCol>
              </a:tblGrid>
              <a:tr h="332581">
                <a:tc>
                  <a:txBody>
                    <a:bodyPr/>
                    <a:lstStyle/>
                    <a:p>
                      <a:pPr marL="0" indent="0" algn="l" defTabSz="914400" rtl="0" eaLnBrk="1" latinLnBrk="0" hangingPunct="1">
                        <a:lnSpc>
                          <a:spcPts val="1620"/>
                        </a:lnSpc>
                        <a:buNone/>
                      </a:pPr>
                      <a:r>
                        <a:rPr lang="en-US" sz="1200" b="1" kern="1200" dirty="0">
                          <a:solidFill>
                            <a:schemeClr val="bg1"/>
                          </a:solidFill>
                          <a:latin typeface="Be Vietnam Pro" pitchFamily="34" charset="0"/>
                          <a:ea typeface="Be Vietnam Pro" pitchFamily="34" charset="-122"/>
                          <a:cs typeface="Be Vietnam Pro" pitchFamily="34" charset="-120"/>
                        </a:rPr>
                        <a:t>Mã</a:t>
                      </a:r>
                      <a:endParaRPr lang="en-US" sz="1200" b="1" kern="1200" dirty="0">
                        <a:solidFill>
                          <a:schemeClr val="bg1"/>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gn="l" defTabSz="914400" rtl="0" eaLnBrk="1" latinLnBrk="0" hangingPunct="1">
                        <a:lnSpc>
                          <a:spcPts val="1620"/>
                        </a:lnSpc>
                        <a:buNone/>
                      </a:pPr>
                      <a:r>
                        <a:rPr lang="en-US" sz="1200" b="1" kern="1200" dirty="0">
                          <a:solidFill>
                            <a:schemeClr val="bg1"/>
                          </a:solidFill>
                          <a:latin typeface="Be Vietnam Pro" pitchFamily="34" charset="0"/>
                          <a:ea typeface="Be Vietnam Pro" pitchFamily="34" charset="-122"/>
                          <a:cs typeface="Be Vietnam Pro" pitchFamily="34" charset="-120"/>
                        </a:rPr>
                        <a:t>Tính năng</a:t>
                      </a:r>
                      <a:endParaRPr lang="en-US" sz="1200" b="1" kern="1200" dirty="0">
                        <a:solidFill>
                          <a:schemeClr val="bg1"/>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gn="l" defTabSz="914400" rtl="0" eaLnBrk="1" latinLnBrk="0" hangingPunct="1">
                        <a:lnSpc>
                          <a:spcPts val="1620"/>
                        </a:lnSpc>
                        <a:buNone/>
                      </a:pPr>
                      <a:r>
                        <a:rPr lang="en-US" sz="1200" b="1" kern="1200" dirty="0">
                          <a:solidFill>
                            <a:schemeClr val="bg1"/>
                          </a:solidFill>
                          <a:latin typeface="Be Vietnam Pro" pitchFamily="34" charset="0"/>
                          <a:ea typeface="Be Vietnam Pro" pitchFamily="34" charset="-122"/>
                          <a:cs typeface="Be Vietnam Pro" pitchFamily="34" charset="-120"/>
                        </a:rPr>
                        <a:t>Mô tả</a:t>
                      </a:r>
                      <a:endParaRPr lang="en-US" sz="1200" b="1" kern="1200" dirty="0">
                        <a:solidFill>
                          <a:schemeClr val="bg1"/>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gn="l" defTabSz="914400" rtl="0" eaLnBrk="1" latinLnBrk="0" hangingPunct="1">
                        <a:lnSpc>
                          <a:spcPts val="1620"/>
                        </a:lnSpc>
                        <a:buNone/>
                      </a:pPr>
                      <a:r>
                        <a:rPr lang="en-US" sz="1200" b="1" kern="1200" dirty="0">
                          <a:solidFill>
                            <a:schemeClr val="bg1"/>
                          </a:solidFill>
                          <a:latin typeface="Be Vietnam Pro" pitchFamily="34" charset="0"/>
                          <a:ea typeface="Be Vietnam Pro" pitchFamily="34" charset="-122"/>
                          <a:cs typeface="Be Vietnam Pro" pitchFamily="34" charset="-120"/>
                        </a:rPr>
                        <a:t>Giai đoạn</a:t>
                      </a:r>
                      <a:endParaRPr lang="en-US" sz="1200" b="1" kern="1200" dirty="0">
                        <a:solidFill>
                          <a:schemeClr val="bg1"/>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32581">
                <a:tc>
                  <a:txBody>
                    <a:bodyPr/>
                    <a:lstStyle/>
                    <a:p>
                      <a:pPr marL="0" indent="0" algn="l" defTabSz="914400" rtl="0" eaLnBrk="1" latinLnBrk="0" hangingPunct="1">
                        <a:lnSpc>
                          <a:spcPts val="1620"/>
                        </a:lnSpc>
                        <a:buNone/>
                      </a:pPr>
                      <a:r>
                        <a:rPr lang="en-US" sz="1200" b="1" kern="1200" dirty="0">
                          <a:solidFill>
                            <a:srgbClr val="3D4A5C"/>
                          </a:solidFill>
                          <a:latin typeface="Be Vietnam Pro" pitchFamily="34" charset="0"/>
                          <a:ea typeface="Be Vietnam Pro" pitchFamily="34" charset="-122"/>
                          <a:cs typeface="Be Vietnam Pro" pitchFamily="34" charset="-120"/>
                        </a:rPr>
                        <a:t>KH1</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Hồ sơ khách hàng 360</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Hồ sơ, sản phẩm, tương tác, cơ hội trên một màn hình</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Ngắn hạn</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gn="l" defTabSz="914400" rtl="0" eaLnBrk="1" latinLnBrk="0" hangingPunct="1">
                        <a:lnSpc>
                          <a:spcPts val="1620"/>
                        </a:lnSpc>
                        <a:buNone/>
                      </a:pPr>
                      <a:r>
                        <a:rPr lang="en-US" sz="1200" b="1" kern="1200" dirty="0">
                          <a:solidFill>
                            <a:srgbClr val="3D4A5C"/>
                          </a:solidFill>
                          <a:latin typeface="Be Vietnam Pro" pitchFamily="34" charset="0"/>
                          <a:ea typeface="Be Vietnam Pro" pitchFamily="34" charset="-122"/>
                          <a:cs typeface="Be Vietnam Pro" pitchFamily="34" charset="-120"/>
                        </a:rPr>
                        <a:t>KH2</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Hồ sơ gốc, loại bỏ trùng lặp</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Định </a:t>
                      </a:r>
                      <a:r>
                        <a:rPr lang="en-US" sz="1200" kern="1200" dirty="0" err="1">
                          <a:solidFill>
                            <a:srgbClr val="3D4A5C"/>
                          </a:solidFill>
                          <a:latin typeface="Be Vietnam Pro" pitchFamily="34" charset="0"/>
                          <a:ea typeface="Be Vietnam Pro" pitchFamily="34" charset="-122"/>
                          <a:cs typeface="Be Vietnam Pro" pitchFamily="34" charset="-120"/>
                        </a:rPr>
                        <a:t>danh</a:t>
                      </a:r>
                      <a:r>
                        <a:rPr lang="en-US" sz="1200" kern="1200" dirty="0">
                          <a:solidFill>
                            <a:srgbClr val="3D4A5C"/>
                          </a:solidFill>
                          <a:latin typeface="Be Vietnam Pro" pitchFamily="34" charset="0"/>
                          <a:ea typeface="Be Vietnam Pro" pitchFamily="34" charset="-122"/>
                          <a:cs typeface="Be Vietnam Pro" pitchFamily="34" charset="-120"/>
                        </a:rPr>
                        <a:t> </a:t>
                      </a:r>
                      <a:r>
                        <a:rPr lang="vi-VN" sz="1200" kern="1200" dirty="0">
                          <a:solidFill>
                            <a:srgbClr val="3D4A5C"/>
                          </a:solidFill>
                          <a:latin typeface="Be Vietnam Pro" pitchFamily="34" charset="0"/>
                          <a:ea typeface="Be Vietnam Pro" pitchFamily="34" charset="-122"/>
                          <a:cs typeface="Be Vietnam Pro" pitchFamily="34" charset="-120"/>
                        </a:rPr>
                        <a:t>khách hàng</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Ngắn hạn</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2"/>
                  </a:ext>
                </a:extLst>
              </a:tr>
              <a:tr h="545902">
                <a:tc>
                  <a:txBody>
                    <a:bodyPr/>
                    <a:lstStyle/>
                    <a:p>
                      <a:pPr marL="0" indent="0" algn="l" defTabSz="914400" rtl="0" eaLnBrk="1" latinLnBrk="0" hangingPunct="1">
                        <a:lnSpc>
                          <a:spcPts val="1620"/>
                        </a:lnSpc>
                        <a:buNone/>
                      </a:pPr>
                      <a:r>
                        <a:rPr lang="en-US" sz="1200" b="1" kern="1200" dirty="0">
                          <a:solidFill>
                            <a:srgbClr val="3D4A5C"/>
                          </a:solidFill>
                          <a:latin typeface="Be Vietnam Pro" pitchFamily="34" charset="0"/>
                          <a:ea typeface="Be Vietnam Pro" pitchFamily="34" charset="-122"/>
                          <a:cs typeface="Be Vietnam Pro" pitchFamily="34" charset="-120"/>
                        </a:rPr>
                        <a:t>KH3</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Tự động điền dữ liệu</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Lấy từ hệ thống lõi, hệ thống tín dụng, đăng ký doanh nghiệp</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Ngắn hạn</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gn="l" defTabSz="914400" rtl="0" eaLnBrk="1" latinLnBrk="0" hangingPunct="1">
                        <a:lnSpc>
                          <a:spcPts val="1620"/>
                        </a:lnSpc>
                        <a:buNone/>
                      </a:pPr>
                      <a:r>
                        <a:rPr lang="en-US" sz="1200" b="1" kern="1200" dirty="0">
                          <a:solidFill>
                            <a:srgbClr val="3D4A5C"/>
                          </a:solidFill>
                          <a:latin typeface="Be Vietnam Pro" pitchFamily="34" charset="0"/>
                          <a:ea typeface="Be Vietnam Pro" pitchFamily="34" charset="-122"/>
                          <a:cs typeface="Be Vietnam Pro" pitchFamily="34" charset="-120"/>
                        </a:rPr>
                        <a:t>KH4</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Điểm chất lượng dữ liệu</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Điểm 0–100 mỗi </a:t>
                      </a:r>
                      <a:r>
                        <a:rPr lang="en-US" sz="1200" kern="1200" dirty="0" err="1">
                          <a:solidFill>
                            <a:srgbClr val="3D4A5C"/>
                          </a:solidFill>
                          <a:latin typeface="Be Vietnam Pro" pitchFamily="34" charset="0"/>
                          <a:ea typeface="Be Vietnam Pro" pitchFamily="34" charset="-122"/>
                          <a:cs typeface="Be Vietnam Pro" pitchFamily="34" charset="-120"/>
                        </a:rPr>
                        <a:t>hồ</a:t>
                      </a:r>
                      <a:r>
                        <a:rPr lang="en-US" sz="1200" kern="1200" dirty="0">
                          <a:solidFill>
                            <a:srgbClr val="3D4A5C"/>
                          </a:solidFill>
                          <a:latin typeface="Be Vietnam Pro" pitchFamily="34" charset="0"/>
                          <a:ea typeface="Be Vietnam Pro" pitchFamily="34" charset="-122"/>
                          <a:cs typeface="Be Vietnam Pro" pitchFamily="34" charset="-120"/>
                        </a:rPr>
                        <a:t> </a:t>
                      </a:r>
                      <a:r>
                        <a:rPr lang="en-US" sz="1200" kern="1200" dirty="0" err="1">
                          <a:solidFill>
                            <a:srgbClr val="3D4A5C"/>
                          </a:solidFill>
                          <a:latin typeface="Be Vietnam Pro" pitchFamily="34" charset="0"/>
                          <a:ea typeface="Be Vietnam Pro" pitchFamily="34" charset="-122"/>
                          <a:cs typeface="Be Vietnam Pro" pitchFamily="34" charset="-120"/>
                        </a:rPr>
                        <a:t>sơ</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Ngắn hạn</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4"/>
                  </a:ext>
                </a:extLst>
              </a:tr>
              <a:tr h="545902">
                <a:tc>
                  <a:txBody>
                    <a:bodyPr/>
                    <a:lstStyle/>
                    <a:p>
                      <a:pPr marL="0" indent="0" algn="l" defTabSz="914400" rtl="0" eaLnBrk="1" latinLnBrk="0" hangingPunct="1">
                        <a:lnSpc>
                          <a:spcPts val="1620"/>
                        </a:lnSpc>
                        <a:buNone/>
                      </a:pPr>
                      <a:r>
                        <a:rPr lang="en-US" sz="1200" b="1" kern="1200" dirty="0">
                          <a:solidFill>
                            <a:srgbClr val="3D4A5C"/>
                          </a:solidFill>
                          <a:latin typeface="Be Vietnam Pro" pitchFamily="34" charset="0"/>
                          <a:ea typeface="Be Vietnam Pro" pitchFamily="34" charset="-122"/>
                          <a:cs typeface="Be Vietnam Pro" pitchFamily="34" charset="-120"/>
                        </a:rPr>
                        <a:t>KH5</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Phân giao danh mục khách hàng</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RM chính, RM phụ; bàn giao khi RM chuyển công tác</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Ngắn hạn</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5"/>
                  </a:ext>
                </a:extLst>
              </a:tr>
              <a:tr h="545902">
                <a:tc>
                  <a:txBody>
                    <a:bodyPr/>
                    <a:lstStyle/>
                    <a:p>
                      <a:pPr marL="0" indent="0" algn="l" defTabSz="914400" rtl="0" eaLnBrk="1" latinLnBrk="0" hangingPunct="1">
                        <a:lnSpc>
                          <a:spcPts val="1620"/>
                        </a:lnSpc>
                        <a:buNone/>
                      </a:pPr>
                      <a:r>
                        <a:rPr lang="en-US" sz="1200" b="1" kern="1200" dirty="0">
                          <a:solidFill>
                            <a:srgbClr val="3D4A5C"/>
                          </a:solidFill>
                          <a:latin typeface="Be Vietnam Pro" pitchFamily="34" charset="0"/>
                          <a:ea typeface="Be Vietnam Pro" pitchFamily="34" charset="-122"/>
                          <a:cs typeface="Be Vietnam Pro" pitchFamily="34" charset="-120"/>
                        </a:rPr>
                        <a:t>KH6</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Nhóm khách hàng, chuỗi giá trị</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Công ty </a:t>
                      </a:r>
                      <a:r>
                        <a:rPr lang="en-US" sz="1200" kern="1200" dirty="0" err="1">
                          <a:solidFill>
                            <a:srgbClr val="3D4A5C"/>
                          </a:solidFill>
                          <a:latin typeface="Be Vietnam Pro" pitchFamily="34" charset="0"/>
                          <a:ea typeface="Be Vietnam Pro" pitchFamily="34" charset="-122"/>
                          <a:cs typeface="Be Vietnam Pro" pitchFamily="34" charset="-120"/>
                        </a:rPr>
                        <a:t>mẹ</a:t>
                      </a:r>
                      <a:r>
                        <a:rPr lang="vi-VN" sz="1200" kern="1200" dirty="0">
                          <a:solidFill>
                            <a:srgbClr val="3D4A5C"/>
                          </a:solidFill>
                          <a:latin typeface="Be Vietnam Pro" pitchFamily="34" charset="0"/>
                          <a:ea typeface="Be Vietnam Pro" pitchFamily="34" charset="-122"/>
                          <a:cs typeface="Be Vietnam Pro" pitchFamily="34" charset="-120"/>
                        </a:rPr>
                        <a:t> - </a:t>
                      </a:r>
                      <a:r>
                        <a:rPr lang="en-US" sz="1200" kern="1200" dirty="0">
                          <a:solidFill>
                            <a:srgbClr val="3D4A5C"/>
                          </a:solidFill>
                          <a:latin typeface="Be Vietnam Pro" pitchFamily="34" charset="0"/>
                          <a:ea typeface="Be Vietnam Pro" pitchFamily="34" charset="-122"/>
                          <a:cs typeface="Be Vietnam Pro" pitchFamily="34" charset="-120"/>
                        </a:rPr>
                        <a:t>con, người liên quan, nhà cung cấp, bên mua</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Trung hạn</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6"/>
                  </a:ext>
                </a:extLst>
              </a:tr>
              <a:tr h="332581">
                <a:tc>
                  <a:txBody>
                    <a:bodyPr/>
                    <a:lstStyle/>
                    <a:p>
                      <a:pPr marL="0" indent="0" algn="l" defTabSz="914400" rtl="0" eaLnBrk="1" latinLnBrk="0" hangingPunct="1">
                        <a:lnSpc>
                          <a:spcPts val="1620"/>
                        </a:lnSpc>
                        <a:buNone/>
                      </a:pPr>
                      <a:r>
                        <a:rPr lang="en-US" sz="1200" b="1" kern="1200" dirty="0">
                          <a:solidFill>
                            <a:srgbClr val="3D4A5C"/>
                          </a:solidFill>
                          <a:latin typeface="Be Vietnam Pro" pitchFamily="34" charset="0"/>
                          <a:ea typeface="Be Vietnam Pro" pitchFamily="34" charset="-122"/>
                          <a:cs typeface="Be Vietnam Pro" pitchFamily="34" charset="-120"/>
                        </a:rPr>
                        <a:t>KH7</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AI tóm tắt khách hàng</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Tóm tắt trước buổi gặp từ giao dịch, tương tác</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defTabSz="914400" rtl="0" eaLnBrk="1" latinLnBrk="0" hangingPunct="1">
                        <a:lnSpc>
                          <a:spcPts val="1620"/>
                        </a:lnSpc>
                        <a:buNone/>
                      </a:pPr>
                      <a:r>
                        <a:rPr lang="en-US" sz="1200" kern="1200" dirty="0">
                          <a:solidFill>
                            <a:srgbClr val="3D4A5C"/>
                          </a:solidFill>
                          <a:latin typeface="Be Vietnam Pro" pitchFamily="34" charset="0"/>
                          <a:ea typeface="Be Vietnam Pro" pitchFamily="34" charset="-122"/>
                          <a:cs typeface="Be Vietnam Pro" pitchFamily="34" charset="-120"/>
                        </a:rPr>
                        <a:t>Trung hạn</a:t>
                      </a:r>
                      <a:endParaRPr lang="en-US" sz="1200" kern="1200" dirty="0">
                        <a:solidFill>
                          <a:srgbClr val="3D4A5C"/>
                        </a:solidFill>
                        <a:latin typeface="Be Vietnam Pro" pitchFamily="34" charset="0"/>
                        <a:ea typeface="Be Vietnam Pro" pitchFamily="34" charset="-122"/>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914400" y="6248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10  · </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E5E"/>
                </a:solidFill>
                <a:latin typeface="Be Vietnam Pro" pitchFamily="34" charset="0"/>
                <a:ea typeface="Be Vietnam Pro" pitchFamily="34" charset="-122"/>
                <a:cs typeface="Be Vietnam Pro" pitchFamily="34" charset="-120"/>
              </a:rPr>
              <a:t>MODULE CỐT LÕI 2 · SALES PIPELINE</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Từ khách hàng tiềm năng đến giải ngân trên một quy trình</a:t>
            </a:r>
            <a:endParaRPr lang="en-US" sz="2800" dirty="0"/>
          </a:p>
        </p:txBody>
      </p:sp>
      <p:sp>
        <p:nvSpPr>
          <p:cNvPr id="4" name="Shape 2"/>
          <p:cNvSpPr/>
          <p:nvPr/>
        </p:nvSpPr>
        <p:spPr>
          <a:xfrm>
            <a:off x="812800" y="1468957"/>
            <a:ext cx="9168598" cy="3659981"/>
          </a:xfrm>
          <a:prstGeom prst="roundRect">
            <a:avLst>
              <a:gd name="adj" fmla="val 2082"/>
            </a:avLst>
          </a:prstGeom>
          <a:solidFill>
            <a:srgbClr val="FDFDFB"/>
          </a:solidFill>
          <a:ln/>
        </p:spPr>
      </p:sp>
      <p:sp>
        <p:nvSpPr>
          <p:cNvPr id="5" name="Shape 3"/>
          <p:cNvSpPr/>
          <p:nvPr/>
        </p:nvSpPr>
        <p:spPr>
          <a:xfrm>
            <a:off x="812800" y="1485801"/>
            <a:ext cx="9235975" cy="3659981"/>
          </a:xfrm>
          <a:custGeom>
            <a:avLst/>
            <a:gdLst/>
            <a:ahLst/>
            <a:cxnLst/>
            <a:rect l="l" t="t" r="r" b="b"/>
            <a:pathLst>
              <a:path w="10566400" h="3659981">
                <a:moveTo>
                  <a:pt x="10490200" y="0"/>
                </a:moveTo>
                <a:lnTo>
                  <a:pt x="10490200" y="0"/>
                </a:lnTo>
                <a:arcTo wR="76200" hR="76200" stAng="16200000" swAng="5400000"/>
                <a:lnTo>
                  <a:pt x="10566400" y="3583781"/>
                </a:lnTo>
                <a:arcTo wR="76200" hR="76200" stAng="0" swAng="5400000"/>
                <a:lnTo>
                  <a:pt x="76200" y="3659981"/>
                </a:lnTo>
                <a:arcTo wR="76200" hR="76200" stAng="5400000" swAng="5400000"/>
                <a:lnTo>
                  <a:pt x="0" y="3583781"/>
                </a:lnTo>
                <a:arcTo wR="76200" hR="69850" stAng="10800000" swAng="-5400000"/>
                <a:lnTo>
                  <a:pt x="10490200" y="3653631"/>
                </a:lnTo>
                <a:arcTo wR="69850" hR="69850" stAng="5400000" swAng="-5400000"/>
                <a:lnTo>
                  <a:pt x="10560050" y="76200"/>
                </a:lnTo>
                <a:arcTo wR="69850" hR="76200" stAng="0" swAng="-5400000"/>
                <a:close/>
              </a:path>
            </a:pathLst>
          </a:custGeom>
          <a:solidFill>
            <a:srgbClr val="DEDBD2"/>
          </a:solidFill>
          <a:ln/>
        </p:spPr>
      </p:sp>
      <p:sp>
        <p:nvSpPr>
          <p:cNvPr id="6" name="Shape 4"/>
          <p:cNvSpPr/>
          <p:nvPr/>
        </p:nvSpPr>
        <p:spPr>
          <a:xfrm>
            <a:off x="812800" y="1485801"/>
            <a:ext cx="9235975" cy="3659981"/>
          </a:xfrm>
          <a:custGeom>
            <a:avLst/>
            <a:gdLst/>
            <a:ahLst/>
            <a:cxnLst/>
            <a:rect l="l" t="t" r="r" b="b"/>
            <a:pathLst>
              <a:path w="10566400" h="3659981">
                <a:moveTo>
                  <a:pt x="76200" y="3659981"/>
                </a:moveTo>
                <a:lnTo>
                  <a:pt x="76200" y="3659981"/>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3583781"/>
                </a:lnTo>
                <a:arcTo wR="6350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2708248007"/>
              </p:ext>
            </p:extLst>
          </p:nvPr>
        </p:nvGraphicFramePr>
        <p:xfrm>
          <a:off x="914400" y="1562001"/>
          <a:ext cx="8900159" cy="3513932"/>
        </p:xfrm>
        <a:graphic>
          <a:graphicData uri="http://schemas.openxmlformats.org/drawingml/2006/table">
            <a:tbl>
              <a:tblPr/>
              <a:tblGrid>
                <a:gridCol w="731520">
                  <a:extLst>
                    <a:ext uri="{9D8B030D-6E8A-4147-A177-3AD203B41FA5}">
                      <a16:colId xmlns:a16="http://schemas.microsoft.com/office/drawing/2014/main" val="20000"/>
                    </a:ext>
                  </a:extLst>
                </a:gridCol>
                <a:gridCol w="2687052">
                  <a:extLst>
                    <a:ext uri="{9D8B030D-6E8A-4147-A177-3AD203B41FA5}">
                      <a16:colId xmlns:a16="http://schemas.microsoft.com/office/drawing/2014/main" val="20001"/>
                    </a:ext>
                  </a:extLst>
                </a:gridCol>
                <a:gridCol w="4299283">
                  <a:extLst>
                    <a:ext uri="{9D8B030D-6E8A-4147-A177-3AD203B41FA5}">
                      <a16:colId xmlns:a16="http://schemas.microsoft.com/office/drawing/2014/main" val="20002"/>
                    </a:ext>
                  </a:extLst>
                </a:gridCol>
                <a:gridCol w="1182304">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Mã</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Tính năng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Mô tả</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Giai đoạn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PL1</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Giai đoạn bán hàng chuẩn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vi-VN" sz="1200" dirty="0">
                          <a:solidFill>
                            <a:srgbClr val="13233F"/>
                          </a:solidFill>
                          <a:latin typeface="Be Vietnam Pro" pitchFamily="34" charset="0"/>
                          <a:ea typeface="Be Vietnam Pro" pitchFamily="34" charset="-122"/>
                          <a:cs typeface="Be Vietnam Pro" pitchFamily="34" charset="-120"/>
                        </a:rPr>
                        <a:t>Phân loại giai đoạn bán hàng</a:t>
                      </a:r>
                      <a:r>
                        <a:rPr lang="en-US" sz="1200" dirty="0">
                          <a:solidFill>
                            <a:srgbClr val="13233F"/>
                          </a:solidFill>
                          <a:latin typeface="Be Vietnam Pro" pitchFamily="34" charset="0"/>
                          <a:ea typeface="Be Vietnam Pro" pitchFamily="34" charset="-122"/>
                          <a:cs typeface="Be Vietnam Pro" pitchFamily="34" charset="-120"/>
                        </a:rPr>
                        <a:t>, điều </a:t>
                      </a:r>
                      <a:r>
                        <a:rPr lang="en-US" sz="1200" dirty="0" err="1">
                          <a:solidFill>
                            <a:srgbClr val="13233F"/>
                          </a:solidFill>
                          <a:latin typeface="Be Vietnam Pro" pitchFamily="34" charset="0"/>
                          <a:ea typeface="Be Vietnam Pro" pitchFamily="34" charset="-122"/>
                          <a:cs typeface="Be Vietnam Pro" pitchFamily="34" charset="-120"/>
                        </a:rPr>
                        <a:t>kiện</a:t>
                      </a:r>
                      <a:r>
                        <a:rPr lang="en-US" sz="1200" dirty="0">
                          <a:solidFill>
                            <a:srgbClr val="13233F"/>
                          </a:solidFill>
                          <a:latin typeface="Be Vietnam Pro" pitchFamily="34" charset="0"/>
                          <a:ea typeface="Be Vietnam Pro" pitchFamily="34" charset="-122"/>
                          <a:cs typeface="Be Vietnam Pro" pitchFamily="34" charset="-120"/>
                        </a:rPr>
                        <a:t> </a:t>
                      </a:r>
                      <a:r>
                        <a:rPr lang="en-US" sz="1200" dirty="0" err="1">
                          <a:solidFill>
                            <a:srgbClr val="13233F"/>
                          </a:solidFill>
                          <a:latin typeface="Be Vietnam Pro" pitchFamily="34" charset="0"/>
                          <a:ea typeface="Be Vietnam Pro" pitchFamily="34" charset="-122"/>
                          <a:cs typeface="Be Vietnam Pro" pitchFamily="34" charset="-120"/>
                        </a:rPr>
                        <a:t>chuyển</a:t>
                      </a:r>
                      <a:r>
                        <a:rPr lang="vi-VN" sz="1200" dirty="0">
                          <a:solidFill>
                            <a:srgbClr val="13233F"/>
                          </a:solidFill>
                          <a:latin typeface="Be Vietnam Pro" pitchFamily="34" charset="0"/>
                          <a:ea typeface="Be Vietnam Pro" pitchFamily="34" charset="-122"/>
                          <a:cs typeface="Be Vietnam Pro" pitchFamily="34" charset="-120"/>
                        </a:rPr>
                        <a:t> bước</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Ngắn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PL2</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Biên bản gặp khách hàng, lịch hẹn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Biên bản trên di động, việc tiếp theo, nhắc lịch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Ngắn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PL3</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Lấy kết quả phê duyệt từ hệ thống tín dụng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Kết quả thẩm định, phê duyệt tự cập nhật vào cơ hội</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Ngắn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3"/>
                  </a:ext>
                </a:extLst>
              </a:tr>
              <a:tr h="545902">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PL4</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Cẩm nang bán hàng theo phân khúc</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Câu hỏi khai thác, tài liệu, danh mục hồ sơ</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PL5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AI lập biên bản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Ghi âm, ghi chú thành biên bản; RM xác nhận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5"/>
                  </a:ext>
                </a:extLst>
              </a:tr>
              <a:tr h="545902">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PL6</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AI chấm điểm khách hàng tiềm năng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Ưu tiên khách hàng tiềm năng dễ chuyển đổi</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PL7</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AI dự báo doanh số</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Dự báo doanh số, khả năng thành công từng cơ hội</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Dài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11  · </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MODULE CỐT LÕI 3 · GIAO DỊCH</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Biến dữ liệu giao dịch thành cơ hội bán</a:t>
            </a:r>
            <a:endParaRPr lang="en-US" sz="2800" dirty="0"/>
          </a:p>
        </p:txBody>
      </p:sp>
      <p:sp>
        <p:nvSpPr>
          <p:cNvPr id="4" name="Text 2"/>
          <p:cNvSpPr/>
          <p:nvPr/>
        </p:nvSpPr>
        <p:spPr>
          <a:xfrm>
            <a:off x="812800" y="1485801"/>
            <a:ext cx="10566400" cy="434280"/>
          </a:xfrm>
          <a:prstGeom prst="roundRect">
            <a:avLst>
              <a:gd name="adj" fmla="val 17546"/>
            </a:avLst>
          </a:prstGeom>
          <a:solidFill>
            <a:srgbClr val="E3ECF7"/>
          </a:solidFill>
          <a:ln/>
        </p:spPr>
        <p:txBody>
          <a:bodyPr wrap="square" lIns="130082" tIns="79282" rIns="0" bIns="53882" rtlCol="0" anchor="t">
            <a:normAutofit/>
          </a:bodyPr>
          <a:lstStyle/>
          <a:p>
            <a:pPr marL="0" indent="0" algn="l">
              <a:lnSpc>
                <a:spcPts val="1820"/>
              </a:lnSpc>
              <a:buNone/>
            </a:pPr>
            <a:r>
              <a:rPr lang="en-US" sz="1300" b="1" dirty="0">
                <a:solidFill>
                  <a:srgbClr val="13233F"/>
                </a:solidFill>
                <a:latin typeface="Be Vietnam Pro" pitchFamily="34" charset="0"/>
                <a:ea typeface="Be Vietnam Pro" pitchFamily="34" charset="-122"/>
                <a:cs typeface="Be Vietnam Pro" pitchFamily="34" charset="-120"/>
              </a:rPr>
              <a:t>Mục đích:</a:t>
            </a:r>
            <a:r>
              <a:rPr lang="en-US" sz="1300" dirty="0">
                <a:solidFill>
                  <a:srgbClr val="13233F"/>
                </a:solidFill>
                <a:latin typeface="Be Vietnam Pro" pitchFamily="34" charset="0"/>
                <a:ea typeface="Be Vietnam Pro" pitchFamily="34" charset="-122"/>
                <a:cs typeface="Be Vietnam Pro" pitchFamily="34" charset="-120"/>
              </a:rPr>
              <a:t> phát hiện sớm cơ hội và rủi ro từ giao dịch của khách hàng. Dữ liệu lấy tự động, RM không nhập tay.</a:t>
            </a:r>
            <a:endParaRPr lang="en-US" sz="1300" dirty="0"/>
          </a:p>
        </p:txBody>
      </p:sp>
      <p:sp>
        <p:nvSpPr>
          <p:cNvPr id="5" name="Shape 3"/>
          <p:cNvSpPr/>
          <p:nvPr/>
        </p:nvSpPr>
        <p:spPr>
          <a:xfrm>
            <a:off x="812800" y="2097881"/>
            <a:ext cx="9014594" cy="3208139"/>
          </a:xfrm>
          <a:prstGeom prst="roundRect">
            <a:avLst>
              <a:gd name="adj" fmla="val 2375"/>
            </a:avLst>
          </a:prstGeom>
          <a:solidFill>
            <a:srgbClr val="FDFDFB"/>
          </a:solidFill>
          <a:ln/>
        </p:spPr>
      </p:sp>
      <p:sp>
        <p:nvSpPr>
          <p:cNvPr id="6" name="Shape 4"/>
          <p:cNvSpPr/>
          <p:nvPr/>
        </p:nvSpPr>
        <p:spPr>
          <a:xfrm>
            <a:off x="812800" y="2097881"/>
            <a:ext cx="9168598" cy="3208139"/>
          </a:xfrm>
          <a:custGeom>
            <a:avLst/>
            <a:gdLst/>
            <a:ahLst/>
            <a:cxnLst/>
            <a:rect l="l" t="t" r="r" b="b"/>
            <a:pathLst>
              <a:path w="10566400" h="3208139">
                <a:moveTo>
                  <a:pt x="10490200" y="0"/>
                </a:moveTo>
                <a:lnTo>
                  <a:pt x="10490200" y="0"/>
                </a:lnTo>
                <a:arcTo wR="76200" hR="76200" stAng="16200000" swAng="5400000"/>
                <a:lnTo>
                  <a:pt x="10566400" y="3131939"/>
                </a:lnTo>
                <a:arcTo wR="76200" hR="76200" stAng="0" swAng="5400000"/>
                <a:lnTo>
                  <a:pt x="76200" y="3208139"/>
                </a:lnTo>
                <a:arcTo wR="76200" hR="76200" stAng="5400000" swAng="5400000"/>
                <a:lnTo>
                  <a:pt x="0" y="3131939"/>
                </a:lnTo>
                <a:arcTo wR="76200" hR="69850" stAng="10800000" swAng="-5400000"/>
                <a:lnTo>
                  <a:pt x="10490200" y="3201789"/>
                </a:lnTo>
                <a:arcTo wR="69850" hR="69850" stAng="5400000" swAng="-5400000"/>
                <a:lnTo>
                  <a:pt x="10560050" y="76200"/>
                </a:lnTo>
                <a:arcTo wR="69850" hR="76200" stAng="0" swAng="-5400000"/>
                <a:close/>
              </a:path>
            </a:pathLst>
          </a:custGeom>
          <a:solidFill>
            <a:srgbClr val="DEDBD2"/>
          </a:solidFill>
          <a:ln/>
        </p:spPr>
      </p:sp>
      <p:sp>
        <p:nvSpPr>
          <p:cNvPr id="7" name="Shape 5"/>
          <p:cNvSpPr/>
          <p:nvPr/>
        </p:nvSpPr>
        <p:spPr>
          <a:xfrm>
            <a:off x="812800" y="2072483"/>
            <a:ext cx="9168598" cy="3233538"/>
          </a:xfrm>
          <a:custGeom>
            <a:avLst/>
            <a:gdLst/>
            <a:ahLst/>
            <a:cxnLst/>
            <a:rect l="l" t="t" r="r" b="b"/>
            <a:pathLst>
              <a:path w="10566400" h="3208139">
                <a:moveTo>
                  <a:pt x="76200" y="3208139"/>
                </a:moveTo>
                <a:lnTo>
                  <a:pt x="76200" y="3208139"/>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3131939"/>
                </a:lnTo>
                <a:arcTo wR="63500" hR="762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2897545435"/>
              </p:ext>
            </p:extLst>
          </p:nvPr>
        </p:nvGraphicFramePr>
        <p:xfrm>
          <a:off x="914400" y="2174081"/>
          <a:ext cx="8807117" cy="3062091"/>
        </p:xfrm>
        <a:graphic>
          <a:graphicData uri="http://schemas.openxmlformats.org/drawingml/2006/table">
            <a:tbl>
              <a:tblPr/>
              <a:tblGrid>
                <a:gridCol w="731520">
                  <a:extLst>
                    <a:ext uri="{9D8B030D-6E8A-4147-A177-3AD203B41FA5}">
                      <a16:colId xmlns:a16="http://schemas.microsoft.com/office/drawing/2014/main" val="20000"/>
                    </a:ext>
                  </a:extLst>
                </a:gridCol>
                <a:gridCol w="2656446">
                  <a:extLst>
                    <a:ext uri="{9D8B030D-6E8A-4147-A177-3AD203B41FA5}">
                      <a16:colId xmlns:a16="http://schemas.microsoft.com/office/drawing/2014/main" val="20001"/>
                    </a:ext>
                  </a:extLst>
                </a:gridCol>
                <a:gridCol w="4250314">
                  <a:extLst>
                    <a:ext uri="{9D8B030D-6E8A-4147-A177-3AD203B41FA5}">
                      <a16:colId xmlns:a16="http://schemas.microsoft.com/office/drawing/2014/main" val="20002"/>
                    </a:ext>
                  </a:extLst>
                </a:gridCol>
                <a:gridCol w="1168837">
                  <a:extLst>
                    <a:ext uri="{9D8B030D-6E8A-4147-A177-3AD203B41FA5}">
                      <a16:colId xmlns:a16="http://schemas.microsoft.com/office/drawing/2014/main" val="20003"/>
                    </a:ext>
                  </a:extLst>
                </a:gridCol>
              </a:tblGrid>
              <a:tr h="332581">
                <a:tc>
                  <a:txBody>
                    <a:bodyPr/>
                    <a:lstStyle/>
                    <a:p>
                      <a:pPr marL="0" indent="0" algn="l">
                        <a:lnSpc>
                          <a:spcPts val="1680"/>
                        </a:lnSpc>
                        <a:buNone/>
                      </a:pPr>
                      <a:r>
                        <a:rPr lang="en-US" sz="1200" b="1" dirty="0" err="1">
                          <a:solidFill>
                            <a:srgbClr val="F6F5F1"/>
                          </a:solidFill>
                          <a:latin typeface="Be Vietnam Pro"/>
                          <a:ea typeface="Be Vietnam Pro"/>
                          <a:cs typeface="Be Vietnam Pro" pitchFamily="34" charset="-120"/>
                        </a:rPr>
                        <a:t>Mã</a:t>
                      </a:r>
                      <a:endParaRPr lang="en-US" sz="1200" dirty="0">
                        <a:latin typeface="Be Vietnam Pro"/>
                        <a:ea typeface="Be Vietnam Pro"/>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gn="l">
                        <a:lnSpc>
                          <a:spcPts val="1680"/>
                        </a:lnSpc>
                        <a:buNone/>
                      </a:pPr>
                      <a:r>
                        <a:rPr lang="en-US" sz="1200" b="1" dirty="0" err="1">
                          <a:solidFill>
                            <a:srgbClr val="F6F5F1"/>
                          </a:solidFill>
                          <a:latin typeface="Be Vietnam Pro"/>
                          <a:ea typeface="Be Vietnam Pro"/>
                          <a:cs typeface="Be Vietnam Pro" pitchFamily="34" charset="-120"/>
                        </a:rPr>
                        <a:t>Tính</a:t>
                      </a:r>
                      <a:r>
                        <a:rPr lang="en-US" sz="1200" b="1" dirty="0">
                          <a:solidFill>
                            <a:srgbClr val="F6F5F1"/>
                          </a:solidFill>
                          <a:latin typeface="Be Vietnam Pro"/>
                          <a:ea typeface="Be Vietnam Pro"/>
                          <a:cs typeface="Be Vietnam Pro" pitchFamily="34" charset="-120"/>
                        </a:rPr>
                        <a:t> </a:t>
                      </a:r>
                      <a:r>
                        <a:rPr lang="en-US" sz="1200" b="1" dirty="0" err="1">
                          <a:solidFill>
                            <a:srgbClr val="F6F5F1"/>
                          </a:solidFill>
                          <a:latin typeface="Be Vietnam Pro"/>
                          <a:ea typeface="Be Vietnam Pro"/>
                          <a:cs typeface="Be Vietnam Pro" pitchFamily="34" charset="-120"/>
                        </a:rPr>
                        <a:t>năng</a:t>
                      </a:r>
                      <a:endParaRPr lang="en-US" sz="1200" dirty="0">
                        <a:latin typeface="Be Vietnam Pro"/>
                        <a:ea typeface="Be Vietnam Pro"/>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gn="l">
                        <a:lnSpc>
                          <a:spcPts val="1680"/>
                        </a:lnSpc>
                        <a:buNone/>
                      </a:pPr>
                      <a:r>
                        <a:rPr lang="en-US" sz="1200" b="1" dirty="0">
                          <a:solidFill>
                            <a:srgbClr val="F6F5F1"/>
                          </a:solidFill>
                          <a:latin typeface="Be Vietnam Pro"/>
                          <a:ea typeface="Be Vietnam Pro"/>
                          <a:cs typeface="Be Vietnam Pro" pitchFamily="34" charset="-120"/>
                        </a:rPr>
                        <a:t>Mô tả</a:t>
                      </a:r>
                      <a:endParaRPr lang="en-US" sz="1200" dirty="0">
                        <a:latin typeface="Be Vietnam Pro"/>
                        <a:ea typeface="Be Vietnam Pro"/>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gn="l">
                        <a:lnSpc>
                          <a:spcPts val="1680"/>
                        </a:lnSpc>
                        <a:buNone/>
                      </a:pPr>
                      <a:r>
                        <a:rPr lang="en-US" sz="1200" b="1" dirty="0">
                          <a:solidFill>
                            <a:srgbClr val="F6F5F1"/>
                          </a:solidFill>
                          <a:latin typeface="Be Vietnam Pro"/>
                          <a:ea typeface="Be Vietnam Pro"/>
                          <a:cs typeface="Be Vietnam Pro" pitchFamily="34" charset="-120"/>
                        </a:rPr>
                        <a:t>Giai đoạn</a:t>
                      </a:r>
                      <a:endParaRPr lang="en-US" sz="1200" dirty="0">
                        <a:latin typeface="Be Vietnam Pro"/>
                        <a:ea typeface="Be Vietnam Pro"/>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545902">
                <a:tc>
                  <a:txBody>
                    <a:bodyPr/>
                    <a:lstStyle/>
                    <a:p>
                      <a:pPr marL="0" indent="0" algn="l">
                        <a:lnSpc>
                          <a:spcPts val="1680"/>
                        </a:lnSpc>
                        <a:buNone/>
                      </a:pPr>
                      <a:r>
                        <a:rPr lang="en-US" sz="1200" b="1" dirty="0">
                          <a:solidFill>
                            <a:srgbClr val="13233F"/>
                          </a:solidFill>
                          <a:latin typeface="Be Vietnam Pro"/>
                          <a:ea typeface="Be Vietnam Pro"/>
                          <a:cs typeface="Be Vietnam Pro" pitchFamily="34" charset="-120"/>
                        </a:rPr>
                        <a:t>GD1</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Tổng quan giao dịch, số dư</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Tiền gửi, dư nợ, thanh toán, tài trợ thương mại, ngoại hối</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Ngắn hạn</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gn="l">
                        <a:lnSpc>
                          <a:spcPts val="1680"/>
                        </a:lnSpc>
                        <a:buNone/>
                      </a:pPr>
                      <a:r>
                        <a:rPr lang="en-US" sz="1200" b="1" dirty="0">
                          <a:solidFill>
                            <a:srgbClr val="13233F"/>
                          </a:solidFill>
                          <a:latin typeface="Be Vietnam Pro"/>
                          <a:ea typeface="Be Vietnam Pro"/>
                          <a:cs typeface="Be Vietnam Pro" pitchFamily="34" charset="-120"/>
                        </a:rPr>
                        <a:t>GD2</a:t>
                      </a:r>
                      <a:endParaRPr lang="en-US" sz="1200" dirty="0">
                        <a:latin typeface="Be Vietnam Pro"/>
                        <a:ea typeface="Be Vietnam Pro"/>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Lịch đáo hạn, hạn mức</a:t>
                      </a:r>
                      <a:endParaRPr lang="en-US" sz="1200" dirty="0">
                        <a:latin typeface="Be Vietnam Pro"/>
                        <a:ea typeface="Be Vietnam Pro"/>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Khoản vay, tiền gửi, bảo lãnh, L/C sắp đến hạn; tự tạo nhắc việc</a:t>
                      </a:r>
                      <a:endParaRPr lang="en-US" sz="1200" dirty="0">
                        <a:latin typeface="Be Vietnam Pro"/>
                        <a:ea typeface="Be Vietnam Pro"/>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Ngắn hạn</a:t>
                      </a:r>
                      <a:endParaRPr lang="en-US" sz="1200" dirty="0">
                        <a:latin typeface="Be Vietnam Pro"/>
                        <a:ea typeface="Be Vietnam Pro"/>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2"/>
                  </a:ext>
                </a:extLst>
              </a:tr>
              <a:tr h="545902">
                <a:tc>
                  <a:txBody>
                    <a:bodyPr/>
                    <a:lstStyle/>
                    <a:p>
                      <a:pPr marL="0" indent="0" algn="l">
                        <a:lnSpc>
                          <a:spcPts val="1680"/>
                        </a:lnSpc>
                        <a:buNone/>
                      </a:pPr>
                      <a:r>
                        <a:rPr lang="en-US" sz="1200" b="1" dirty="0">
                          <a:solidFill>
                            <a:srgbClr val="13233F"/>
                          </a:solidFill>
                          <a:latin typeface="Be Vietnam Pro"/>
                          <a:ea typeface="Be Vietnam Pro"/>
                          <a:cs typeface="Be Vietnam Pro" pitchFamily="34" charset="-120"/>
                        </a:rPr>
                        <a:t>GD3</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Cảnh báo biến động</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Dòng tiền về giảm, chuyển tiền nhiều sang ngân hàng khác</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Trung hạn</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3"/>
                  </a:ext>
                </a:extLst>
              </a:tr>
              <a:tr h="545902">
                <a:tc>
                  <a:txBody>
                    <a:bodyPr/>
                    <a:lstStyle/>
                    <a:p>
                      <a:pPr marL="0" indent="0" algn="l">
                        <a:lnSpc>
                          <a:spcPts val="1680"/>
                        </a:lnSpc>
                        <a:buNone/>
                      </a:pPr>
                      <a:r>
                        <a:rPr lang="en-US" sz="1200" b="1" dirty="0">
                          <a:solidFill>
                            <a:srgbClr val="13233F"/>
                          </a:solidFill>
                          <a:latin typeface="Be Vietnam Pro"/>
                          <a:ea typeface="Be Vietnam Pro"/>
                          <a:cs typeface="Be Vietnam Pro" pitchFamily="34" charset="-120"/>
                        </a:rPr>
                        <a:t>GD4</a:t>
                      </a:r>
                      <a:endParaRPr lang="en-US" sz="1200" dirty="0">
                        <a:latin typeface="Be Vietnam Pro"/>
                        <a:ea typeface="Be Vietnam Pro"/>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Thu nhập theo khách hàng</a:t>
                      </a:r>
                      <a:endParaRPr lang="en-US" sz="1200" dirty="0">
                        <a:latin typeface="Be Vietnam Pro"/>
                        <a:ea typeface="Be Vietnam Pro"/>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Thu nhập lãi, phí theo khách hàng; so với tiềm năng của khách hàng</a:t>
                      </a:r>
                      <a:endParaRPr lang="en-US" sz="1200" dirty="0">
                        <a:latin typeface="Be Vietnam Pro"/>
                        <a:ea typeface="Be Vietnam Pro"/>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Trung hạn</a:t>
                      </a:r>
                      <a:endParaRPr lang="en-US" sz="1200" dirty="0">
                        <a:latin typeface="Be Vietnam Pro"/>
                        <a:ea typeface="Be Vietnam Pro"/>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4"/>
                  </a:ext>
                </a:extLst>
              </a:tr>
              <a:tr h="545902">
                <a:tc>
                  <a:txBody>
                    <a:bodyPr/>
                    <a:lstStyle/>
                    <a:p>
                      <a:pPr marL="0" indent="0" algn="l">
                        <a:lnSpc>
                          <a:spcPts val="1680"/>
                        </a:lnSpc>
                        <a:buNone/>
                      </a:pPr>
                      <a:r>
                        <a:rPr lang="en-US" sz="1200" b="1" dirty="0">
                          <a:solidFill>
                            <a:srgbClr val="13233F"/>
                          </a:solidFill>
                          <a:latin typeface="Be Vietnam Pro"/>
                          <a:ea typeface="Be Vietnam Pro"/>
                          <a:cs typeface="Be Vietnam Pro" pitchFamily="34" charset="-120"/>
                        </a:rPr>
                        <a:t>GD5</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AI gợi ý cơ hội</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Từ hành vi: chi lương, thanh toán quốc tế, ngoại hối → gợi ý cho RM</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gn="l">
                        <a:lnSpc>
                          <a:spcPts val="1680"/>
                        </a:lnSpc>
                        <a:buNone/>
                      </a:pPr>
                      <a:r>
                        <a:rPr lang="en-US" sz="1200" dirty="0">
                          <a:solidFill>
                            <a:srgbClr val="13233F"/>
                          </a:solidFill>
                          <a:latin typeface="Be Vietnam Pro"/>
                          <a:ea typeface="Be Vietnam Pro"/>
                          <a:cs typeface="Be Vietnam Pro" pitchFamily="34" charset="-120"/>
                        </a:rPr>
                        <a:t>Trung hạn</a:t>
                      </a:r>
                      <a:endParaRPr lang="en-US" sz="1200" dirty="0">
                        <a:latin typeface="Be Vietnam Pro"/>
                        <a:ea typeface="Be Vietnam Pro"/>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12  ·</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540F"/>
                </a:solidFill>
                <a:latin typeface="Be Vietnam Pro" pitchFamily="34" charset="0"/>
                <a:ea typeface="Be Vietnam Pro" pitchFamily="34" charset="-122"/>
                <a:cs typeface="Be Vietnam Pro" pitchFamily="34" charset="-120"/>
              </a:rPr>
              <a:t>MODULE CỐT LÕI 4 · HIỆU SUẤT HOẠT ĐỘNG</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Điều hành và đánh giá bằng dữ liệu CRM</a:t>
            </a:r>
            <a:endParaRPr lang="en-US" sz="2800" dirty="0"/>
          </a:p>
        </p:txBody>
      </p:sp>
      <p:sp>
        <p:nvSpPr>
          <p:cNvPr id="4" name="Text 2"/>
          <p:cNvSpPr/>
          <p:nvPr/>
        </p:nvSpPr>
        <p:spPr>
          <a:xfrm>
            <a:off x="812800" y="1485801"/>
            <a:ext cx="10092623" cy="434280"/>
          </a:xfrm>
          <a:prstGeom prst="roundRect">
            <a:avLst>
              <a:gd name="adj" fmla="val 17546"/>
            </a:avLst>
          </a:prstGeom>
          <a:solidFill>
            <a:srgbClr val="FBF1E6"/>
          </a:solidFill>
          <a:ln/>
        </p:spPr>
        <p:txBody>
          <a:bodyPr wrap="square" lIns="130082" tIns="79282" rIns="0" bIns="53882" rtlCol="0" anchor="t">
            <a:normAutofit/>
          </a:bodyPr>
          <a:lstStyle/>
          <a:p>
            <a:pPr marL="0" indent="0" algn="l">
              <a:lnSpc>
                <a:spcPts val="1820"/>
              </a:lnSpc>
              <a:buNone/>
            </a:pPr>
            <a:r>
              <a:rPr lang="en-US" sz="1300" b="1" dirty="0">
                <a:solidFill>
                  <a:srgbClr val="13233F"/>
                </a:solidFill>
                <a:latin typeface="Be Vietnam Pro" pitchFamily="34" charset="0"/>
                <a:ea typeface="Be Vietnam Pro" pitchFamily="34" charset="-122"/>
                <a:cs typeface="Be Vietnam Pro" pitchFamily="34" charset="-120"/>
              </a:rPr>
              <a:t>Mục đích:</a:t>
            </a:r>
            <a:r>
              <a:rPr lang="en-US" sz="1300" dirty="0">
                <a:solidFill>
                  <a:srgbClr val="13233F"/>
                </a:solidFill>
                <a:latin typeface="Be Vietnam Pro" pitchFamily="34" charset="0"/>
                <a:ea typeface="Be Vietnam Pro" pitchFamily="34" charset="-122"/>
                <a:cs typeface="Be Vietnam Pro" pitchFamily="34" charset="-120"/>
              </a:rPr>
              <a:t> RM tự theo dõi tiến độ; quản lý điều hành và đánh giá dựa trên CRM thay vì báo cáo thủ công.</a:t>
            </a:r>
            <a:endParaRPr lang="en-US" sz="1300" dirty="0"/>
          </a:p>
        </p:txBody>
      </p:sp>
      <p:sp>
        <p:nvSpPr>
          <p:cNvPr id="5" name="Shape 3"/>
          <p:cNvSpPr/>
          <p:nvPr/>
        </p:nvSpPr>
        <p:spPr>
          <a:xfrm>
            <a:off x="812800" y="2097881"/>
            <a:ext cx="9977120" cy="2994819"/>
          </a:xfrm>
          <a:prstGeom prst="roundRect">
            <a:avLst>
              <a:gd name="adj" fmla="val 2544"/>
            </a:avLst>
          </a:prstGeom>
          <a:solidFill>
            <a:srgbClr val="FDFDFB"/>
          </a:solidFill>
          <a:ln/>
        </p:spPr>
      </p:sp>
      <p:sp>
        <p:nvSpPr>
          <p:cNvPr id="6" name="Shape 4"/>
          <p:cNvSpPr/>
          <p:nvPr/>
        </p:nvSpPr>
        <p:spPr>
          <a:xfrm>
            <a:off x="812800" y="2097881"/>
            <a:ext cx="10092623" cy="2994819"/>
          </a:xfrm>
          <a:custGeom>
            <a:avLst/>
            <a:gdLst/>
            <a:ahLst/>
            <a:cxnLst/>
            <a:rect l="l" t="t" r="r" b="b"/>
            <a:pathLst>
              <a:path w="10566400" h="2994819">
                <a:moveTo>
                  <a:pt x="10490200" y="0"/>
                </a:moveTo>
                <a:lnTo>
                  <a:pt x="10490200" y="0"/>
                </a:lnTo>
                <a:arcTo wR="76200" hR="76200" stAng="16200000" swAng="5400000"/>
                <a:lnTo>
                  <a:pt x="10566400" y="2918619"/>
                </a:lnTo>
                <a:arcTo wR="76200" hR="76200" stAng="0" swAng="5400000"/>
                <a:lnTo>
                  <a:pt x="76200" y="2994819"/>
                </a:lnTo>
                <a:arcTo wR="76200" hR="76200" stAng="5400000" swAng="5400000"/>
                <a:lnTo>
                  <a:pt x="0" y="2918619"/>
                </a:lnTo>
                <a:arcTo wR="76200" hR="69850" stAng="10800000" swAng="-5400000"/>
                <a:lnTo>
                  <a:pt x="10490200" y="2988469"/>
                </a:lnTo>
                <a:arcTo wR="69850" hR="69850" stAng="5400000" swAng="-5400000"/>
                <a:lnTo>
                  <a:pt x="10560050" y="76200"/>
                </a:lnTo>
                <a:arcTo wR="69850" hR="76200" stAng="0" swAng="-5400000"/>
                <a:close/>
              </a:path>
            </a:pathLst>
          </a:custGeom>
          <a:solidFill>
            <a:srgbClr val="DEDBD2"/>
          </a:solidFill>
          <a:ln/>
        </p:spPr>
      </p:sp>
      <p:sp>
        <p:nvSpPr>
          <p:cNvPr id="7" name="Shape 5"/>
          <p:cNvSpPr/>
          <p:nvPr/>
        </p:nvSpPr>
        <p:spPr>
          <a:xfrm>
            <a:off x="812800" y="2097881"/>
            <a:ext cx="10092623" cy="2994819"/>
          </a:xfrm>
          <a:custGeom>
            <a:avLst/>
            <a:gdLst/>
            <a:ahLst/>
            <a:cxnLst/>
            <a:rect l="l" t="t" r="r" b="b"/>
            <a:pathLst>
              <a:path w="10566400" h="2994819">
                <a:moveTo>
                  <a:pt x="76200" y="2994819"/>
                </a:moveTo>
                <a:lnTo>
                  <a:pt x="76200" y="2994819"/>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2918619"/>
                </a:lnTo>
                <a:arcTo wR="63500" hR="762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3334453651"/>
              </p:ext>
            </p:extLst>
          </p:nvPr>
        </p:nvGraphicFramePr>
        <p:xfrm>
          <a:off x="914400" y="2174081"/>
          <a:ext cx="9702266" cy="2848770"/>
        </p:xfrm>
        <a:graphic>
          <a:graphicData uri="http://schemas.openxmlformats.org/drawingml/2006/table">
            <a:tbl>
              <a:tblPr/>
              <a:tblGrid>
                <a:gridCol w="731520">
                  <a:extLst>
                    <a:ext uri="{9D8B030D-6E8A-4147-A177-3AD203B41FA5}">
                      <a16:colId xmlns:a16="http://schemas.microsoft.com/office/drawing/2014/main" val="20000"/>
                    </a:ext>
                  </a:extLst>
                </a:gridCol>
                <a:gridCol w="2950903">
                  <a:extLst>
                    <a:ext uri="{9D8B030D-6E8A-4147-A177-3AD203B41FA5}">
                      <a16:colId xmlns:a16="http://schemas.microsoft.com/office/drawing/2014/main" val="20001"/>
                    </a:ext>
                  </a:extLst>
                </a:gridCol>
                <a:gridCol w="4721445">
                  <a:extLst>
                    <a:ext uri="{9D8B030D-6E8A-4147-A177-3AD203B41FA5}">
                      <a16:colId xmlns:a16="http://schemas.microsoft.com/office/drawing/2014/main" val="20002"/>
                    </a:ext>
                  </a:extLst>
                </a:gridCol>
                <a:gridCol w="1298398">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Mã</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Tính năng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Mô tả</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Giai đoạn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HS1</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Bảng điều hành cho RM và quản lý</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Việc hôm nay, cơ hội bán hàng; xem theo từng cấp quản lý</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Ngắn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HS2</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Chỉ tiêu và kết quả</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Huy động, dư nợ, phí so với kế hoạch, cập nhật hằng ngày</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Ngắn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HS3</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Chỉ số hoạt động RM</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Số cuộc gặp, độ phủ danh mục, khách hàng lâu chưa chăm sóc</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Ngắn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HS4</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Thi đua, tích điểm</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Điểm, huy hiệu, bảng xếp hạng RM, chi nhánh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B"/>
                    </a:solidFill>
                  </a:tcPr>
                </a:tc>
                <a:extLst>
                  <a:ext uri="{0D108BD9-81ED-4DB2-BD59-A6C34878D82A}">
                    <a16:rowId xmlns:a16="http://schemas.microsoft.com/office/drawing/2014/main" val="10004"/>
                  </a:ext>
                </a:extLst>
              </a:tr>
              <a:tr h="545902">
                <a:tc>
                  <a:txBody>
                    <a:bodyPr/>
                    <a:lstStyle/>
                    <a:p>
                      <a:pPr marL="0" indent="0">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HS5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Kết nối KPI đánh giá</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Đẩy chỉ số CRM sang đánh giá; doanh số ghi nhận khi có cơ hội</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13  · </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540F"/>
                </a:solidFill>
                <a:latin typeface="Be Vietnam Pro" pitchFamily="34" charset="0"/>
                <a:ea typeface="Be Vietnam Pro" pitchFamily="34" charset="-122"/>
                <a:cs typeface="Be Vietnam Pro" pitchFamily="34" charset="-120"/>
              </a:rPr>
              <a:t>MODULE ĐỀ XUẤT BỔ SUNG · 1/2</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Chiến dịch, Định giá và đề xuất</a:t>
            </a:r>
            <a:endParaRPr lang="en-US" sz="2800" dirty="0"/>
          </a:p>
        </p:txBody>
      </p:sp>
      <p:sp>
        <p:nvSpPr>
          <p:cNvPr id="4" name="Shape 2"/>
          <p:cNvSpPr/>
          <p:nvPr/>
        </p:nvSpPr>
        <p:spPr>
          <a:xfrm>
            <a:off x="819150" y="1492151"/>
            <a:ext cx="5181600" cy="4406999"/>
          </a:xfrm>
          <a:prstGeom prst="roundRect">
            <a:avLst>
              <a:gd name="adj" fmla="val 2161"/>
            </a:avLst>
          </a:prstGeom>
          <a:solidFill>
            <a:srgbClr val="FDFDFB"/>
          </a:solidFill>
          <a:ln w="12700">
            <a:solidFill>
              <a:srgbClr val="A8540F"/>
            </a:solidFill>
            <a:prstDash val="dash"/>
          </a:ln>
        </p:spPr>
      </p:sp>
      <p:pic>
        <p:nvPicPr>
          <p:cNvPr id="5" name="Image 0" descr="PaperPlane"/>
          <p:cNvPicPr>
            <a:picLocks noChangeAspect="1"/>
          </p:cNvPicPr>
          <p:nvPr/>
        </p:nvPicPr>
        <p:blipFill>
          <a:blip r:embed="rId3"/>
          <a:srcRect/>
          <a:stretch/>
        </p:blipFill>
        <p:spPr>
          <a:xfrm>
            <a:off x="1028700" y="1653381"/>
            <a:ext cx="254000" cy="254000"/>
          </a:xfrm>
          <a:prstGeom prst="rect">
            <a:avLst/>
          </a:prstGeom>
        </p:spPr>
      </p:pic>
      <p:sp>
        <p:nvSpPr>
          <p:cNvPr id="6" name="Text 3"/>
          <p:cNvSpPr/>
          <p:nvPr/>
        </p:nvSpPr>
        <p:spPr>
          <a:xfrm>
            <a:off x="1371600" y="1650901"/>
            <a:ext cx="120312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Chiến dịch</a:t>
            </a:r>
            <a:endParaRPr lang="en-US" sz="1700" dirty="0"/>
          </a:p>
        </p:txBody>
      </p:sp>
      <p:sp>
        <p:nvSpPr>
          <p:cNvPr id="7" name="Text 4"/>
          <p:cNvSpPr/>
          <p:nvPr/>
        </p:nvSpPr>
        <p:spPr>
          <a:xfrm>
            <a:off x="1028700" y="1986161"/>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Vì sao RM cần:</a:t>
            </a:r>
            <a:r>
              <a:rPr lang="en-US" sz="1200" dirty="0">
                <a:solidFill>
                  <a:srgbClr val="13233F"/>
                </a:solidFill>
                <a:latin typeface="Be Vietnam Pro" pitchFamily="34" charset="0"/>
                <a:ea typeface="Be Vietnam Pro" pitchFamily="34" charset="-122"/>
                <a:cs typeface="Be Vietnam Pro" pitchFamily="34" charset="-120"/>
              </a:rPr>
              <a:t> khách hàng tiềm năng từ Hội sở đang giao qua Excel, email; không đo được hiệu quả.</a:t>
            </a:r>
            <a:endParaRPr lang="en-US" sz="1200" dirty="0"/>
          </a:p>
        </p:txBody>
      </p:sp>
      <p:sp>
        <p:nvSpPr>
          <p:cNvPr id="8" name="Text 5"/>
          <p:cNvSpPr/>
          <p:nvPr/>
        </p:nvSpPr>
        <p:spPr>
          <a:xfrm>
            <a:off x="1028700" y="248900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CD1 · Quản lý chiến dịch</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Lọc tệp khách hàng mục tiêu, giao cho RM kèm hạn liên hệ</a:t>
            </a:r>
            <a:endParaRPr lang="en-US" sz="1200" dirty="0"/>
          </a:p>
        </p:txBody>
      </p:sp>
      <p:sp>
        <p:nvSpPr>
          <p:cNvPr id="9" name="Text 6"/>
          <p:cNvSpPr/>
          <p:nvPr/>
        </p:nvSpPr>
        <p:spPr>
          <a:xfrm>
            <a:off x="1028700" y="299184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CD2 · Đo hiệu quả</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Tỷ lệ tiếp cận, chuyển đổi, doanh số theo chiến dịch</a:t>
            </a:r>
            <a:endParaRPr lang="en-US" sz="1200" dirty="0"/>
          </a:p>
        </p:txBody>
      </p:sp>
      <p:sp>
        <p:nvSpPr>
          <p:cNvPr id="10" name="Text 7"/>
          <p:cNvSpPr/>
          <p:nvPr/>
        </p:nvSpPr>
        <p:spPr>
          <a:xfrm>
            <a:off x="1028700" y="3494683"/>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CD3 · AI chọn tệp khách hàng</a:t>
            </a:r>
            <a:r>
              <a:rPr lang="en-US" sz="1200" dirty="0">
                <a:solidFill>
                  <a:srgbClr val="3D4A5C"/>
                </a:solidFill>
                <a:latin typeface="Be Vietnam Pro" pitchFamily="34" charset="0"/>
                <a:ea typeface="Be Vietnam Pro" pitchFamily="34" charset="-122"/>
                <a:cs typeface="Be Vietnam Pro" pitchFamily="34" charset="-120"/>
              </a:rPr>
              <a:t> · Dài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Gợi ý khách hàng phù hợp cho từng chiến dịch</a:t>
            </a:r>
            <a:endParaRPr lang="en-US" sz="1200" dirty="0"/>
          </a:p>
        </p:txBody>
      </p:sp>
      <p:sp>
        <p:nvSpPr>
          <p:cNvPr id="11" name="Text 8"/>
          <p:cNvSpPr/>
          <p:nvPr/>
        </p:nvSpPr>
        <p:spPr>
          <a:xfrm>
            <a:off x="1028700" y="5176639"/>
            <a:ext cx="4762500" cy="563761"/>
          </a:xfrm>
          <a:prstGeom prst="roundRect">
            <a:avLst>
              <a:gd name="adj" fmla="val 11264"/>
            </a:avLst>
          </a:prstGeom>
          <a:solidFill>
            <a:srgbClr val="FBF1E6"/>
          </a:solidFill>
          <a:ln/>
        </p:spPr>
        <p:txBody>
          <a:bodyPr wrap="square" lIns="95701" tIns="57601" rIns="0" bIns="32201"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 90% khách hàng chiến dịch được liên hệ đúng hạn · Dữ liệu, Quy trình</a:t>
            </a:r>
            <a:endParaRPr lang="en-US" sz="1200" dirty="0"/>
          </a:p>
        </p:txBody>
      </p:sp>
      <p:sp>
        <p:nvSpPr>
          <p:cNvPr id="12" name="Shape 9"/>
          <p:cNvSpPr/>
          <p:nvPr/>
        </p:nvSpPr>
        <p:spPr>
          <a:xfrm>
            <a:off x="6191250" y="1492151"/>
            <a:ext cx="5181600" cy="4406999"/>
          </a:xfrm>
          <a:prstGeom prst="roundRect">
            <a:avLst>
              <a:gd name="adj" fmla="val 2161"/>
            </a:avLst>
          </a:prstGeom>
          <a:solidFill>
            <a:srgbClr val="FDFDFB"/>
          </a:solidFill>
          <a:ln w="12700">
            <a:solidFill>
              <a:srgbClr val="A8540F"/>
            </a:solidFill>
            <a:prstDash val="dash"/>
          </a:ln>
        </p:spPr>
      </p:sp>
      <p:pic>
        <p:nvPicPr>
          <p:cNvPr id="13" name="Image 1" descr="Tool"/>
          <p:cNvPicPr>
            <a:picLocks noChangeAspect="1"/>
          </p:cNvPicPr>
          <p:nvPr/>
        </p:nvPicPr>
        <p:blipFill>
          <a:blip r:embed="rId4"/>
          <a:srcRect/>
          <a:stretch/>
        </p:blipFill>
        <p:spPr>
          <a:xfrm>
            <a:off x="6400800" y="1653381"/>
            <a:ext cx="254000" cy="254000"/>
          </a:xfrm>
          <a:prstGeom prst="rect">
            <a:avLst/>
          </a:prstGeom>
        </p:spPr>
      </p:pic>
      <p:sp>
        <p:nvSpPr>
          <p:cNvPr id="14" name="Text 10"/>
          <p:cNvSpPr/>
          <p:nvPr/>
        </p:nvSpPr>
        <p:spPr>
          <a:xfrm>
            <a:off x="6743700" y="1650901"/>
            <a:ext cx="214824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Định giá và đề xuất</a:t>
            </a:r>
            <a:endParaRPr lang="en-US" sz="1700" dirty="0"/>
          </a:p>
        </p:txBody>
      </p:sp>
      <p:sp>
        <p:nvSpPr>
          <p:cNvPr id="15" name="Text 11"/>
          <p:cNvSpPr/>
          <p:nvPr/>
        </p:nvSpPr>
        <p:spPr>
          <a:xfrm>
            <a:off x="6400800" y="1986161"/>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Vì sao RM cần:</a:t>
            </a:r>
            <a:r>
              <a:rPr lang="en-US" sz="1200" dirty="0">
                <a:solidFill>
                  <a:srgbClr val="13233F"/>
                </a:solidFill>
                <a:latin typeface="Be Vietnam Pro" pitchFamily="34" charset="0"/>
                <a:ea typeface="Be Vietnam Pro" pitchFamily="34" charset="-122"/>
                <a:cs typeface="Be Vietnam Pro" pitchFamily="34" charset="-120"/>
              </a:rPr>
              <a:t> RM mất nhiều thời gian tính giá, soạn đề xuất, xin duyệt ưu đãi.</a:t>
            </a:r>
            <a:endParaRPr lang="en-US" sz="1200" dirty="0"/>
          </a:p>
        </p:txBody>
      </p:sp>
      <p:sp>
        <p:nvSpPr>
          <p:cNvPr id="16" name="Text 12"/>
          <p:cNvSpPr/>
          <p:nvPr/>
        </p:nvSpPr>
        <p:spPr>
          <a:xfrm>
            <a:off x="6400800" y="248900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DG1 · Công cụ tính giá</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Lãi suất, phí theo chính sách và mức đóng góp của khách hàng</a:t>
            </a:r>
            <a:endParaRPr lang="en-US" sz="1200" dirty="0"/>
          </a:p>
        </p:txBody>
      </p:sp>
      <p:sp>
        <p:nvSpPr>
          <p:cNvPr id="17" name="Text 13"/>
          <p:cNvSpPr/>
          <p:nvPr/>
        </p:nvSpPr>
        <p:spPr>
          <a:xfrm>
            <a:off x="6400800" y="299184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DG2 · Phê duyệt giá ưu đãi</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Luồng duyệt theo thẩm quyền, lưu vết trên cơ hội</a:t>
            </a:r>
            <a:endParaRPr lang="en-US" sz="1200" dirty="0"/>
          </a:p>
        </p:txBody>
      </p:sp>
      <p:sp>
        <p:nvSpPr>
          <p:cNvPr id="18" name="Text 14"/>
          <p:cNvSpPr/>
          <p:nvPr/>
        </p:nvSpPr>
        <p:spPr>
          <a:xfrm>
            <a:off x="6400800" y="3494683"/>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DG3 · Tạo đề xuất tự động</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Sinh thư chào, đề xuất tài chính từ mẫu chuẩn</a:t>
            </a:r>
            <a:endParaRPr lang="en-US" sz="1200" dirty="0"/>
          </a:p>
        </p:txBody>
      </p:sp>
      <p:sp>
        <p:nvSpPr>
          <p:cNvPr id="19" name="Text 15"/>
          <p:cNvSpPr/>
          <p:nvPr/>
        </p:nvSpPr>
        <p:spPr>
          <a:xfrm>
            <a:off x="6400800" y="5176639"/>
            <a:ext cx="4762500" cy="563761"/>
          </a:xfrm>
          <a:prstGeom prst="roundRect">
            <a:avLst>
              <a:gd name="adj" fmla="val 11264"/>
            </a:avLst>
          </a:prstGeom>
          <a:solidFill>
            <a:srgbClr val="FBF1E6"/>
          </a:solidFill>
          <a:ln/>
        </p:spPr>
        <p:txBody>
          <a:bodyPr wrap="square" lIns="95701" tIns="57601" rIns="0" bIns="32201"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thời gian lập đề xuất, duyệt giá giảm 50% · Thói quen, Quy trình</a:t>
            </a:r>
            <a:endParaRPr lang="en-US" sz="1200" dirty="0"/>
          </a:p>
        </p:txBody>
      </p:sp>
      <p:sp>
        <p:nvSpPr>
          <p:cNvPr id="20"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14  · </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540F"/>
                </a:solidFill>
                <a:latin typeface="Be Vietnam Pro" pitchFamily="34" charset="0"/>
                <a:ea typeface="Be Vietnam Pro" pitchFamily="34" charset="-122"/>
                <a:cs typeface="Be Vietnam Pro" pitchFamily="34" charset="-120"/>
              </a:rPr>
              <a:t>MODULE ĐỀ XUẤT BỔ SUNG · 2/2</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Dịch vụ khách hàng, Cảnh báo sớm</a:t>
            </a:r>
            <a:endParaRPr lang="en-US" sz="2800" dirty="0"/>
          </a:p>
        </p:txBody>
      </p:sp>
      <p:sp>
        <p:nvSpPr>
          <p:cNvPr id="4" name="Shape 2"/>
          <p:cNvSpPr/>
          <p:nvPr/>
        </p:nvSpPr>
        <p:spPr>
          <a:xfrm>
            <a:off x="819150" y="1492151"/>
            <a:ext cx="5181600" cy="4406999"/>
          </a:xfrm>
          <a:prstGeom prst="roundRect">
            <a:avLst>
              <a:gd name="adj" fmla="val 2161"/>
            </a:avLst>
          </a:prstGeom>
          <a:solidFill>
            <a:srgbClr val="FDFDFB"/>
          </a:solidFill>
          <a:ln w="12700">
            <a:solidFill>
              <a:srgbClr val="A8540F"/>
            </a:solidFill>
            <a:prstDash val="dash"/>
          </a:ln>
        </p:spPr>
      </p:sp>
      <p:pic>
        <p:nvPicPr>
          <p:cNvPr id="5" name="Image 0" descr="Wrench"/>
          <p:cNvPicPr>
            <a:picLocks noChangeAspect="1"/>
          </p:cNvPicPr>
          <p:nvPr/>
        </p:nvPicPr>
        <p:blipFill>
          <a:blip r:embed="rId3"/>
          <a:srcRect/>
          <a:stretch/>
        </p:blipFill>
        <p:spPr>
          <a:xfrm>
            <a:off x="1028700" y="1653381"/>
            <a:ext cx="254000" cy="254000"/>
          </a:xfrm>
          <a:prstGeom prst="rect">
            <a:avLst/>
          </a:prstGeom>
        </p:spPr>
      </p:pic>
      <p:sp>
        <p:nvSpPr>
          <p:cNvPr id="6" name="Text 3"/>
          <p:cNvSpPr/>
          <p:nvPr/>
        </p:nvSpPr>
        <p:spPr>
          <a:xfrm>
            <a:off x="1371600" y="1650901"/>
            <a:ext cx="217951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Dịch vụ khách hàng</a:t>
            </a:r>
            <a:endParaRPr lang="en-US" sz="1700" dirty="0"/>
          </a:p>
        </p:txBody>
      </p:sp>
      <p:sp>
        <p:nvSpPr>
          <p:cNvPr id="7" name="Text 4"/>
          <p:cNvSpPr/>
          <p:nvPr/>
        </p:nvSpPr>
        <p:spPr>
          <a:xfrm>
            <a:off x="1028700" y="1986161"/>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Vì sao RM cần:</a:t>
            </a:r>
            <a:r>
              <a:rPr lang="en-US" sz="1200" dirty="0">
                <a:solidFill>
                  <a:srgbClr val="13233F"/>
                </a:solidFill>
                <a:latin typeface="Be Vietnam Pro" pitchFamily="34" charset="0"/>
                <a:ea typeface="Be Vietnam Pro" pitchFamily="34" charset="-122"/>
                <a:cs typeface="Be Vietnam Pro" pitchFamily="34" charset="-120"/>
              </a:rPr>
              <a:t> yêu cầu, khiếu nại khách hàng doanh nghiệp đi qua nhiều kênh; RM không nắm tiến độ.</a:t>
            </a:r>
            <a:endParaRPr lang="en-US" sz="1200" dirty="0"/>
          </a:p>
        </p:txBody>
      </p:sp>
      <p:sp>
        <p:nvSpPr>
          <p:cNvPr id="8" name="Text 5"/>
          <p:cNvSpPr/>
          <p:nvPr/>
        </p:nvSpPr>
        <p:spPr>
          <a:xfrm>
            <a:off x="1028700" y="248900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DV1 · Yêu cầu khách hàng</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Tạo, phân loại, phân công đơn vị xử lý</a:t>
            </a:r>
            <a:endParaRPr lang="en-US" sz="1200" dirty="0"/>
          </a:p>
        </p:txBody>
      </p:sp>
      <p:sp>
        <p:nvSpPr>
          <p:cNvPr id="9" name="Text 6"/>
          <p:cNvSpPr/>
          <p:nvPr/>
        </p:nvSpPr>
        <p:spPr>
          <a:xfrm>
            <a:off x="1028700" y="299184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DV2 · Thời hạn xử lý, cảnh báo quá hạn</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RM theo dõi tiến độ để phản hồi khách hàng</a:t>
            </a:r>
            <a:endParaRPr lang="en-US" sz="1200" dirty="0"/>
          </a:p>
        </p:txBody>
      </p:sp>
      <p:sp>
        <p:nvSpPr>
          <p:cNvPr id="10" name="Text 7"/>
          <p:cNvSpPr/>
          <p:nvPr/>
        </p:nvSpPr>
        <p:spPr>
          <a:xfrm>
            <a:off x="1028700" y="3494683"/>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DV3 · Khảo sát hài lòng</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Sau xử lý yêu cầu, sau giải ngân; kết quả hiện trên 360</a:t>
            </a:r>
            <a:endParaRPr lang="en-US" sz="1200" dirty="0"/>
          </a:p>
        </p:txBody>
      </p:sp>
      <p:sp>
        <p:nvSpPr>
          <p:cNvPr id="11" name="Text 8"/>
          <p:cNvSpPr/>
          <p:nvPr/>
        </p:nvSpPr>
        <p:spPr>
          <a:xfrm>
            <a:off x="1028700" y="5382320"/>
            <a:ext cx="4762500" cy="358080"/>
          </a:xfrm>
          <a:prstGeom prst="roundRect">
            <a:avLst>
              <a:gd name="adj" fmla="val 17733"/>
            </a:avLst>
          </a:prstGeom>
          <a:solidFill>
            <a:srgbClr val="FBF1E6"/>
          </a:solidFill>
          <a:ln/>
        </p:spPr>
        <p:txBody>
          <a:bodyPr wrap="square" lIns="95701" tIns="57601" rIns="0" bIns="32201"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 90% yêu cầu xử lý đúng hạn · Dữ liệu, Quy trình</a:t>
            </a:r>
            <a:endParaRPr lang="en-US" sz="1200" dirty="0"/>
          </a:p>
        </p:txBody>
      </p:sp>
      <p:sp>
        <p:nvSpPr>
          <p:cNvPr id="12" name="Shape 9"/>
          <p:cNvSpPr/>
          <p:nvPr/>
        </p:nvSpPr>
        <p:spPr>
          <a:xfrm>
            <a:off x="6191250" y="1492151"/>
            <a:ext cx="5181600" cy="4406999"/>
          </a:xfrm>
          <a:prstGeom prst="roundRect">
            <a:avLst>
              <a:gd name="adj" fmla="val 2161"/>
            </a:avLst>
          </a:prstGeom>
          <a:solidFill>
            <a:srgbClr val="FDFDFB"/>
          </a:solidFill>
          <a:ln w="12700">
            <a:solidFill>
              <a:srgbClr val="A8540F"/>
            </a:solidFill>
            <a:prstDash val="dash"/>
          </a:ln>
        </p:spPr>
      </p:sp>
      <p:pic>
        <p:nvPicPr>
          <p:cNvPr id="13" name="Image 1" descr="Warning"/>
          <p:cNvPicPr>
            <a:picLocks noChangeAspect="1"/>
          </p:cNvPicPr>
          <p:nvPr/>
        </p:nvPicPr>
        <p:blipFill>
          <a:blip r:embed="rId4"/>
          <a:srcRect/>
          <a:stretch/>
        </p:blipFill>
        <p:spPr>
          <a:xfrm>
            <a:off x="6400800" y="1653381"/>
            <a:ext cx="254000" cy="254000"/>
          </a:xfrm>
          <a:prstGeom prst="rect">
            <a:avLst/>
          </a:prstGeom>
        </p:spPr>
      </p:pic>
      <p:sp>
        <p:nvSpPr>
          <p:cNvPr id="14" name="Text 10"/>
          <p:cNvSpPr/>
          <p:nvPr/>
        </p:nvSpPr>
        <p:spPr>
          <a:xfrm>
            <a:off x="6743700" y="1650901"/>
            <a:ext cx="160317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33F"/>
                </a:solidFill>
                <a:latin typeface="Be Vietnam Pro" pitchFamily="34" charset="0"/>
                <a:ea typeface="Be Vietnam Pro" pitchFamily="34" charset="-122"/>
                <a:cs typeface="Be Vietnam Pro" pitchFamily="34" charset="-120"/>
              </a:rPr>
              <a:t>Cảnh báo sớm</a:t>
            </a:r>
            <a:endParaRPr lang="en-US" sz="1700" dirty="0"/>
          </a:p>
        </p:txBody>
      </p:sp>
      <p:sp>
        <p:nvSpPr>
          <p:cNvPr id="15" name="Text 11"/>
          <p:cNvSpPr/>
          <p:nvPr/>
        </p:nvSpPr>
        <p:spPr>
          <a:xfrm>
            <a:off x="6400800" y="1986161"/>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Vì sao RM cần:</a:t>
            </a:r>
            <a:r>
              <a:rPr lang="en-US" sz="1200" dirty="0">
                <a:solidFill>
                  <a:srgbClr val="13233F"/>
                </a:solidFill>
                <a:latin typeface="Be Vietnam Pro" pitchFamily="34" charset="0"/>
                <a:ea typeface="Be Vietnam Pro" pitchFamily="34" charset="-122"/>
                <a:cs typeface="Be Vietnam Pro" pitchFamily="34" charset="-120"/>
              </a:rPr>
              <a:t> RM thường biết rủi ro của khách hàng khi đã muộn.</a:t>
            </a:r>
            <a:endParaRPr lang="en-US" sz="1200" dirty="0"/>
          </a:p>
        </p:txBody>
      </p:sp>
      <p:sp>
        <p:nvSpPr>
          <p:cNvPr id="16" name="Text 12"/>
          <p:cNvSpPr/>
          <p:nvPr/>
        </p:nvSpPr>
        <p:spPr>
          <a:xfrm>
            <a:off x="6400800" y="248900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CB1 · Tín hiệu nội bộ</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Chậm trả, vượt hạn mức, dòng tiền về giảm mạnh</a:t>
            </a:r>
            <a:endParaRPr lang="en-US" sz="1200" dirty="0"/>
          </a:p>
        </p:txBody>
      </p:sp>
      <p:sp>
        <p:nvSpPr>
          <p:cNvPr id="17" name="Text 13"/>
          <p:cNvSpPr/>
          <p:nvPr/>
        </p:nvSpPr>
        <p:spPr>
          <a:xfrm>
            <a:off x="6400800" y="299184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CB2 · Danh sách theo dõi</a:t>
            </a:r>
            <a:r>
              <a:rPr lang="en-US" sz="1200" dirty="0">
                <a:solidFill>
                  <a:srgbClr val="3D4A5C"/>
                </a:solidFill>
                <a:latin typeface="Be Vietnam Pro" pitchFamily="34" charset="0"/>
                <a:ea typeface="Be Vietnam Pro" pitchFamily="34" charset="-122"/>
                <a:cs typeface="Be Vietnam Pro" pitchFamily="34" charset="-120"/>
              </a:rPr>
              <a:t> · Trung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RM ghi nhận biện pháp; chia sẻ với quản lý rủi ro</a:t>
            </a:r>
            <a:endParaRPr lang="en-US" sz="1200" dirty="0"/>
          </a:p>
        </p:txBody>
      </p:sp>
      <p:sp>
        <p:nvSpPr>
          <p:cNvPr id="18" name="Text 14"/>
          <p:cNvSpPr/>
          <p:nvPr/>
        </p:nvSpPr>
        <p:spPr>
          <a:xfrm>
            <a:off x="6400800" y="3494683"/>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Be Vietnam Pro" pitchFamily="34" charset="0"/>
                <a:ea typeface="Be Vietnam Pro" pitchFamily="34" charset="-122"/>
                <a:cs typeface="Be Vietnam Pro" pitchFamily="34" charset="-120"/>
              </a:rPr>
              <a:t>CB3 · Tín hiệu bên ngoài</a:t>
            </a:r>
            <a:r>
              <a:rPr lang="en-US" sz="1200" dirty="0">
                <a:solidFill>
                  <a:srgbClr val="3D4A5C"/>
                </a:solidFill>
                <a:latin typeface="Be Vietnam Pro" pitchFamily="34" charset="0"/>
                <a:ea typeface="Be Vietnam Pro" pitchFamily="34" charset="-122"/>
                <a:cs typeface="Be Vietnam Pro" pitchFamily="34" charset="-120"/>
              </a:rPr>
              <a:t> · Dài hạn</a:t>
            </a:r>
            <a:endParaRPr lang="en-US" sz="1200" dirty="0"/>
          </a:p>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Thông tin CIC, pháp lý, tin tức tiêu cực về khách hàng</a:t>
            </a:r>
            <a:endParaRPr lang="en-US" sz="1200" dirty="0"/>
          </a:p>
        </p:txBody>
      </p:sp>
      <p:sp>
        <p:nvSpPr>
          <p:cNvPr id="19" name="Text 15"/>
          <p:cNvSpPr/>
          <p:nvPr/>
        </p:nvSpPr>
        <p:spPr>
          <a:xfrm>
            <a:off x="6400800" y="5176639"/>
            <a:ext cx="4762500" cy="563761"/>
          </a:xfrm>
          <a:prstGeom prst="roundRect">
            <a:avLst>
              <a:gd name="adj" fmla="val 11264"/>
            </a:avLst>
          </a:prstGeom>
          <a:solidFill>
            <a:srgbClr val="FBF1E6"/>
          </a:solidFill>
          <a:ln/>
        </p:spPr>
        <p:txBody>
          <a:bodyPr wrap="square" lIns="95701" tIns="57601" rIns="0" bIns="32201"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 80% tín hiệu được RM xử lý trong 5 ngày · Dữ liệu, Thói quen</a:t>
            </a:r>
            <a:endParaRPr lang="en-US" sz="1200" dirty="0"/>
          </a:p>
        </p:txBody>
      </p:sp>
      <p:sp>
        <p:nvSpPr>
          <p:cNvPr id="20"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15  ·</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vi-VN" sz="1200" b="1" kern="0" spc="100" dirty="0">
                <a:solidFill>
                  <a:srgbClr val="1D5FA8"/>
                </a:solidFill>
                <a:latin typeface="Be Vietnam Pro" pitchFamily="34" charset="0"/>
                <a:ea typeface="Be Vietnam Pro" pitchFamily="34" charset="-122"/>
                <a:cs typeface="Be Vietnam Pro" pitchFamily="34" charset="-120"/>
              </a:rPr>
              <a:t>Tính năng AI</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AI triển khai theo mức sẵn sàng của dữ liệu</a:t>
            </a:r>
            <a:endParaRPr lang="en-US" sz="2800" dirty="0"/>
          </a:p>
        </p:txBody>
      </p:sp>
      <p:sp>
        <p:nvSpPr>
          <p:cNvPr id="4" name="Shape 2"/>
          <p:cNvSpPr/>
          <p:nvPr/>
        </p:nvSpPr>
        <p:spPr>
          <a:xfrm>
            <a:off x="812800" y="1764098"/>
            <a:ext cx="10566400" cy="3235259"/>
          </a:xfrm>
          <a:prstGeom prst="roundRect">
            <a:avLst>
              <a:gd name="adj" fmla="val 2295"/>
            </a:avLst>
          </a:prstGeom>
          <a:solidFill>
            <a:srgbClr val="FDFDFB"/>
          </a:solidFill>
          <a:ln/>
        </p:spPr>
        <p:txBody>
          <a:bodyPr/>
          <a:lstStyle/>
          <a:p>
            <a:endParaRPr lang="en-US" dirty="0"/>
          </a:p>
        </p:txBody>
      </p:sp>
      <p:sp>
        <p:nvSpPr>
          <p:cNvPr id="5" name="Shape 3"/>
          <p:cNvSpPr/>
          <p:nvPr/>
        </p:nvSpPr>
        <p:spPr>
          <a:xfrm>
            <a:off x="812800" y="1612801"/>
            <a:ext cx="10566400" cy="3319661"/>
          </a:xfrm>
          <a:custGeom>
            <a:avLst/>
            <a:gdLst/>
            <a:ahLst/>
            <a:cxnLst/>
            <a:rect l="l" t="t" r="r" b="b"/>
            <a:pathLst>
              <a:path w="10566400" h="3319661">
                <a:moveTo>
                  <a:pt x="10490200" y="0"/>
                </a:moveTo>
                <a:lnTo>
                  <a:pt x="10490200" y="0"/>
                </a:lnTo>
                <a:arcTo wR="76200" hR="76200" stAng="16200000" swAng="5400000"/>
                <a:lnTo>
                  <a:pt x="10566400" y="3243461"/>
                </a:lnTo>
                <a:arcTo wR="76200" hR="76200" stAng="0" swAng="5400000"/>
                <a:lnTo>
                  <a:pt x="76200" y="3319661"/>
                </a:lnTo>
                <a:arcTo wR="76200" hR="76200" stAng="5400000" swAng="5400000"/>
                <a:lnTo>
                  <a:pt x="0" y="3243461"/>
                </a:lnTo>
                <a:arcTo wR="76200" hR="69850" stAng="10800000" swAng="-5400000"/>
                <a:lnTo>
                  <a:pt x="10490200" y="3313311"/>
                </a:lnTo>
                <a:arcTo wR="69850" hR="69850" stAng="5400000" swAng="-5400000"/>
                <a:lnTo>
                  <a:pt x="10560050" y="76200"/>
                </a:lnTo>
                <a:arcTo wR="69850" hR="76200" stAng="0" swAng="-5400000"/>
                <a:close/>
              </a:path>
            </a:pathLst>
          </a:custGeom>
          <a:solidFill>
            <a:srgbClr val="D3DAE4"/>
          </a:solidFill>
          <a:ln/>
        </p:spPr>
      </p:sp>
      <p:sp>
        <p:nvSpPr>
          <p:cNvPr id="6" name="Shape 4"/>
          <p:cNvSpPr/>
          <p:nvPr/>
        </p:nvSpPr>
        <p:spPr>
          <a:xfrm>
            <a:off x="812800" y="1612801"/>
            <a:ext cx="10566400" cy="3319661"/>
          </a:xfrm>
          <a:custGeom>
            <a:avLst/>
            <a:gdLst/>
            <a:ahLst/>
            <a:cxnLst/>
            <a:rect l="l" t="t" r="r" b="b"/>
            <a:pathLst>
              <a:path w="10566400" h="3319661">
                <a:moveTo>
                  <a:pt x="76200" y="3319661"/>
                </a:moveTo>
                <a:lnTo>
                  <a:pt x="76200" y="3319661"/>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3243461"/>
                </a:lnTo>
                <a:arcTo wR="6350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812565932"/>
              </p:ext>
            </p:extLst>
          </p:nvPr>
        </p:nvGraphicFramePr>
        <p:xfrm>
          <a:off x="831850" y="1655001"/>
          <a:ext cx="10547350" cy="3235259"/>
        </p:xfrm>
        <a:graphic>
          <a:graphicData uri="http://schemas.openxmlformats.org/drawingml/2006/table">
            <a:tbl>
              <a:tblPr/>
              <a:tblGrid>
                <a:gridCol w="3269678">
                  <a:extLst>
                    <a:ext uri="{9D8B030D-6E8A-4147-A177-3AD203B41FA5}">
                      <a16:colId xmlns:a16="http://schemas.microsoft.com/office/drawing/2014/main" val="20000"/>
                    </a:ext>
                  </a:extLst>
                </a:gridCol>
                <a:gridCol w="1687576">
                  <a:extLst>
                    <a:ext uri="{9D8B030D-6E8A-4147-A177-3AD203B41FA5}">
                      <a16:colId xmlns:a16="http://schemas.microsoft.com/office/drawing/2014/main" val="20001"/>
                    </a:ext>
                  </a:extLst>
                </a:gridCol>
                <a:gridCol w="2109470">
                  <a:extLst>
                    <a:ext uri="{9D8B030D-6E8A-4147-A177-3AD203B41FA5}">
                      <a16:colId xmlns:a16="http://schemas.microsoft.com/office/drawing/2014/main" val="20002"/>
                    </a:ext>
                  </a:extLst>
                </a:gridCol>
                <a:gridCol w="2109470">
                  <a:extLst>
                    <a:ext uri="{9D8B030D-6E8A-4147-A177-3AD203B41FA5}">
                      <a16:colId xmlns:a16="http://schemas.microsoft.com/office/drawing/2014/main" val="20003"/>
                    </a:ext>
                  </a:extLst>
                </a:gridCol>
                <a:gridCol w="1371156">
                  <a:extLst>
                    <a:ext uri="{9D8B030D-6E8A-4147-A177-3AD203B41FA5}">
                      <a16:colId xmlns:a16="http://schemas.microsoft.com/office/drawing/2014/main" val="20004"/>
                    </a:ext>
                  </a:extLst>
                </a:gridCol>
              </a:tblGrid>
              <a:tr h="390599">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Ứng dụng AI</a:t>
                      </a:r>
                      <a:endParaRPr lang="en-US" sz="1200" dirty="0">
                        <a:latin typeface="Be Vietnam Pro" charset="0"/>
                        <a:ea typeface="Be Vietnam Pro" charset="0"/>
                        <a:cs typeface="Be Vietnam Pro" charset="0"/>
                      </a:endParaRPr>
                    </a:p>
                  </a:txBody>
                  <a:tcPr marL="53340" marR="53340" marT="53340" marB="53340">
                    <a:lnL w="0" cap="flat" cmpd="sng" algn="ctr">
                      <a:noFill/>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Module</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Giá trị</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Dữ liệu cần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tc>
                  <a:txBody>
                    <a:bodyPr/>
                    <a:lstStyle/>
                    <a:p>
                      <a:pPr marL="0" indent="0">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Giai đoạn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132035"/>
                      </a:solidFill>
                      <a:prstDash val="solid"/>
                      <a:round/>
                      <a:headEnd type="none" w="med" len="med"/>
                      <a:tailEnd type="none" w="med" len="med"/>
                    </a:lnL>
                    <a:lnR w="12700" cap="flat" cmpd="sng" algn="ctr">
                      <a:solidFill>
                        <a:srgbClr val="132035"/>
                      </a:solidFill>
                      <a:prstDash val="solid"/>
                      <a:round/>
                      <a:headEnd type="none" w="med" len="med"/>
                      <a:tailEnd type="none" w="med" len="med"/>
                    </a:lnR>
                    <a:lnT w="0" cap="flat" cmpd="sng" algn="ctr">
                      <a:noFill/>
                    </a:lnT>
                    <a:lnB w="12700" cap="flat" cmpd="sng" algn="ctr">
                      <a:solidFill>
                        <a:srgbClr val="132035"/>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90599">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Giọng nói → biên bản gặp khách hàng</a:t>
                      </a:r>
                      <a:endParaRPr lang="en-US" sz="1200" dirty="0">
                        <a:latin typeface="Be Vietnam Pro" charset="0"/>
                        <a:ea typeface="Be Vietnam Pro" charset="0"/>
                        <a:cs typeface="Be Vietnam Pro" charset="0"/>
                      </a:endParaRPr>
                    </a:p>
                  </a:txBody>
                  <a:tcPr marL="53340" marR="53340" marT="53340" marB="53340">
                    <a:lnL w="0" cap="flat" cmpd="sng" algn="ctr">
                      <a:noFill/>
                    </a:lnL>
                    <a:lnR w="12700" cap="flat" cmpd="sng" algn="ctr">
                      <a:solidFill>
                        <a:srgbClr val="C2C4C7"/>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Bán hàng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RM bớt nhập liệu</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Ghi âm, ghi chú</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132035"/>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extLst>
                  <a:ext uri="{0D108BD9-81ED-4DB2-BD59-A6C34878D82A}">
                    <a16:rowId xmlns:a16="http://schemas.microsoft.com/office/drawing/2014/main" val="10002"/>
                  </a:ext>
                </a:extLst>
              </a:tr>
              <a:tr h="390599">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Tóm tắt khách hàng trước buổi gặp</a:t>
                      </a:r>
                      <a:endParaRPr lang="en-US" sz="1200" dirty="0">
                        <a:latin typeface="Be Vietnam Pro" charset="0"/>
                        <a:ea typeface="Be Vietnam Pro" charset="0"/>
                        <a:cs typeface="Be Vietnam Pro" charset="0"/>
                      </a:endParaRPr>
                    </a:p>
                  </a:txBody>
                  <a:tcPr marL="53340" marR="53340" marT="53340" marB="53340">
                    <a:lnL w="0" cap="flat" cmpd="sng" algn="ctr">
                      <a:noFill/>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Quản lý khách hàng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Chuẩn bị tốt hơn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Giao dịch, tương tác</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3"/>
                  </a:ext>
                </a:extLst>
              </a:tr>
              <a:tr h="641132">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Chấm điểm khách hàng tiềm năng</a:t>
                      </a:r>
                      <a:endParaRPr lang="en-US" sz="1200" dirty="0">
                        <a:latin typeface="Be Vietnam Pro" charset="0"/>
                        <a:ea typeface="Be Vietnam Pro" charset="0"/>
                        <a:cs typeface="Be Vietnam Pro" charset="0"/>
                      </a:endParaRPr>
                    </a:p>
                  </a:txBody>
                  <a:tcPr marL="53340" marR="53340" marT="53340" marB="53340">
                    <a:lnL w="0" cap="flat" cmpd="sng" algn="ctr">
                      <a:noFill/>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Bán hàng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Tập trung đúng khách hàng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Lịch sử chuyển đổi</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extLst>
                  <a:ext uri="{0D108BD9-81ED-4DB2-BD59-A6C34878D82A}">
                    <a16:rowId xmlns:a16="http://schemas.microsoft.com/office/drawing/2014/main" val="10004"/>
                  </a:ext>
                </a:extLst>
              </a:tr>
              <a:tr h="390599">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Gợi ý cơ hội từ giao dịch</a:t>
                      </a:r>
                      <a:endParaRPr lang="en-US" sz="1200" dirty="0">
                        <a:latin typeface="Be Vietnam Pro" charset="0"/>
                        <a:ea typeface="Be Vietnam Pro" charset="0"/>
                        <a:cs typeface="Be Vietnam Pro" charset="0"/>
                      </a:endParaRPr>
                    </a:p>
                  </a:txBody>
                  <a:tcPr marL="53340" marR="53340" marT="53340" marB="53340">
                    <a:lnL w="0" cap="flat" cmpd="sng" algn="ctr">
                      <a:noFill/>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Giao dịch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Bán chéo đúng lúc</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Lịch sử giao dịch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5"/>
                  </a:ext>
                </a:extLst>
              </a:tr>
              <a:tr h="390599">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Trợ lý hỏi đáp sản phẩm, chính sách</a:t>
                      </a:r>
                      <a:endParaRPr lang="en-US" sz="1200" dirty="0">
                        <a:latin typeface="Be Vietnam Pro" charset="0"/>
                        <a:ea typeface="Be Vietnam Pro" charset="0"/>
                        <a:cs typeface="Be Vietnam Pro" charset="0"/>
                      </a:endParaRPr>
                    </a:p>
                  </a:txBody>
                  <a:tcPr marL="53340" marR="53340" marT="53340" marB="53340">
                    <a:lnL w="0" cap="flat" cmpd="sng" algn="ctr">
                      <a:noFill/>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Toàn hệ thống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Giảm thời gian tra cứu</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Tài liệu nội bộ</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Trung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2C4C7"/>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C4C7"/>
                      </a:solidFill>
                      <a:prstDash val="solid"/>
                      <a:round/>
                      <a:headEnd type="none" w="med" len="med"/>
                      <a:tailEnd type="none" w="med" len="med"/>
                    </a:lnB>
                    <a:solidFill>
                      <a:srgbClr val="F3F6FA"/>
                    </a:solidFill>
                  </a:tcPr>
                </a:tc>
                <a:extLst>
                  <a:ext uri="{0D108BD9-81ED-4DB2-BD59-A6C34878D82A}">
                    <a16:rowId xmlns:a16="http://schemas.microsoft.com/office/drawing/2014/main" val="10006"/>
                  </a:ext>
                </a:extLst>
              </a:tr>
              <a:tr h="641132">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Dự báo doanh số, khả năng thành công</a:t>
                      </a:r>
                      <a:endParaRPr lang="en-US" sz="1200" dirty="0">
                        <a:latin typeface="Be Vietnam Pro" charset="0"/>
                        <a:ea typeface="Be Vietnam Pro" charset="0"/>
                        <a:cs typeface="Be Vietnam Pro" charset="0"/>
                      </a:endParaRPr>
                    </a:p>
                  </a:txBody>
                  <a:tcPr marL="53340" marR="53340" marT="53340" marB="53340">
                    <a:lnL w="0" cap="flat" cmpd="sng" algn="ctr">
                      <a:noFill/>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Bán hàng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Dự báo doanh số</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 12 tháng dữ liệu bán hàng sạch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marL="0" indent="0">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Dài hạn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16  · </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540F"/>
                </a:solidFill>
                <a:latin typeface="Be Vietnam Pro" pitchFamily="34" charset="0"/>
                <a:ea typeface="Be Vietnam Pro" pitchFamily="34" charset="-122"/>
                <a:cs typeface="Be Vietnam Pro" pitchFamily="34" charset="-120"/>
              </a:rPr>
              <a:t>TRUNG HẠN · TÍNH NĂNG 12 · VĂN HÓA DỮ LIỆU</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Bốn đòn bẩy biến CRM thành thói quen</a:t>
            </a:r>
            <a:endParaRPr lang="en-US" sz="2800" dirty="0"/>
          </a:p>
        </p:txBody>
      </p:sp>
      <p:sp>
        <p:nvSpPr>
          <p:cNvPr id="4" name="Shape 2"/>
          <p:cNvSpPr/>
          <p:nvPr/>
        </p:nvSpPr>
        <p:spPr>
          <a:xfrm>
            <a:off x="815975" y="1641376"/>
            <a:ext cx="5200650" cy="1067991"/>
          </a:xfrm>
          <a:prstGeom prst="roundRect">
            <a:avLst>
              <a:gd name="adj" fmla="val 9216"/>
            </a:avLst>
          </a:prstGeom>
          <a:solidFill>
            <a:srgbClr val="FDFDFB"/>
          </a:solidFill>
          <a:ln w="6350">
            <a:solidFill>
              <a:srgbClr val="D3DAE4"/>
            </a:solidFill>
            <a:prstDash val="solid"/>
          </a:ln>
        </p:spPr>
      </p:sp>
      <p:pic>
        <p:nvPicPr>
          <p:cNvPr id="5" name="Image 0" descr="Chart"/>
          <p:cNvPicPr>
            <a:picLocks noChangeAspect="1"/>
          </p:cNvPicPr>
          <p:nvPr/>
        </p:nvPicPr>
        <p:blipFill>
          <a:blip r:embed="rId3"/>
          <a:srcRect l="-402" r="-402"/>
          <a:stretch/>
        </p:blipFill>
        <p:spPr>
          <a:xfrm>
            <a:off x="996950" y="1822351"/>
            <a:ext cx="224036" cy="304800"/>
          </a:xfrm>
          <a:prstGeom prst="rect">
            <a:avLst/>
          </a:prstGeom>
        </p:spPr>
      </p:pic>
      <p:sp>
        <p:nvSpPr>
          <p:cNvPr id="6" name="Text 3"/>
          <p:cNvSpPr/>
          <p:nvPr/>
        </p:nvSpPr>
        <p:spPr>
          <a:xfrm>
            <a:off x="1373386" y="1822351"/>
            <a:ext cx="459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F"/>
                </a:solidFill>
                <a:latin typeface="Be Vietnam Pro" pitchFamily="34" charset="0"/>
                <a:ea typeface="Be Vietnam Pro" pitchFamily="34" charset="-122"/>
                <a:cs typeface="Be Vietnam Pro" pitchFamily="34" charset="-120"/>
              </a:rPr>
              <a:t>Đo lường và công khai</a:t>
            </a:r>
            <a:endParaRPr lang="en-US" sz="1500" dirty="0"/>
          </a:p>
        </p:txBody>
      </p:sp>
      <p:sp>
        <p:nvSpPr>
          <p:cNvPr id="7" name="Text 4"/>
          <p:cNvSpPr/>
          <p:nvPr/>
        </p:nvSpPr>
        <p:spPr>
          <a:xfrm>
            <a:off x="1373386" y="2101751"/>
            <a:ext cx="45961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Mức độ sử dụng và chất lượng dữ liệu theo chi nhánh, theo RM, cập nhật hằng tuần</a:t>
            </a:r>
            <a:endParaRPr lang="en-US" sz="1200" dirty="0"/>
          </a:p>
        </p:txBody>
      </p:sp>
      <p:sp>
        <p:nvSpPr>
          <p:cNvPr id="8" name="Shape 5"/>
          <p:cNvSpPr/>
          <p:nvPr/>
        </p:nvSpPr>
        <p:spPr>
          <a:xfrm>
            <a:off x="6175375" y="1641376"/>
            <a:ext cx="5200650" cy="1067991"/>
          </a:xfrm>
          <a:prstGeom prst="roundRect">
            <a:avLst>
              <a:gd name="adj" fmla="val 9216"/>
            </a:avLst>
          </a:prstGeom>
          <a:solidFill>
            <a:srgbClr val="FDFDFB"/>
          </a:solidFill>
          <a:ln w="6350">
            <a:solidFill>
              <a:srgbClr val="D3DAE4"/>
            </a:solidFill>
            <a:prstDash val="solid"/>
          </a:ln>
        </p:spPr>
      </p:sp>
      <p:pic>
        <p:nvPicPr>
          <p:cNvPr id="9" name="Image 1" descr="Verified"/>
          <p:cNvPicPr>
            <a:picLocks noChangeAspect="1"/>
          </p:cNvPicPr>
          <p:nvPr/>
        </p:nvPicPr>
        <p:blipFill>
          <a:blip r:embed="rId4"/>
          <a:srcRect l="-566" r="-566"/>
          <a:stretch/>
        </p:blipFill>
        <p:spPr>
          <a:xfrm>
            <a:off x="6356350" y="1822351"/>
            <a:ext cx="186234" cy="304800"/>
          </a:xfrm>
          <a:prstGeom prst="rect">
            <a:avLst/>
          </a:prstGeom>
        </p:spPr>
      </p:pic>
      <p:sp>
        <p:nvSpPr>
          <p:cNvPr id="10" name="Text 6"/>
          <p:cNvSpPr/>
          <p:nvPr/>
        </p:nvSpPr>
        <p:spPr>
          <a:xfrm>
            <a:off x="6694984" y="1822351"/>
            <a:ext cx="46350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F"/>
                </a:solidFill>
                <a:latin typeface="Be Vietnam Pro" pitchFamily="34" charset="0"/>
                <a:ea typeface="Be Vietnam Pro" pitchFamily="34" charset="-122"/>
                <a:cs typeface="Be Vietnam Pro" pitchFamily="34" charset="-120"/>
              </a:rPr>
              <a:t>Gắn KPI đánh giá</a:t>
            </a:r>
            <a:endParaRPr lang="en-US" sz="1500" dirty="0"/>
          </a:p>
        </p:txBody>
      </p:sp>
      <p:sp>
        <p:nvSpPr>
          <p:cNvPr id="11" name="Text 7"/>
          <p:cNvSpPr/>
          <p:nvPr/>
        </p:nvSpPr>
        <p:spPr>
          <a:xfrm>
            <a:off x="6694984" y="2101751"/>
            <a:ext cx="463506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Tiêu chí CRM trong đánh giá RM và lãnh đạo chi nhánh; doanh số chỉ ghi nhận khi có cơ hội trên CRM</a:t>
            </a:r>
            <a:endParaRPr lang="en-US" sz="1200" dirty="0"/>
          </a:p>
        </p:txBody>
      </p:sp>
      <p:sp>
        <p:nvSpPr>
          <p:cNvPr id="12" name="Shape 8"/>
          <p:cNvSpPr/>
          <p:nvPr/>
        </p:nvSpPr>
        <p:spPr>
          <a:xfrm>
            <a:off x="815975" y="2868116"/>
            <a:ext cx="5200650" cy="1067991"/>
          </a:xfrm>
          <a:prstGeom prst="roundRect">
            <a:avLst>
              <a:gd name="adj" fmla="val 9216"/>
            </a:avLst>
          </a:prstGeom>
          <a:solidFill>
            <a:srgbClr val="FDFDFB"/>
          </a:solidFill>
          <a:ln w="6350">
            <a:solidFill>
              <a:srgbClr val="D3DAE4"/>
            </a:solidFill>
            <a:prstDash val="solid"/>
          </a:ln>
        </p:spPr>
      </p:sp>
      <p:pic>
        <p:nvPicPr>
          <p:cNvPr id="13" name="Image 2" descr="Star"/>
          <p:cNvPicPr>
            <a:picLocks noChangeAspect="1"/>
          </p:cNvPicPr>
          <p:nvPr/>
        </p:nvPicPr>
        <p:blipFill>
          <a:blip r:embed="rId5"/>
          <a:srcRect t="-458" b="-458"/>
          <a:stretch/>
        </p:blipFill>
        <p:spPr>
          <a:xfrm>
            <a:off x="996950" y="3049091"/>
            <a:ext cx="270570" cy="304800"/>
          </a:xfrm>
          <a:prstGeom prst="rect">
            <a:avLst/>
          </a:prstGeom>
        </p:spPr>
      </p:pic>
      <p:sp>
        <p:nvSpPr>
          <p:cNvPr id="14" name="Text 9"/>
          <p:cNvSpPr/>
          <p:nvPr/>
        </p:nvSpPr>
        <p:spPr>
          <a:xfrm>
            <a:off x="1419920" y="3049091"/>
            <a:ext cx="45482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F"/>
                </a:solidFill>
                <a:latin typeface="Be Vietnam Pro" pitchFamily="34" charset="0"/>
                <a:ea typeface="Be Vietnam Pro" pitchFamily="34" charset="-122"/>
                <a:cs typeface="Be Vietnam Pro" pitchFamily="34" charset="-120"/>
              </a:rPr>
              <a:t>Thi đua, tích điểm</a:t>
            </a:r>
            <a:endParaRPr lang="en-US" sz="1500" dirty="0"/>
          </a:p>
        </p:txBody>
      </p:sp>
      <p:sp>
        <p:nvSpPr>
          <p:cNvPr id="15" name="Text 10"/>
          <p:cNvSpPr/>
          <p:nvPr/>
        </p:nvSpPr>
        <p:spPr>
          <a:xfrm>
            <a:off x="1419920" y="3328491"/>
            <a:ext cx="45482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Điểm, huy hiệu, bảng xếp hạng; thi đua theo quý giữa các chi nhánh</a:t>
            </a:r>
            <a:endParaRPr lang="en-US" sz="1200" dirty="0"/>
          </a:p>
        </p:txBody>
      </p:sp>
      <p:sp>
        <p:nvSpPr>
          <p:cNvPr id="16" name="Shape 11"/>
          <p:cNvSpPr/>
          <p:nvPr/>
        </p:nvSpPr>
        <p:spPr>
          <a:xfrm>
            <a:off x="6175375" y="2868116"/>
            <a:ext cx="5200650" cy="1067991"/>
          </a:xfrm>
          <a:prstGeom prst="roundRect">
            <a:avLst>
              <a:gd name="adj" fmla="val 9216"/>
            </a:avLst>
          </a:prstGeom>
          <a:solidFill>
            <a:srgbClr val="FDFDFB"/>
          </a:solidFill>
          <a:ln w="6350">
            <a:solidFill>
              <a:srgbClr val="D3DAE4"/>
            </a:solidFill>
            <a:prstDash val="solid"/>
          </a:ln>
        </p:spPr>
      </p:sp>
      <p:pic>
        <p:nvPicPr>
          <p:cNvPr id="17" name="Image 3" descr="Users"/>
          <p:cNvPicPr>
            <a:picLocks noChangeAspect="1"/>
          </p:cNvPicPr>
          <p:nvPr/>
        </p:nvPicPr>
        <p:blipFill>
          <a:blip r:embed="rId6"/>
          <a:srcRect l="-564" r="-564"/>
          <a:stretch/>
        </p:blipFill>
        <p:spPr>
          <a:xfrm>
            <a:off x="6356350" y="3049091"/>
            <a:ext cx="231180" cy="304800"/>
          </a:xfrm>
          <a:prstGeom prst="rect">
            <a:avLst/>
          </a:prstGeom>
        </p:spPr>
      </p:pic>
      <p:sp>
        <p:nvSpPr>
          <p:cNvPr id="18" name="Text 12"/>
          <p:cNvSpPr/>
          <p:nvPr/>
        </p:nvSpPr>
        <p:spPr>
          <a:xfrm>
            <a:off x="6739930" y="3049091"/>
            <a:ext cx="45887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F"/>
                </a:solidFill>
                <a:latin typeface="Be Vietnam Pro" pitchFamily="34" charset="0"/>
                <a:ea typeface="Be Vietnam Pro" pitchFamily="34" charset="-122"/>
                <a:cs typeface="Be Vietnam Pro" pitchFamily="34" charset="-120"/>
              </a:rPr>
              <a:t>RM nòng cốt và đào tạo</a:t>
            </a:r>
            <a:endParaRPr lang="en-US" sz="1500" dirty="0"/>
          </a:p>
        </p:txBody>
      </p:sp>
      <p:sp>
        <p:nvSpPr>
          <p:cNvPr id="19" name="Text 13"/>
          <p:cNvSpPr/>
          <p:nvPr/>
        </p:nvSpPr>
        <p:spPr>
          <a:xfrm>
            <a:off x="6739930" y="3328491"/>
            <a:ext cx="458877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Mỗi chi nhánh 1–2 RM nòng cốt; video ngắn, hỗ trợ tại chỗ; kênh góp ý tính năng</a:t>
            </a:r>
            <a:endParaRPr lang="en-US" sz="1200" dirty="0"/>
          </a:p>
        </p:txBody>
      </p:sp>
      <p:sp>
        <p:nvSpPr>
          <p:cNvPr id="20" name="Text 14"/>
          <p:cNvSpPr/>
          <p:nvPr/>
        </p:nvSpPr>
        <p:spPr>
          <a:xfrm>
            <a:off x="812800" y="4167882"/>
            <a:ext cx="10566400" cy="571500"/>
          </a:xfrm>
          <a:prstGeom prst="roundRect">
            <a:avLst>
              <a:gd name="adj" fmla="val 13333"/>
            </a:avLst>
          </a:prstGeom>
          <a:solidFill>
            <a:srgbClr val="FBF1E6"/>
          </a:solidFill>
          <a:ln/>
        </p:spPr>
        <p:txBody>
          <a:bodyPr wrap="square" lIns="206282" tIns="130082" rIns="0" bIns="104682" rtlCol="0" anchor="t">
            <a:normAutofit/>
          </a:bodyPr>
          <a:lstStyle/>
          <a:p>
            <a:pPr marL="0" indent="0" algn="l">
              <a:lnSpc>
                <a:spcPts val="2100"/>
              </a:lnSpc>
              <a:buNone/>
            </a:pPr>
            <a:r>
              <a:rPr lang="en-US" sz="1500" b="1" dirty="0">
                <a:solidFill>
                  <a:srgbClr val="13233F"/>
                </a:solidFill>
                <a:latin typeface="Be Vietnam Pro" pitchFamily="34" charset="0"/>
                <a:ea typeface="Be Vietnam Pro" pitchFamily="34" charset="-122"/>
                <a:cs typeface="Be Vietnam Pro" pitchFamily="34" charset="-120"/>
              </a:rPr>
              <a:t>Khuyến khích trước, ràng buộc sau: chỉ gắn KPI khi RM đã thấy CRM giúp mình bán hàng.</a:t>
            </a:r>
            <a:endParaRPr lang="en-US" sz="1500" dirty="0"/>
          </a:p>
        </p:txBody>
      </p:sp>
      <p:sp>
        <p:nvSpPr>
          <p:cNvPr id="21"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DÀI HẠN · NỀN TẢNG · XÂY ĐỂ CHUYỂN ĐỔI</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Chuẩn bị từ hôm nay để chuyển đổi không đứt gãy</a:t>
            </a:r>
            <a:endParaRPr lang="en-US" sz="2800" dirty="0"/>
          </a:p>
        </p:txBody>
      </p:sp>
      <p:sp>
        <p:nvSpPr>
          <p:cNvPr id="4" name="Shape 2"/>
          <p:cNvSpPr/>
          <p:nvPr/>
        </p:nvSpPr>
        <p:spPr>
          <a:xfrm>
            <a:off x="819150" y="1779091"/>
            <a:ext cx="3009900" cy="1315541"/>
          </a:xfrm>
          <a:prstGeom prst="roundRect">
            <a:avLst>
              <a:gd name="adj" fmla="val 7240"/>
            </a:avLst>
          </a:prstGeom>
          <a:solidFill>
            <a:srgbClr val="FDFDFB"/>
          </a:solidFill>
          <a:ln w="12700">
            <a:solidFill>
              <a:srgbClr val="1D5FA8"/>
            </a:solidFill>
            <a:prstDash val="solid"/>
          </a:ln>
        </p:spPr>
      </p:sp>
      <p:sp>
        <p:nvSpPr>
          <p:cNvPr id="5" name="Text 3"/>
          <p:cNvSpPr/>
          <p:nvPr/>
        </p:nvSpPr>
        <p:spPr>
          <a:xfrm>
            <a:off x="1003300" y="1963241"/>
            <a:ext cx="272084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CRM1.0</a:t>
            </a:r>
            <a:endParaRPr lang="en-US" sz="1600" dirty="0"/>
          </a:p>
        </p:txBody>
      </p:sp>
      <p:sp>
        <p:nvSpPr>
          <p:cNvPr id="6" name="Text 4"/>
          <p:cNvSpPr/>
          <p:nvPr/>
        </p:nvSpPr>
        <p:spPr>
          <a:xfrm>
            <a:off x="1003300" y="2270522"/>
            <a:ext cx="272084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8 module: Khách hàng, Bán hàng, Giao dịch, Hiệu suất và 4 module bổ sung</a:t>
            </a:r>
            <a:endParaRPr lang="en-US" sz="1200" dirty="0"/>
          </a:p>
        </p:txBody>
      </p:sp>
      <p:pic>
        <p:nvPicPr>
          <p:cNvPr id="7" name="Image 0" descr="arrow-right"/>
          <p:cNvPicPr>
            <a:picLocks noChangeAspect="1"/>
          </p:cNvPicPr>
          <p:nvPr/>
        </p:nvPicPr>
        <p:blipFill>
          <a:blip r:embed="rId3"/>
          <a:srcRect/>
          <a:stretch/>
        </p:blipFill>
        <p:spPr>
          <a:xfrm>
            <a:off x="3962400" y="2297212"/>
            <a:ext cx="508000" cy="279400"/>
          </a:xfrm>
          <a:prstGeom prst="rect">
            <a:avLst/>
          </a:prstGeom>
        </p:spPr>
      </p:pic>
      <p:sp>
        <p:nvSpPr>
          <p:cNvPr id="8" name="Shape 5"/>
          <p:cNvSpPr/>
          <p:nvPr/>
        </p:nvSpPr>
        <p:spPr>
          <a:xfrm>
            <a:off x="4597400" y="1663601"/>
            <a:ext cx="2997200" cy="1546622"/>
          </a:xfrm>
          <a:prstGeom prst="roundRect">
            <a:avLst>
              <a:gd name="adj" fmla="val 6569"/>
            </a:avLst>
          </a:prstGeom>
          <a:solidFill>
            <a:srgbClr val="13233F"/>
          </a:solidFill>
          <a:ln/>
        </p:spPr>
      </p:sp>
      <p:sp>
        <p:nvSpPr>
          <p:cNvPr id="9" name="Text 6"/>
          <p:cNvSpPr/>
          <p:nvPr/>
        </p:nvSpPr>
        <p:spPr>
          <a:xfrm>
            <a:off x="4775200" y="1841401"/>
            <a:ext cx="2720848"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0A45C"/>
                </a:solidFill>
                <a:latin typeface="Be Vietnam Pro" pitchFamily="34" charset="0"/>
                <a:ea typeface="Be Vietnam Pro" pitchFamily="34" charset="-122"/>
                <a:cs typeface="Be Vietnam Pro" pitchFamily="34" charset="-120"/>
              </a:rPr>
              <a:t>Lớp kết nối và cấu trúc dữ liệu chuẩn</a:t>
            </a:r>
            <a:endParaRPr lang="en-US" sz="1600" dirty="0"/>
          </a:p>
        </p:txBody>
      </p:sp>
      <p:sp>
        <p:nvSpPr>
          <p:cNvPr id="10" name="Text 7"/>
          <p:cNvSpPr/>
          <p:nvPr/>
        </p:nvSpPr>
        <p:spPr>
          <a:xfrm>
            <a:off x="4775200" y="2392462"/>
            <a:ext cx="272084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4EE"/>
                </a:solidFill>
                <a:latin typeface="Be Vietnam Pro" pitchFamily="34" charset="0"/>
                <a:ea typeface="Be Vietnam Pro" pitchFamily="34" charset="-122"/>
                <a:cs typeface="Be Vietnam Pro" pitchFamily="34" charset="-120"/>
              </a:rPr>
              <a:t>Hệ thống lõi, hệ thống tín dụng, báo cáo, app di động kết nối qua lớp này</a:t>
            </a:r>
            <a:endParaRPr lang="en-US" sz="1200" dirty="0"/>
          </a:p>
        </p:txBody>
      </p:sp>
      <p:pic>
        <p:nvPicPr>
          <p:cNvPr id="11" name="Image 1" descr="arrow-right"/>
          <p:cNvPicPr>
            <a:picLocks noChangeAspect="1"/>
          </p:cNvPicPr>
          <p:nvPr/>
        </p:nvPicPr>
        <p:blipFill>
          <a:blip r:embed="rId3"/>
          <a:srcRect/>
          <a:stretch/>
        </p:blipFill>
        <p:spPr>
          <a:xfrm>
            <a:off x="7721600" y="2297212"/>
            <a:ext cx="508000" cy="279400"/>
          </a:xfrm>
          <a:prstGeom prst="rect">
            <a:avLst/>
          </a:prstGeom>
        </p:spPr>
      </p:pic>
      <p:sp>
        <p:nvSpPr>
          <p:cNvPr id="12" name="Shape 8"/>
          <p:cNvSpPr/>
          <p:nvPr/>
        </p:nvSpPr>
        <p:spPr>
          <a:xfrm>
            <a:off x="8362950" y="1885752"/>
            <a:ext cx="3009900" cy="1102221"/>
          </a:xfrm>
          <a:prstGeom prst="roundRect">
            <a:avLst>
              <a:gd name="adj" fmla="val 8642"/>
            </a:avLst>
          </a:prstGeom>
          <a:solidFill>
            <a:srgbClr val="FBF1E6"/>
          </a:solidFill>
          <a:ln w="12700">
            <a:solidFill>
              <a:srgbClr val="A8540F"/>
            </a:solidFill>
            <a:prstDash val="dash"/>
          </a:ln>
        </p:spPr>
      </p:sp>
      <p:sp>
        <p:nvSpPr>
          <p:cNvPr id="13" name="Text 9"/>
          <p:cNvSpPr/>
          <p:nvPr/>
        </p:nvSpPr>
        <p:spPr>
          <a:xfrm>
            <a:off x="8547100" y="2069902"/>
            <a:ext cx="272084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CRM hiện đại</a:t>
            </a:r>
            <a:endParaRPr lang="en-US" sz="1600" dirty="0"/>
          </a:p>
        </p:txBody>
      </p:sp>
      <p:sp>
        <p:nvSpPr>
          <p:cNvPr id="14" name="Text 10"/>
          <p:cNvSpPr/>
          <p:nvPr/>
        </p:nvSpPr>
        <p:spPr>
          <a:xfrm>
            <a:off x="8547100" y="2377182"/>
            <a:ext cx="272084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Thay phía sau lớp kết nối, các hệ thống khác không phải sửa</a:t>
            </a:r>
            <a:endParaRPr lang="en-US" sz="1200" dirty="0"/>
          </a:p>
        </p:txBody>
      </p:sp>
      <p:sp>
        <p:nvSpPr>
          <p:cNvPr id="15" name="Shape 11"/>
          <p:cNvSpPr/>
          <p:nvPr/>
        </p:nvSpPr>
        <p:spPr>
          <a:xfrm>
            <a:off x="812800" y="3476923"/>
            <a:ext cx="3420467" cy="0"/>
          </a:xfrm>
          <a:prstGeom prst="line">
            <a:avLst/>
          </a:prstGeom>
          <a:noFill/>
          <a:ln w="25400">
            <a:solidFill>
              <a:srgbClr val="1D5FA8"/>
            </a:solidFill>
            <a:prstDash val="solid"/>
          </a:ln>
        </p:spPr>
      </p:sp>
      <p:sp>
        <p:nvSpPr>
          <p:cNvPr id="16" name="Text 12"/>
          <p:cNvSpPr/>
          <p:nvPr/>
        </p:nvSpPr>
        <p:spPr>
          <a:xfrm>
            <a:off x="812800" y="3616623"/>
            <a:ext cx="352308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33F"/>
                </a:solidFill>
                <a:latin typeface="Be Vietnam Pro" pitchFamily="34" charset="0"/>
                <a:ea typeface="Be Vietnam Pro" pitchFamily="34" charset="-122"/>
                <a:cs typeface="Be Vietnam Pro" pitchFamily="34" charset="-120"/>
              </a:rPr>
              <a:t>Ánh xạ cấu trúc dữ liệu</a:t>
            </a:r>
            <a:endParaRPr lang="en-US" sz="1400" dirty="0"/>
          </a:p>
        </p:txBody>
      </p:sp>
      <p:sp>
        <p:nvSpPr>
          <p:cNvPr id="17" name="Text 13"/>
          <p:cNvSpPr/>
          <p:nvPr/>
        </p:nvSpPr>
        <p:spPr>
          <a:xfrm>
            <a:off x="812800" y="3893443"/>
            <a:ext cx="35230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Thiết kế thực thể CRM1.0 theo chuẩn ngành ngay từ ngắn hạn</a:t>
            </a:r>
            <a:endParaRPr lang="en-US" sz="1200" dirty="0"/>
          </a:p>
        </p:txBody>
      </p:sp>
      <p:sp>
        <p:nvSpPr>
          <p:cNvPr id="18" name="Shape 14"/>
          <p:cNvSpPr/>
          <p:nvPr/>
        </p:nvSpPr>
        <p:spPr>
          <a:xfrm>
            <a:off x="4385667" y="3476923"/>
            <a:ext cx="3420566" cy="0"/>
          </a:xfrm>
          <a:prstGeom prst="line">
            <a:avLst/>
          </a:prstGeom>
          <a:noFill/>
          <a:ln w="25400">
            <a:solidFill>
              <a:srgbClr val="1D5FA8"/>
            </a:solidFill>
            <a:prstDash val="solid"/>
          </a:ln>
        </p:spPr>
      </p:sp>
      <p:sp>
        <p:nvSpPr>
          <p:cNvPr id="19" name="Text 15"/>
          <p:cNvSpPr/>
          <p:nvPr/>
        </p:nvSpPr>
        <p:spPr>
          <a:xfrm>
            <a:off x="4385667" y="3616623"/>
            <a:ext cx="35231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33F"/>
                </a:solidFill>
                <a:latin typeface="Be Vietnam Pro" pitchFamily="34" charset="0"/>
                <a:ea typeface="Be Vietnam Pro" pitchFamily="34" charset="-122"/>
                <a:cs typeface="Be Vietnam Pro" pitchFamily="34" charset="-120"/>
              </a:rPr>
              <a:t>Chuyển dữ liệu theo đợt</a:t>
            </a:r>
            <a:endParaRPr lang="en-US" sz="1400" dirty="0"/>
          </a:p>
        </p:txBody>
      </p:sp>
      <p:sp>
        <p:nvSpPr>
          <p:cNvPr id="20" name="Text 16"/>
          <p:cNvSpPr/>
          <p:nvPr/>
        </p:nvSpPr>
        <p:spPr>
          <a:xfrm>
            <a:off x="4385667" y="3893443"/>
            <a:ext cx="35231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Làm sạch → chạy thử → đối soát → chuyển chính thức</a:t>
            </a:r>
            <a:endParaRPr lang="en-US" sz="1200" dirty="0"/>
          </a:p>
        </p:txBody>
      </p:sp>
      <p:sp>
        <p:nvSpPr>
          <p:cNvPr id="21" name="Shape 17"/>
          <p:cNvSpPr/>
          <p:nvPr/>
        </p:nvSpPr>
        <p:spPr>
          <a:xfrm>
            <a:off x="7958634" y="3476923"/>
            <a:ext cx="3420566" cy="0"/>
          </a:xfrm>
          <a:prstGeom prst="line">
            <a:avLst/>
          </a:prstGeom>
          <a:noFill/>
          <a:ln w="25400">
            <a:solidFill>
              <a:srgbClr val="1D5FA8"/>
            </a:solidFill>
            <a:prstDash val="solid"/>
          </a:ln>
        </p:spPr>
      </p:sp>
      <p:sp>
        <p:nvSpPr>
          <p:cNvPr id="22" name="Text 18"/>
          <p:cNvSpPr/>
          <p:nvPr/>
        </p:nvSpPr>
        <p:spPr>
          <a:xfrm>
            <a:off x="7958634" y="3616623"/>
            <a:ext cx="35231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33F"/>
                </a:solidFill>
                <a:latin typeface="Be Vietnam Pro" pitchFamily="34" charset="0"/>
                <a:ea typeface="Be Vietnam Pro" pitchFamily="34" charset="-122"/>
                <a:cs typeface="Be Vietnam Pro" pitchFamily="34" charset="-120"/>
              </a:rPr>
              <a:t>Chạy song song rồi dừng</a:t>
            </a:r>
            <a:endParaRPr lang="en-US" sz="1400" dirty="0"/>
          </a:p>
        </p:txBody>
      </p:sp>
      <p:sp>
        <p:nvSpPr>
          <p:cNvPr id="23" name="Text 19"/>
          <p:cNvSpPr/>
          <p:nvPr/>
        </p:nvSpPr>
        <p:spPr>
          <a:xfrm>
            <a:off x="7958634" y="3893443"/>
            <a:ext cx="35231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3–6 tháng song song, đối soát số liệu, sau đó dừng CRM1.0</a:t>
            </a:r>
            <a:endParaRPr lang="en-US" sz="1200" dirty="0"/>
          </a:p>
        </p:txBody>
      </p:sp>
      <p:sp>
        <p:nvSpPr>
          <p:cNvPr id="24"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20  ·</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TỔNG HỢP · LỘ TRÌNH TỔNG THỂ</a:t>
            </a:r>
            <a:endParaRPr lang="en-US" sz="1200" dirty="0"/>
          </a:p>
        </p:txBody>
      </p:sp>
      <p:sp>
        <p:nvSpPr>
          <p:cNvPr id="3" name="Text 1"/>
          <p:cNvSpPr/>
          <p:nvPr/>
        </p:nvSpPr>
        <p:spPr>
          <a:xfrm>
            <a:off x="812800" y="1000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Sáu mạch công việc trên ba giai đoạn</a:t>
            </a:r>
            <a:endParaRPr lang="en-US" sz="2800" dirty="0"/>
          </a:p>
        </p:txBody>
      </p:sp>
      <p:sp>
        <p:nvSpPr>
          <p:cNvPr id="4" name="Text 2"/>
          <p:cNvSpPr/>
          <p:nvPr/>
        </p:nvSpPr>
        <p:spPr>
          <a:xfrm>
            <a:off x="787400" y="1612801"/>
            <a:ext cx="1511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F6B7B"/>
                </a:solidFill>
                <a:latin typeface="Be Vietnam Pro" pitchFamily="34" charset="0"/>
                <a:ea typeface="Be Vietnam Pro" pitchFamily="34" charset="-122"/>
                <a:cs typeface="Be Vietnam Pro" pitchFamily="34" charset="-120"/>
              </a:rPr>
              <a:t>Quý 4/2026</a:t>
            </a:r>
            <a:endParaRPr lang="en-US" sz="1200" dirty="0"/>
          </a:p>
        </p:txBody>
      </p:sp>
      <p:sp>
        <p:nvSpPr>
          <p:cNvPr id="5" name="Text 3"/>
          <p:cNvSpPr/>
          <p:nvPr/>
        </p:nvSpPr>
        <p:spPr>
          <a:xfrm>
            <a:off x="2311400" y="1612801"/>
            <a:ext cx="150495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F6B7B"/>
                </a:solidFill>
                <a:latin typeface="Be Vietnam Pro" pitchFamily="34" charset="0"/>
                <a:ea typeface="Be Vietnam Pro" pitchFamily="34" charset="-122"/>
                <a:cs typeface="Be Vietnam Pro" pitchFamily="34" charset="-120"/>
              </a:rPr>
              <a:t>Nửa đầu 2027</a:t>
            </a:r>
            <a:endParaRPr lang="en-US" sz="1200" dirty="0"/>
          </a:p>
        </p:txBody>
      </p:sp>
      <p:sp>
        <p:nvSpPr>
          <p:cNvPr id="6" name="Text 4"/>
          <p:cNvSpPr/>
          <p:nvPr/>
        </p:nvSpPr>
        <p:spPr>
          <a:xfrm>
            <a:off x="3829050" y="1612801"/>
            <a:ext cx="150495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F6B7B"/>
                </a:solidFill>
                <a:latin typeface="Be Vietnam Pro" pitchFamily="34" charset="0"/>
                <a:ea typeface="Be Vietnam Pro" pitchFamily="34" charset="-122"/>
                <a:cs typeface="Be Vietnam Pro" pitchFamily="34" charset="-120"/>
              </a:rPr>
              <a:t>Nửa cuối 2027</a:t>
            </a:r>
            <a:endParaRPr lang="en-US" sz="1200" dirty="0"/>
          </a:p>
        </p:txBody>
      </p:sp>
      <p:sp>
        <p:nvSpPr>
          <p:cNvPr id="7" name="Text 5"/>
          <p:cNvSpPr/>
          <p:nvPr/>
        </p:nvSpPr>
        <p:spPr>
          <a:xfrm>
            <a:off x="5346700" y="1612801"/>
            <a:ext cx="150495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F6B7B"/>
                </a:solidFill>
                <a:latin typeface="Be Vietnam Pro" pitchFamily="34" charset="0"/>
                <a:ea typeface="Be Vietnam Pro" pitchFamily="34" charset="-122"/>
                <a:cs typeface="Be Vietnam Pro" pitchFamily="34" charset="-120"/>
              </a:rPr>
              <a:t>Nửa đầu 2028</a:t>
            </a:r>
            <a:endParaRPr lang="en-US" sz="1200" dirty="0"/>
          </a:p>
        </p:txBody>
      </p:sp>
      <p:sp>
        <p:nvSpPr>
          <p:cNvPr id="8" name="Text 6"/>
          <p:cNvSpPr/>
          <p:nvPr/>
        </p:nvSpPr>
        <p:spPr>
          <a:xfrm>
            <a:off x="6864350" y="1612801"/>
            <a:ext cx="150495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F6B7B"/>
                </a:solidFill>
                <a:latin typeface="Be Vietnam Pro" pitchFamily="34" charset="0"/>
                <a:ea typeface="Be Vietnam Pro" pitchFamily="34" charset="-122"/>
                <a:cs typeface="Be Vietnam Pro" pitchFamily="34" charset="-120"/>
              </a:rPr>
              <a:t>Nửa cuối 2028</a:t>
            </a:r>
            <a:endParaRPr lang="en-US" sz="1200" dirty="0"/>
          </a:p>
        </p:txBody>
      </p:sp>
      <p:sp>
        <p:nvSpPr>
          <p:cNvPr id="9" name="Text 7"/>
          <p:cNvSpPr/>
          <p:nvPr/>
        </p:nvSpPr>
        <p:spPr>
          <a:xfrm>
            <a:off x="8382000" y="1612801"/>
            <a:ext cx="150495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F6B7B"/>
                </a:solidFill>
                <a:latin typeface="Be Vietnam Pro" pitchFamily="34" charset="0"/>
                <a:ea typeface="Be Vietnam Pro" pitchFamily="34" charset="-122"/>
                <a:cs typeface="Be Vietnam Pro" pitchFamily="34" charset="-120"/>
              </a:rPr>
              <a:t>2029</a:t>
            </a:r>
            <a:endParaRPr lang="en-US" sz="1200" dirty="0"/>
          </a:p>
        </p:txBody>
      </p:sp>
      <p:sp>
        <p:nvSpPr>
          <p:cNvPr id="10" name="Text 8"/>
          <p:cNvSpPr/>
          <p:nvPr/>
        </p:nvSpPr>
        <p:spPr>
          <a:xfrm>
            <a:off x="9925050" y="1612801"/>
            <a:ext cx="15049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Giai đoạn</a:t>
            </a:r>
            <a:endParaRPr lang="en-US" sz="1200" dirty="0"/>
          </a:p>
        </p:txBody>
      </p:sp>
      <p:sp>
        <p:nvSpPr>
          <p:cNvPr id="11" name="Text 9"/>
          <p:cNvSpPr/>
          <p:nvPr/>
        </p:nvSpPr>
        <p:spPr>
          <a:xfrm>
            <a:off x="812800" y="1889621"/>
            <a:ext cx="2978150" cy="314920"/>
          </a:xfrm>
          <a:custGeom>
            <a:avLst/>
            <a:gdLst/>
            <a:ahLst/>
            <a:cxnLst/>
            <a:rect l="l" t="t" r="r" b="b"/>
            <a:pathLst>
              <a:path w="2978150" h="314920">
                <a:moveTo>
                  <a:pt x="50800" y="0"/>
                </a:moveTo>
                <a:lnTo>
                  <a:pt x="2927350" y="0"/>
                </a:lnTo>
                <a:arcTo wR="50800" hR="50800" stAng="16200000" swAng="5400000"/>
                <a:lnTo>
                  <a:pt x="2978150" y="264120"/>
                </a:lnTo>
                <a:arcTo wR="50800" hR="50800" stAng="0" swAng="5400000"/>
                <a:lnTo>
                  <a:pt x="50800" y="314920"/>
                </a:lnTo>
                <a:arcTo wR="50800" hR="50800" stAng="5400000" swAng="5400000"/>
                <a:lnTo>
                  <a:pt x="0" y="50800"/>
                </a:lnTo>
                <a:arcTo wR="50800" hR="50800" stAng="10800000" swAng="5400000"/>
                <a:close/>
              </a:path>
            </a:pathLst>
          </a:custGeom>
          <a:solidFill>
            <a:srgbClr val="1D5FA8"/>
          </a:solidFill>
          <a:ln/>
        </p:spPr>
        <p:txBody>
          <a:bodyPr wrap="square" lIns="7652" tIns="50800" rIns="7652" bIns="25400" rtlCol="0" anchor="t">
            <a:normAutofit/>
          </a:bodyPr>
          <a:lstStyle/>
          <a:p>
            <a:pPr marL="0" indent="0" algn="ctr">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Ngắn hạn: Nền móng</a:t>
            </a:r>
            <a:endParaRPr lang="en-US" sz="1200" dirty="0"/>
          </a:p>
        </p:txBody>
      </p:sp>
      <p:sp>
        <p:nvSpPr>
          <p:cNvPr id="12" name="Text 10"/>
          <p:cNvSpPr/>
          <p:nvPr/>
        </p:nvSpPr>
        <p:spPr>
          <a:xfrm>
            <a:off x="3854450" y="1889621"/>
            <a:ext cx="2971800" cy="314920"/>
          </a:xfrm>
          <a:custGeom>
            <a:avLst/>
            <a:gdLst/>
            <a:ahLst/>
            <a:cxnLst/>
            <a:rect l="l" t="t" r="r" b="b"/>
            <a:pathLst>
              <a:path w="2971800" h="314920">
                <a:moveTo>
                  <a:pt x="50800" y="0"/>
                </a:moveTo>
                <a:lnTo>
                  <a:pt x="2921000" y="0"/>
                </a:lnTo>
                <a:arcTo wR="50800" hR="50800" stAng="16200000" swAng="5400000"/>
                <a:lnTo>
                  <a:pt x="2971800" y="264120"/>
                </a:lnTo>
                <a:arcTo wR="50800" hR="50800" stAng="0" swAng="5400000"/>
                <a:lnTo>
                  <a:pt x="50800" y="314920"/>
                </a:lnTo>
                <a:arcTo wR="50800" hR="50800" stAng="5400000" swAng="5400000"/>
                <a:lnTo>
                  <a:pt x="0" y="50800"/>
                </a:lnTo>
                <a:arcTo wR="50800" hR="50800" stAng="10800000" swAng="5400000"/>
                <a:close/>
              </a:path>
            </a:pathLst>
          </a:custGeom>
          <a:solidFill>
            <a:srgbClr val="2B6E5E"/>
          </a:solidFill>
          <a:ln/>
        </p:spPr>
        <p:txBody>
          <a:bodyPr wrap="square" lIns="7747" tIns="50800" rIns="7747" bIns="25400" rtlCol="0" anchor="t">
            <a:normAutofit/>
          </a:bodyPr>
          <a:lstStyle/>
          <a:p>
            <a:pPr marL="0" indent="0" algn="ctr">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Trung hạn: Mở rộng, AI</a:t>
            </a:r>
            <a:endParaRPr lang="en-US" sz="1200" dirty="0"/>
          </a:p>
        </p:txBody>
      </p:sp>
      <p:sp>
        <p:nvSpPr>
          <p:cNvPr id="13" name="Text 11"/>
          <p:cNvSpPr/>
          <p:nvPr/>
        </p:nvSpPr>
        <p:spPr>
          <a:xfrm>
            <a:off x="6889750" y="1889621"/>
            <a:ext cx="2971800" cy="314920"/>
          </a:xfrm>
          <a:custGeom>
            <a:avLst/>
            <a:gdLst/>
            <a:ahLst/>
            <a:cxnLst/>
            <a:rect l="l" t="t" r="r" b="b"/>
            <a:pathLst>
              <a:path w="2971800" h="314920">
                <a:moveTo>
                  <a:pt x="50800" y="0"/>
                </a:moveTo>
                <a:lnTo>
                  <a:pt x="2921000" y="0"/>
                </a:lnTo>
                <a:arcTo wR="50800" hR="50800" stAng="16200000" swAng="5400000"/>
                <a:lnTo>
                  <a:pt x="2971800" y="264120"/>
                </a:lnTo>
                <a:arcTo wR="50800" hR="50800" stAng="0" swAng="5400000"/>
                <a:lnTo>
                  <a:pt x="50800" y="314920"/>
                </a:lnTo>
                <a:arcTo wR="50800" hR="50800" stAng="5400000" swAng="5400000"/>
                <a:lnTo>
                  <a:pt x="0" y="50800"/>
                </a:lnTo>
                <a:arcTo wR="50800" hR="50800" stAng="10800000" swAng="5400000"/>
                <a:close/>
              </a:path>
            </a:pathLst>
          </a:custGeom>
          <a:solidFill>
            <a:srgbClr val="13233F"/>
          </a:solidFill>
          <a:ln/>
        </p:spPr>
        <p:txBody>
          <a:bodyPr wrap="square" lIns="7747" tIns="50800" rIns="7747" bIns="25400" rtlCol="0" anchor="t">
            <a:normAutofit/>
          </a:bodyPr>
          <a:lstStyle/>
          <a:p>
            <a:pPr marL="0" indent="0" algn="ctr">
              <a:lnSpc>
                <a:spcPts val="1680"/>
              </a:lnSpc>
              <a:buNone/>
            </a:pPr>
            <a:r>
              <a:rPr lang="en-US" sz="1200" b="1" dirty="0">
                <a:solidFill>
                  <a:srgbClr val="F6F5F1"/>
                </a:solidFill>
                <a:latin typeface="Be Vietnam Pro" pitchFamily="34" charset="0"/>
                <a:ea typeface="Be Vietnam Pro" pitchFamily="34" charset="-122"/>
                <a:cs typeface="Be Vietnam Pro" pitchFamily="34" charset="-120"/>
              </a:rPr>
              <a:t>Dài hạn: Chuyển đổi</a:t>
            </a:r>
            <a:endParaRPr lang="en-US" sz="1200" dirty="0"/>
          </a:p>
        </p:txBody>
      </p:sp>
      <p:sp>
        <p:nvSpPr>
          <p:cNvPr id="14" name="Text 12"/>
          <p:cNvSpPr/>
          <p:nvPr/>
        </p:nvSpPr>
        <p:spPr>
          <a:xfrm>
            <a:off x="9925050" y="1889621"/>
            <a:ext cx="1504950" cy="3403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Dữ liệu</a:t>
            </a:r>
            <a:endParaRPr lang="en-US" sz="1200" dirty="0"/>
          </a:p>
        </p:txBody>
      </p:sp>
      <p:sp>
        <p:nvSpPr>
          <p:cNvPr id="15" name="Text 13"/>
          <p:cNvSpPr/>
          <p:nvPr/>
        </p:nvSpPr>
        <p:spPr>
          <a:xfrm>
            <a:off x="812800" y="2268041"/>
            <a:ext cx="2978150" cy="497681"/>
          </a:xfrm>
          <a:prstGeom prst="roundRect">
            <a:avLst>
              <a:gd name="adj" fmla="val 10207"/>
            </a:avLst>
          </a:prstGeom>
          <a:solidFill>
            <a:srgbClr val="DCE7F5"/>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Hồ sơ gốc, loại bỏ trùng lặp, tự động điền</a:t>
            </a:r>
            <a:endParaRPr lang="en-US" sz="1200" dirty="0"/>
          </a:p>
        </p:txBody>
      </p:sp>
      <p:sp>
        <p:nvSpPr>
          <p:cNvPr id="16" name="Shape 14"/>
          <p:cNvSpPr/>
          <p:nvPr/>
        </p:nvSpPr>
        <p:spPr>
          <a:xfrm>
            <a:off x="812800" y="2268041"/>
            <a:ext cx="2978150" cy="497681"/>
          </a:xfrm>
          <a:custGeom>
            <a:avLst/>
            <a:gdLst/>
            <a:ahLst/>
            <a:cxnLst/>
            <a:rect l="l" t="t" r="r" b="b"/>
            <a:pathLst>
              <a:path w="2978150" h="497681">
                <a:moveTo>
                  <a:pt x="50800" y="497681"/>
                </a:moveTo>
                <a:lnTo>
                  <a:pt x="50800" y="497681"/>
                </a:lnTo>
                <a:arcTo wR="50800" hR="50800" stAng="5400000" swAng="5400000"/>
                <a:lnTo>
                  <a:pt x="0" y="50800"/>
                </a:lnTo>
                <a:arcTo wR="50800" hR="50800" stAng="10800000" swAng="5400000"/>
                <a:lnTo>
                  <a:pt x="50800" y="0"/>
                </a:lnTo>
                <a:arcTo wR="12700" hR="50800" stAng="16200000" swAng="-5400000"/>
                <a:lnTo>
                  <a:pt x="38100" y="446881"/>
                </a:lnTo>
                <a:arcTo wR="12700" hR="50800" stAng="10800000" swAng="-5400000"/>
                <a:close/>
              </a:path>
            </a:pathLst>
          </a:custGeom>
          <a:solidFill>
            <a:srgbClr val="1D5FA8"/>
          </a:solidFill>
          <a:ln/>
        </p:spPr>
      </p:sp>
      <p:sp>
        <p:nvSpPr>
          <p:cNvPr id="17" name="Text 15"/>
          <p:cNvSpPr/>
          <p:nvPr/>
        </p:nvSpPr>
        <p:spPr>
          <a:xfrm>
            <a:off x="3854450" y="2268041"/>
            <a:ext cx="2971800" cy="497681"/>
          </a:xfrm>
          <a:prstGeom prst="roundRect">
            <a:avLst>
              <a:gd name="adj" fmla="val 10207"/>
            </a:avLst>
          </a:prstGeom>
          <a:solidFill>
            <a:srgbClr val="DCE7F5"/>
          </a:solidFill>
          <a:ln/>
        </p:spPr>
        <p:txBody>
          <a:bodyPr wrap="square" lIns="112121" tIns="35921" rIns="0" bIns="359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Làm giàu dữ liệu, chuẩn cho AI</a:t>
            </a:r>
            <a:endParaRPr lang="en-US" sz="1200" dirty="0"/>
          </a:p>
        </p:txBody>
      </p:sp>
      <p:sp>
        <p:nvSpPr>
          <p:cNvPr id="18" name="Shape 16"/>
          <p:cNvSpPr/>
          <p:nvPr/>
        </p:nvSpPr>
        <p:spPr>
          <a:xfrm>
            <a:off x="3854450" y="2268041"/>
            <a:ext cx="2971800" cy="497681"/>
          </a:xfrm>
          <a:custGeom>
            <a:avLst/>
            <a:gdLst/>
            <a:ahLst/>
            <a:cxnLst/>
            <a:rect l="l" t="t" r="r" b="b"/>
            <a:pathLst>
              <a:path w="2971800" h="497681">
                <a:moveTo>
                  <a:pt x="50800" y="497681"/>
                </a:moveTo>
                <a:lnTo>
                  <a:pt x="50800" y="497681"/>
                </a:lnTo>
                <a:arcTo wR="50800" hR="50800" stAng="5400000" swAng="5400000"/>
                <a:lnTo>
                  <a:pt x="0" y="50800"/>
                </a:lnTo>
                <a:arcTo wR="50800" hR="50800" stAng="10800000" swAng="5400000"/>
                <a:lnTo>
                  <a:pt x="50800" y="0"/>
                </a:lnTo>
                <a:arcTo wR="12700" hR="50800" stAng="16200000" swAng="-5400000"/>
                <a:lnTo>
                  <a:pt x="38100" y="446881"/>
                </a:lnTo>
                <a:arcTo wR="12700" hR="50800" stAng="10800000" swAng="-5400000"/>
                <a:close/>
              </a:path>
            </a:pathLst>
          </a:custGeom>
          <a:solidFill>
            <a:srgbClr val="1D5FA8"/>
          </a:solidFill>
          <a:ln/>
        </p:spPr>
      </p:sp>
      <p:sp>
        <p:nvSpPr>
          <p:cNvPr id="19" name="Text 17"/>
          <p:cNvSpPr/>
          <p:nvPr/>
        </p:nvSpPr>
        <p:spPr>
          <a:xfrm>
            <a:off x="6889750" y="2268041"/>
            <a:ext cx="2971800" cy="497681"/>
          </a:xfrm>
          <a:prstGeom prst="roundRect">
            <a:avLst>
              <a:gd name="adj" fmla="val 10207"/>
            </a:avLst>
          </a:prstGeom>
          <a:solidFill>
            <a:srgbClr val="DCE7F5"/>
          </a:solidFill>
          <a:ln/>
        </p:spPr>
        <p:txBody>
          <a:bodyPr wrap="square" lIns="112121" tIns="35921" rIns="0" bIns="359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Chuyển dữ liệu sang CRM mới</a:t>
            </a:r>
            <a:endParaRPr lang="en-US" sz="1200" dirty="0"/>
          </a:p>
        </p:txBody>
      </p:sp>
      <p:sp>
        <p:nvSpPr>
          <p:cNvPr id="20" name="Shape 18"/>
          <p:cNvSpPr/>
          <p:nvPr/>
        </p:nvSpPr>
        <p:spPr>
          <a:xfrm>
            <a:off x="6889750" y="2268041"/>
            <a:ext cx="2971800" cy="497681"/>
          </a:xfrm>
          <a:custGeom>
            <a:avLst/>
            <a:gdLst/>
            <a:ahLst/>
            <a:cxnLst/>
            <a:rect l="l" t="t" r="r" b="b"/>
            <a:pathLst>
              <a:path w="2971800" h="497681">
                <a:moveTo>
                  <a:pt x="50800" y="497681"/>
                </a:moveTo>
                <a:lnTo>
                  <a:pt x="50800" y="497681"/>
                </a:lnTo>
                <a:arcTo wR="50800" hR="50800" stAng="5400000" swAng="5400000"/>
                <a:lnTo>
                  <a:pt x="0" y="50800"/>
                </a:lnTo>
                <a:arcTo wR="50800" hR="50800" stAng="10800000" swAng="5400000"/>
                <a:lnTo>
                  <a:pt x="50800" y="0"/>
                </a:lnTo>
                <a:arcTo wR="12700" hR="50800" stAng="16200000" swAng="-5400000"/>
                <a:lnTo>
                  <a:pt x="38100" y="446881"/>
                </a:lnTo>
                <a:arcTo wR="12700" hR="50800" stAng="10800000" swAng="-5400000"/>
                <a:close/>
              </a:path>
            </a:pathLst>
          </a:custGeom>
          <a:solidFill>
            <a:srgbClr val="1D5FA8"/>
          </a:solidFill>
          <a:ln/>
        </p:spPr>
      </p:sp>
      <p:sp>
        <p:nvSpPr>
          <p:cNvPr id="21" name="Text 19"/>
          <p:cNvSpPr/>
          <p:nvPr/>
        </p:nvSpPr>
        <p:spPr>
          <a:xfrm>
            <a:off x="9925050" y="2268041"/>
            <a:ext cx="1504950" cy="52308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Quy trình</a:t>
            </a:r>
            <a:endParaRPr lang="en-US" sz="1200" dirty="0"/>
          </a:p>
        </p:txBody>
      </p:sp>
      <p:sp>
        <p:nvSpPr>
          <p:cNvPr id="22" name="Text 20"/>
          <p:cNvSpPr/>
          <p:nvPr/>
        </p:nvSpPr>
        <p:spPr>
          <a:xfrm>
            <a:off x="812800" y="2829223"/>
            <a:ext cx="2978150" cy="497681"/>
          </a:xfrm>
          <a:prstGeom prst="roundRect">
            <a:avLst>
              <a:gd name="adj" fmla="val 10207"/>
            </a:avLst>
          </a:prstGeom>
          <a:solidFill>
            <a:srgbClr val="D9EBE5"/>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Giai đoạn chuẩn, biên bản gặp khách hàng</a:t>
            </a:r>
            <a:endParaRPr lang="en-US" sz="1200" dirty="0"/>
          </a:p>
        </p:txBody>
      </p:sp>
      <p:sp>
        <p:nvSpPr>
          <p:cNvPr id="23" name="Shape 21"/>
          <p:cNvSpPr/>
          <p:nvPr/>
        </p:nvSpPr>
        <p:spPr>
          <a:xfrm>
            <a:off x="812800" y="2829223"/>
            <a:ext cx="2978150" cy="497681"/>
          </a:xfrm>
          <a:custGeom>
            <a:avLst/>
            <a:gdLst/>
            <a:ahLst/>
            <a:cxnLst/>
            <a:rect l="l" t="t" r="r" b="b"/>
            <a:pathLst>
              <a:path w="2978150" h="497681">
                <a:moveTo>
                  <a:pt x="50800" y="497681"/>
                </a:moveTo>
                <a:lnTo>
                  <a:pt x="50800" y="497681"/>
                </a:lnTo>
                <a:arcTo wR="50800" hR="50800" stAng="5400000" swAng="5400000"/>
                <a:lnTo>
                  <a:pt x="0" y="50800"/>
                </a:lnTo>
                <a:arcTo wR="50800" hR="50800" stAng="10800000" swAng="5400000"/>
                <a:lnTo>
                  <a:pt x="50800" y="0"/>
                </a:lnTo>
                <a:arcTo wR="12700" hR="50800" stAng="16200000" swAng="-5400000"/>
                <a:lnTo>
                  <a:pt x="38100" y="446881"/>
                </a:lnTo>
                <a:arcTo wR="12700" hR="50800" stAng="10800000" swAng="-5400000"/>
                <a:close/>
              </a:path>
            </a:pathLst>
          </a:custGeom>
          <a:solidFill>
            <a:srgbClr val="2B6E5E"/>
          </a:solidFill>
          <a:ln/>
        </p:spPr>
      </p:sp>
      <p:sp>
        <p:nvSpPr>
          <p:cNvPr id="24" name="Text 22"/>
          <p:cNvSpPr/>
          <p:nvPr/>
        </p:nvSpPr>
        <p:spPr>
          <a:xfrm>
            <a:off x="3854450" y="2829223"/>
            <a:ext cx="2971800" cy="497681"/>
          </a:xfrm>
          <a:prstGeom prst="roundRect">
            <a:avLst>
              <a:gd name="adj" fmla="val 10207"/>
            </a:avLst>
          </a:prstGeom>
          <a:solidFill>
            <a:srgbClr val="D9EBE5"/>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Cẩm nang, chiến dịch, yêu cầu khách hàng</a:t>
            </a:r>
            <a:endParaRPr lang="en-US" sz="1200" dirty="0"/>
          </a:p>
        </p:txBody>
      </p:sp>
      <p:sp>
        <p:nvSpPr>
          <p:cNvPr id="25" name="Shape 23"/>
          <p:cNvSpPr/>
          <p:nvPr/>
        </p:nvSpPr>
        <p:spPr>
          <a:xfrm>
            <a:off x="3854450" y="2829223"/>
            <a:ext cx="2971800" cy="497681"/>
          </a:xfrm>
          <a:custGeom>
            <a:avLst/>
            <a:gdLst/>
            <a:ahLst/>
            <a:cxnLst/>
            <a:rect l="l" t="t" r="r" b="b"/>
            <a:pathLst>
              <a:path w="2971800" h="497681">
                <a:moveTo>
                  <a:pt x="50800" y="497681"/>
                </a:moveTo>
                <a:lnTo>
                  <a:pt x="50800" y="497681"/>
                </a:lnTo>
                <a:arcTo wR="50800" hR="50800" stAng="5400000" swAng="5400000"/>
                <a:lnTo>
                  <a:pt x="0" y="50800"/>
                </a:lnTo>
                <a:arcTo wR="50800" hR="50800" stAng="10800000" swAng="5400000"/>
                <a:lnTo>
                  <a:pt x="50800" y="0"/>
                </a:lnTo>
                <a:arcTo wR="12700" hR="50800" stAng="16200000" swAng="-5400000"/>
                <a:lnTo>
                  <a:pt x="38100" y="446881"/>
                </a:lnTo>
                <a:arcTo wR="12700" hR="50800" stAng="10800000" swAng="-5400000"/>
                <a:close/>
              </a:path>
            </a:pathLst>
          </a:custGeom>
          <a:solidFill>
            <a:srgbClr val="2B6E5E"/>
          </a:solidFill>
          <a:ln/>
        </p:spPr>
      </p:sp>
      <p:sp>
        <p:nvSpPr>
          <p:cNvPr id="26" name="Text 24"/>
          <p:cNvSpPr/>
          <p:nvPr/>
        </p:nvSpPr>
        <p:spPr>
          <a:xfrm>
            <a:off x="6889750" y="2829223"/>
            <a:ext cx="2971800" cy="497681"/>
          </a:xfrm>
          <a:prstGeom prst="roundRect">
            <a:avLst>
              <a:gd name="adj" fmla="val 10207"/>
            </a:avLst>
          </a:prstGeom>
          <a:solidFill>
            <a:srgbClr val="D9EBE5"/>
          </a:solidFill>
          <a:ln/>
        </p:spPr>
        <p:txBody>
          <a:bodyPr wrap="square" lIns="112121" tIns="35921" rIns="0" bIns="359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Cấu hình trên CRM mới</a:t>
            </a:r>
            <a:endParaRPr lang="en-US" sz="1200" dirty="0"/>
          </a:p>
        </p:txBody>
      </p:sp>
      <p:sp>
        <p:nvSpPr>
          <p:cNvPr id="27" name="Shape 25"/>
          <p:cNvSpPr/>
          <p:nvPr/>
        </p:nvSpPr>
        <p:spPr>
          <a:xfrm>
            <a:off x="6889750" y="2829223"/>
            <a:ext cx="2971800" cy="497681"/>
          </a:xfrm>
          <a:custGeom>
            <a:avLst/>
            <a:gdLst/>
            <a:ahLst/>
            <a:cxnLst/>
            <a:rect l="l" t="t" r="r" b="b"/>
            <a:pathLst>
              <a:path w="2971800" h="497681">
                <a:moveTo>
                  <a:pt x="50800" y="497681"/>
                </a:moveTo>
                <a:lnTo>
                  <a:pt x="50800" y="497681"/>
                </a:lnTo>
                <a:arcTo wR="50800" hR="50800" stAng="5400000" swAng="5400000"/>
                <a:lnTo>
                  <a:pt x="0" y="50800"/>
                </a:lnTo>
                <a:arcTo wR="50800" hR="50800" stAng="10800000" swAng="5400000"/>
                <a:lnTo>
                  <a:pt x="50800" y="0"/>
                </a:lnTo>
                <a:arcTo wR="12700" hR="50800" stAng="16200000" swAng="-5400000"/>
                <a:lnTo>
                  <a:pt x="38100" y="446881"/>
                </a:lnTo>
                <a:arcTo wR="12700" hR="50800" stAng="10800000" swAng="-5400000"/>
                <a:close/>
              </a:path>
            </a:pathLst>
          </a:custGeom>
          <a:solidFill>
            <a:srgbClr val="2B6E5E"/>
          </a:solidFill>
          <a:ln/>
        </p:spPr>
      </p:sp>
      <p:sp>
        <p:nvSpPr>
          <p:cNvPr id="28" name="Text 26"/>
          <p:cNvSpPr/>
          <p:nvPr/>
        </p:nvSpPr>
        <p:spPr>
          <a:xfrm>
            <a:off x="9925050" y="2829223"/>
            <a:ext cx="1504950" cy="52308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Văn hóa dữ liệu</a:t>
            </a:r>
            <a:endParaRPr lang="en-US" sz="1200" dirty="0"/>
          </a:p>
        </p:txBody>
      </p:sp>
      <p:sp>
        <p:nvSpPr>
          <p:cNvPr id="29" name="Text 27"/>
          <p:cNvSpPr/>
          <p:nvPr/>
        </p:nvSpPr>
        <p:spPr>
          <a:xfrm>
            <a:off x="812800" y="3390404"/>
            <a:ext cx="2978150" cy="299641"/>
          </a:xfrm>
          <a:prstGeom prst="roundRect">
            <a:avLst>
              <a:gd name="adj" fmla="val 16954"/>
            </a:avLst>
          </a:prstGeom>
          <a:solidFill>
            <a:srgbClr val="F6E3CF"/>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Bảng điều hành, RM nòng cốt</a:t>
            </a:r>
            <a:endParaRPr lang="en-US" sz="1200" dirty="0"/>
          </a:p>
        </p:txBody>
      </p:sp>
      <p:sp>
        <p:nvSpPr>
          <p:cNvPr id="30" name="Shape 28"/>
          <p:cNvSpPr/>
          <p:nvPr/>
        </p:nvSpPr>
        <p:spPr>
          <a:xfrm>
            <a:off x="812800" y="3390404"/>
            <a:ext cx="2978150" cy="299641"/>
          </a:xfrm>
          <a:custGeom>
            <a:avLst/>
            <a:gdLst/>
            <a:ahLst/>
            <a:cxnLst/>
            <a:rect l="l" t="t" r="r" b="b"/>
            <a:pathLst>
              <a:path w="2978150" h="299641">
                <a:moveTo>
                  <a:pt x="50800" y="299641"/>
                </a:moveTo>
                <a:lnTo>
                  <a:pt x="50800" y="299641"/>
                </a:lnTo>
                <a:arcTo wR="50800" hR="50800" stAng="5400000" swAng="5400000"/>
                <a:lnTo>
                  <a:pt x="0" y="50800"/>
                </a:lnTo>
                <a:arcTo wR="50800" hR="50800" stAng="10800000" swAng="5400000"/>
                <a:lnTo>
                  <a:pt x="50800" y="0"/>
                </a:lnTo>
                <a:arcTo wR="12700" hR="50800" stAng="16200000" swAng="-5400000"/>
                <a:lnTo>
                  <a:pt x="38100" y="248841"/>
                </a:lnTo>
                <a:arcTo wR="12700" hR="50800" stAng="10800000" swAng="-5400000"/>
                <a:close/>
              </a:path>
            </a:pathLst>
          </a:custGeom>
          <a:solidFill>
            <a:srgbClr val="A8540F"/>
          </a:solidFill>
          <a:ln/>
        </p:spPr>
      </p:sp>
      <p:sp>
        <p:nvSpPr>
          <p:cNvPr id="31" name="Text 29"/>
          <p:cNvSpPr/>
          <p:nvPr/>
        </p:nvSpPr>
        <p:spPr>
          <a:xfrm>
            <a:off x="3854450" y="3390404"/>
            <a:ext cx="2971800" cy="299641"/>
          </a:xfrm>
          <a:prstGeom prst="roundRect">
            <a:avLst>
              <a:gd name="adj" fmla="val 16954"/>
            </a:avLst>
          </a:prstGeom>
          <a:solidFill>
            <a:srgbClr val="F6E3CF"/>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KPI đánh giá, thi đua</a:t>
            </a:r>
            <a:endParaRPr lang="en-US" sz="1200" dirty="0"/>
          </a:p>
        </p:txBody>
      </p:sp>
      <p:sp>
        <p:nvSpPr>
          <p:cNvPr id="32" name="Shape 30"/>
          <p:cNvSpPr/>
          <p:nvPr/>
        </p:nvSpPr>
        <p:spPr>
          <a:xfrm>
            <a:off x="3854450" y="3390404"/>
            <a:ext cx="2971800" cy="299641"/>
          </a:xfrm>
          <a:custGeom>
            <a:avLst/>
            <a:gdLst/>
            <a:ahLst/>
            <a:cxnLst/>
            <a:rect l="l" t="t" r="r" b="b"/>
            <a:pathLst>
              <a:path w="2971800" h="299641">
                <a:moveTo>
                  <a:pt x="50800" y="299641"/>
                </a:moveTo>
                <a:lnTo>
                  <a:pt x="50800" y="299641"/>
                </a:lnTo>
                <a:arcTo wR="50800" hR="50800" stAng="5400000" swAng="5400000"/>
                <a:lnTo>
                  <a:pt x="0" y="50800"/>
                </a:lnTo>
                <a:arcTo wR="50800" hR="50800" stAng="10800000" swAng="5400000"/>
                <a:lnTo>
                  <a:pt x="50800" y="0"/>
                </a:lnTo>
                <a:arcTo wR="12700" hR="50800" stAng="16200000" swAng="-5400000"/>
                <a:lnTo>
                  <a:pt x="38100" y="248841"/>
                </a:lnTo>
                <a:arcTo wR="12700" hR="50800" stAng="10800000" swAng="-5400000"/>
                <a:close/>
              </a:path>
            </a:pathLst>
          </a:custGeom>
          <a:solidFill>
            <a:srgbClr val="A8540F"/>
          </a:solidFill>
          <a:ln/>
        </p:spPr>
      </p:sp>
      <p:sp>
        <p:nvSpPr>
          <p:cNvPr id="33" name="Text 31"/>
          <p:cNvSpPr/>
          <p:nvPr/>
        </p:nvSpPr>
        <p:spPr>
          <a:xfrm>
            <a:off x="6889750" y="3390404"/>
            <a:ext cx="2971800" cy="299641"/>
          </a:xfrm>
          <a:prstGeom prst="roundRect">
            <a:avLst>
              <a:gd name="adj" fmla="val 16954"/>
            </a:avLst>
          </a:prstGeom>
          <a:solidFill>
            <a:srgbClr val="F6E3CF"/>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Đào tạo chuyển sang CRM mới</a:t>
            </a:r>
            <a:endParaRPr lang="en-US" sz="1200" dirty="0"/>
          </a:p>
        </p:txBody>
      </p:sp>
      <p:sp>
        <p:nvSpPr>
          <p:cNvPr id="34" name="Shape 32"/>
          <p:cNvSpPr/>
          <p:nvPr/>
        </p:nvSpPr>
        <p:spPr>
          <a:xfrm>
            <a:off x="6889750" y="3390404"/>
            <a:ext cx="2971800" cy="299641"/>
          </a:xfrm>
          <a:custGeom>
            <a:avLst/>
            <a:gdLst/>
            <a:ahLst/>
            <a:cxnLst/>
            <a:rect l="l" t="t" r="r" b="b"/>
            <a:pathLst>
              <a:path w="2971800" h="299641">
                <a:moveTo>
                  <a:pt x="50800" y="299641"/>
                </a:moveTo>
                <a:lnTo>
                  <a:pt x="50800" y="299641"/>
                </a:lnTo>
                <a:arcTo wR="50800" hR="50800" stAng="5400000" swAng="5400000"/>
                <a:lnTo>
                  <a:pt x="0" y="50800"/>
                </a:lnTo>
                <a:arcTo wR="50800" hR="50800" stAng="10800000" swAng="5400000"/>
                <a:lnTo>
                  <a:pt x="50800" y="0"/>
                </a:lnTo>
                <a:arcTo wR="12700" hR="50800" stAng="16200000" swAng="-5400000"/>
                <a:lnTo>
                  <a:pt x="38100" y="248841"/>
                </a:lnTo>
                <a:arcTo wR="12700" hR="50800" stAng="10800000" swAng="-5400000"/>
                <a:close/>
              </a:path>
            </a:pathLst>
          </a:custGeom>
          <a:solidFill>
            <a:srgbClr val="A8540F"/>
          </a:solidFill>
          <a:ln/>
        </p:spPr>
      </p:sp>
      <p:sp>
        <p:nvSpPr>
          <p:cNvPr id="35" name="Text 33"/>
          <p:cNvSpPr/>
          <p:nvPr/>
        </p:nvSpPr>
        <p:spPr>
          <a:xfrm>
            <a:off x="9925050" y="3390404"/>
            <a:ext cx="1504950" cy="325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AI</a:t>
            </a:r>
            <a:endParaRPr lang="en-US" sz="1200" dirty="0"/>
          </a:p>
        </p:txBody>
      </p:sp>
      <p:sp>
        <p:nvSpPr>
          <p:cNvPr id="36" name="Text 34"/>
          <p:cNvSpPr/>
          <p:nvPr/>
        </p:nvSpPr>
        <p:spPr>
          <a:xfrm>
            <a:off x="812800" y="3753545"/>
            <a:ext cx="1460500" cy="299641"/>
          </a:xfrm>
          <a:prstGeom prst="roundRect">
            <a:avLst>
              <a:gd name="adj" fmla="val 16954"/>
            </a:avLst>
          </a:prstGeom>
          <a:solidFill>
            <a:srgbClr val="E1E4EA"/>
          </a:solidFill>
          <a:ln/>
        </p:spPr>
        <p:txBody>
          <a:bodyPr wrap="square" lIns="112121" tIns="35921" rIns="23221"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AI loại trùng</a:t>
            </a:r>
            <a:endParaRPr lang="en-US" sz="1200" dirty="0"/>
          </a:p>
        </p:txBody>
      </p:sp>
      <p:sp>
        <p:nvSpPr>
          <p:cNvPr id="37" name="Shape 35"/>
          <p:cNvSpPr/>
          <p:nvPr/>
        </p:nvSpPr>
        <p:spPr>
          <a:xfrm>
            <a:off x="812800" y="3753545"/>
            <a:ext cx="1460500" cy="299641"/>
          </a:xfrm>
          <a:custGeom>
            <a:avLst/>
            <a:gdLst/>
            <a:ahLst/>
            <a:cxnLst/>
            <a:rect l="l" t="t" r="r" b="b"/>
            <a:pathLst>
              <a:path w="1460500" h="299641">
                <a:moveTo>
                  <a:pt x="50800" y="299641"/>
                </a:moveTo>
                <a:lnTo>
                  <a:pt x="50800" y="299641"/>
                </a:lnTo>
                <a:arcTo wR="50800" hR="50800" stAng="5400000" swAng="5400000"/>
                <a:lnTo>
                  <a:pt x="0" y="50800"/>
                </a:lnTo>
                <a:arcTo wR="50800" hR="50800" stAng="10800000" swAng="5400000"/>
                <a:lnTo>
                  <a:pt x="50800" y="0"/>
                </a:lnTo>
                <a:arcTo wR="12700" hR="50800" stAng="16200000" swAng="-5400000"/>
                <a:lnTo>
                  <a:pt x="38100" y="248841"/>
                </a:lnTo>
                <a:arcTo wR="12700" hR="50800" stAng="10800000" swAng="-5400000"/>
                <a:close/>
              </a:path>
            </a:pathLst>
          </a:custGeom>
          <a:solidFill>
            <a:srgbClr val="13233F"/>
          </a:solidFill>
          <a:ln/>
        </p:spPr>
      </p:sp>
      <p:sp>
        <p:nvSpPr>
          <p:cNvPr id="38" name="Text 36"/>
          <p:cNvSpPr/>
          <p:nvPr/>
        </p:nvSpPr>
        <p:spPr>
          <a:xfrm>
            <a:off x="2336800" y="3753545"/>
            <a:ext cx="2971800" cy="299641"/>
          </a:xfrm>
          <a:prstGeom prst="roundRect">
            <a:avLst>
              <a:gd name="adj" fmla="val 16954"/>
            </a:avLst>
          </a:prstGeom>
          <a:solidFill>
            <a:srgbClr val="E1E4EA"/>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AI biên bản, tóm tắt, chấm điểm</a:t>
            </a:r>
            <a:endParaRPr lang="en-US" sz="1200" dirty="0"/>
          </a:p>
        </p:txBody>
      </p:sp>
      <p:sp>
        <p:nvSpPr>
          <p:cNvPr id="39" name="Shape 37"/>
          <p:cNvSpPr/>
          <p:nvPr/>
        </p:nvSpPr>
        <p:spPr>
          <a:xfrm>
            <a:off x="2336800" y="3753545"/>
            <a:ext cx="2971800" cy="299641"/>
          </a:xfrm>
          <a:custGeom>
            <a:avLst/>
            <a:gdLst/>
            <a:ahLst/>
            <a:cxnLst/>
            <a:rect l="l" t="t" r="r" b="b"/>
            <a:pathLst>
              <a:path w="2971800" h="299641">
                <a:moveTo>
                  <a:pt x="50800" y="299641"/>
                </a:moveTo>
                <a:lnTo>
                  <a:pt x="50800" y="299641"/>
                </a:lnTo>
                <a:arcTo wR="50800" hR="50800" stAng="5400000" swAng="5400000"/>
                <a:lnTo>
                  <a:pt x="0" y="50800"/>
                </a:lnTo>
                <a:arcTo wR="50800" hR="50800" stAng="10800000" swAng="5400000"/>
                <a:lnTo>
                  <a:pt x="50800" y="0"/>
                </a:lnTo>
                <a:arcTo wR="12700" hR="50800" stAng="16200000" swAng="-5400000"/>
                <a:lnTo>
                  <a:pt x="38100" y="248841"/>
                </a:lnTo>
                <a:arcTo wR="12700" hR="50800" stAng="10800000" swAng="-5400000"/>
                <a:close/>
              </a:path>
            </a:pathLst>
          </a:custGeom>
          <a:solidFill>
            <a:srgbClr val="13233F"/>
          </a:solidFill>
          <a:ln/>
        </p:spPr>
      </p:sp>
      <p:sp>
        <p:nvSpPr>
          <p:cNvPr id="40" name="Text 38"/>
          <p:cNvSpPr/>
          <p:nvPr/>
        </p:nvSpPr>
        <p:spPr>
          <a:xfrm>
            <a:off x="5372100" y="3753545"/>
            <a:ext cx="2971800" cy="299641"/>
          </a:xfrm>
          <a:prstGeom prst="roundRect">
            <a:avLst>
              <a:gd name="adj" fmla="val 16954"/>
            </a:avLst>
          </a:prstGeom>
          <a:solidFill>
            <a:srgbClr val="E1E4EA"/>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Dự báo doanh số</a:t>
            </a:r>
            <a:endParaRPr lang="en-US" sz="1200" dirty="0"/>
          </a:p>
        </p:txBody>
      </p:sp>
      <p:sp>
        <p:nvSpPr>
          <p:cNvPr id="41" name="Shape 39"/>
          <p:cNvSpPr/>
          <p:nvPr/>
        </p:nvSpPr>
        <p:spPr>
          <a:xfrm>
            <a:off x="5372100" y="3753545"/>
            <a:ext cx="2971800" cy="299641"/>
          </a:xfrm>
          <a:custGeom>
            <a:avLst/>
            <a:gdLst/>
            <a:ahLst/>
            <a:cxnLst/>
            <a:rect l="l" t="t" r="r" b="b"/>
            <a:pathLst>
              <a:path w="2971800" h="299641">
                <a:moveTo>
                  <a:pt x="50800" y="299641"/>
                </a:moveTo>
                <a:lnTo>
                  <a:pt x="50800" y="299641"/>
                </a:lnTo>
                <a:arcTo wR="50800" hR="50800" stAng="5400000" swAng="5400000"/>
                <a:lnTo>
                  <a:pt x="0" y="50800"/>
                </a:lnTo>
                <a:arcTo wR="50800" hR="50800" stAng="10800000" swAng="5400000"/>
                <a:lnTo>
                  <a:pt x="50800" y="0"/>
                </a:lnTo>
                <a:arcTo wR="12700" hR="50800" stAng="16200000" swAng="-5400000"/>
                <a:lnTo>
                  <a:pt x="38100" y="248841"/>
                </a:lnTo>
                <a:arcTo wR="12700" hR="50800" stAng="10800000" swAng="-5400000"/>
                <a:close/>
              </a:path>
            </a:pathLst>
          </a:custGeom>
          <a:solidFill>
            <a:srgbClr val="13233F"/>
          </a:solidFill>
          <a:ln/>
        </p:spPr>
      </p:sp>
      <p:sp>
        <p:nvSpPr>
          <p:cNvPr id="42" name="Text 40"/>
          <p:cNvSpPr/>
          <p:nvPr/>
        </p:nvSpPr>
        <p:spPr>
          <a:xfrm>
            <a:off x="8407400" y="3753545"/>
            <a:ext cx="1504950" cy="325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CRM hiện đại</a:t>
            </a:r>
            <a:endParaRPr lang="en-US" sz="1200" dirty="0"/>
          </a:p>
        </p:txBody>
      </p:sp>
      <p:sp>
        <p:nvSpPr>
          <p:cNvPr id="43" name="Text 41"/>
          <p:cNvSpPr/>
          <p:nvPr/>
        </p:nvSpPr>
        <p:spPr>
          <a:xfrm>
            <a:off x="812800" y="4116685"/>
            <a:ext cx="2978150" cy="497681"/>
          </a:xfrm>
          <a:prstGeom prst="roundRect">
            <a:avLst>
              <a:gd name="adj" fmla="val 10207"/>
            </a:avLst>
          </a:prstGeom>
          <a:solidFill>
            <a:srgbClr val="13233F"/>
          </a:solidFill>
          <a:ln/>
        </p:spPr>
        <p:txBody>
          <a:bodyPr wrap="square" lIns="74021" tIns="35921" rIns="0" bIns="35921" rtlCol="0" anchor="t">
            <a:normAutofit/>
          </a:bodyPr>
          <a:lstStyle/>
          <a:p>
            <a:pPr marL="0" indent="0" algn="l">
              <a:lnSpc>
                <a:spcPts val="1560"/>
              </a:lnSpc>
              <a:buNone/>
            </a:pPr>
            <a:r>
              <a:rPr lang="en-US" sz="1200" dirty="0">
                <a:solidFill>
                  <a:srgbClr val="F6F5F1"/>
                </a:solidFill>
                <a:latin typeface="Be Vietnam Pro" pitchFamily="34" charset="0"/>
                <a:ea typeface="Be Vietnam Pro" pitchFamily="34" charset="-122"/>
                <a:cs typeface="Be Vietnam Pro" pitchFamily="34" charset="-120"/>
              </a:rPr>
              <a:t>Khảo sát → mời thầu → chạy thử</a:t>
            </a:r>
            <a:endParaRPr lang="en-US" sz="1200" dirty="0"/>
          </a:p>
        </p:txBody>
      </p:sp>
      <p:sp>
        <p:nvSpPr>
          <p:cNvPr id="44" name="Text 42"/>
          <p:cNvSpPr/>
          <p:nvPr/>
        </p:nvSpPr>
        <p:spPr>
          <a:xfrm>
            <a:off x="3854450" y="4116685"/>
            <a:ext cx="1454150" cy="497681"/>
          </a:xfrm>
          <a:prstGeom prst="roundRect">
            <a:avLst>
              <a:gd name="adj" fmla="val 10207"/>
            </a:avLst>
          </a:prstGeom>
          <a:solidFill>
            <a:srgbClr val="13233F"/>
          </a:solidFill>
          <a:ln/>
        </p:spPr>
        <p:txBody>
          <a:bodyPr wrap="square" lIns="74021" tIns="35921" rIns="23221" bIns="10521" rtlCol="0" anchor="t">
            <a:normAutofit/>
          </a:bodyPr>
          <a:lstStyle/>
          <a:p>
            <a:pPr marL="0" indent="0" algn="l">
              <a:lnSpc>
                <a:spcPts val="1560"/>
              </a:lnSpc>
              <a:buNone/>
            </a:pPr>
            <a:r>
              <a:rPr lang="en-US" sz="1200" dirty="0">
                <a:solidFill>
                  <a:srgbClr val="F6F5F1"/>
                </a:solidFill>
                <a:latin typeface="Be Vietnam Pro" pitchFamily="34" charset="0"/>
                <a:ea typeface="Be Vietnam Pro" pitchFamily="34" charset="-122"/>
                <a:cs typeface="Be Vietnam Pro" pitchFamily="34" charset="-120"/>
              </a:rPr>
              <a:t>Ký hợp đồng, thí điểm</a:t>
            </a:r>
            <a:endParaRPr lang="en-US" sz="1200" dirty="0"/>
          </a:p>
        </p:txBody>
      </p:sp>
      <p:sp>
        <p:nvSpPr>
          <p:cNvPr id="45" name="Text 43"/>
          <p:cNvSpPr/>
          <p:nvPr/>
        </p:nvSpPr>
        <p:spPr>
          <a:xfrm>
            <a:off x="5372100" y="4116685"/>
            <a:ext cx="1454150" cy="497681"/>
          </a:xfrm>
          <a:prstGeom prst="roundRect">
            <a:avLst>
              <a:gd name="adj" fmla="val 10207"/>
            </a:avLst>
          </a:prstGeom>
          <a:solidFill>
            <a:srgbClr val="13233F"/>
          </a:solidFill>
          <a:ln/>
        </p:spPr>
        <p:txBody>
          <a:bodyPr wrap="square" lIns="74021" tIns="35921" rIns="23221" bIns="10521" rtlCol="0" anchor="t">
            <a:normAutofit/>
          </a:bodyPr>
          <a:lstStyle/>
          <a:p>
            <a:pPr marL="0" indent="0" algn="l">
              <a:lnSpc>
                <a:spcPts val="1560"/>
              </a:lnSpc>
              <a:buNone/>
            </a:pPr>
            <a:r>
              <a:rPr lang="en-US" sz="1200" dirty="0">
                <a:solidFill>
                  <a:srgbClr val="F6F5F1"/>
                </a:solidFill>
                <a:latin typeface="Be Vietnam Pro" pitchFamily="34" charset="0"/>
                <a:ea typeface="Be Vietnam Pro" pitchFamily="34" charset="-122"/>
                <a:cs typeface="Be Vietnam Pro" pitchFamily="34" charset="-120"/>
              </a:rPr>
              <a:t>Song song, toàn hàng</a:t>
            </a:r>
            <a:endParaRPr lang="en-US" sz="1200" dirty="0"/>
          </a:p>
        </p:txBody>
      </p:sp>
      <p:sp>
        <p:nvSpPr>
          <p:cNvPr id="46" name="Text 44"/>
          <p:cNvSpPr/>
          <p:nvPr/>
        </p:nvSpPr>
        <p:spPr>
          <a:xfrm>
            <a:off x="6889750" y="4116685"/>
            <a:ext cx="1504950" cy="52308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Dừng hệ thống</a:t>
            </a:r>
            <a:endParaRPr lang="en-US" sz="1200" dirty="0"/>
          </a:p>
        </p:txBody>
      </p:sp>
      <p:sp>
        <p:nvSpPr>
          <p:cNvPr id="47" name="Text 45"/>
          <p:cNvSpPr/>
          <p:nvPr/>
        </p:nvSpPr>
        <p:spPr>
          <a:xfrm>
            <a:off x="8407400" y="4116685"/>
            <a:ext cx="2971800" cy="497681"/>
          </a:xfrm>
          <a:prstGeom prst="roundRect">
            <a:avLst>
              <a:gd name="adj" fmla="val 10207"/>
            </a:avLst>
          </a:prstGeom>
          <a:solidFill>
            <a:srgbClr val="ECEAE4"/>
          </a:solidFill>
          <a:ln/>
        </p:spPr>
        <p:txBody>
          <a:bodyPr wrap="square" lIns="112121" tIns="35921" rIns="0" bIns="359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Sales Support</a:t>
            </a:r>
            <a:endParaRPr lang="en-US" sz="1200" dirty="0"/>
          </a:p>
        </p:txBody>
      </p:sp>
      <p:sp>
        <p:nvSpPr>
          <p:cNvPr id="48" name="Shape 46"/>
          <p:cNvSpPr/>
          <p:nvPr/>
        </p:nvSpPr>
        <p:spPr>
          <a:xfrm>
            <a:off x="8407400" y="4116685"/>
            <a:ext cx="2971800" cy="497681"/>
          </a:xfrm>
          <a:custGeom>
            <a:avLst/>
            <a:gdLst/>
            <a:ahLst/>
            <a:cxnLst/>
            <a:rect l="l" t="t" r="r" b="b"/>
            <a:pathLst>
              <a:path w="2971800" h="497681">
                <a:moveTo>
                  <a:pt x="50800" y="497681"/>
                </a:moveTo>
                <a:lnTo>
                  <a:pt x="50800" y="497681"/>
                </a:lnTo>
                <a:arcTo wR="50800" hR="50800" stAng="5400000" swAng="5400000"/>
                <a:lnTo>
                  <a:pt x="0" y="50800"/>
                </a:lnTo>
                <a:arcTo wR="50800" hR="50800" stAng="10800000" swAng="5400000"/>
                <a:lnTo>
                  <a:pt x="50800" y="0"/>
                </a:lnTo>
                <a:arcTo wR="12700" hR="50800" stAng="16200000" swAng="-5400000"/>
                <a:lnTo>
                  <a:pt x="38100" y="446881"/>
                </a:lnTo>
                <a:arcTo wR="12700" hR="50800" stAng="10800000" swAng="-5400000"/>
                <a:close/>
              </a:path>
            </a:pathLst>
          </a:custGeom>
          <a:solidFill>
            <a:srgbClr val="8A97A8"/>
          </a:solidFill>
          <a:ln/>
        </p:spPr>
      </p:sp>
      <p:sp>
        <p:nvSpPr>
          <p:cNvPr id="49" name="Text 47"/>
          <p:cNvSpPr/>
          <p:nvPr/>
        </p:nvSpPr>
        <p:spPr>
          <a:xfrm>
            <a:off x="812800" y="4677866"/>
            <a:ext cx="2978150" cy="299641"/>
          </a:xfrm>
          <a:prstGeom prst="roundRect">
            <a:avLst>
              <a:gd name="adj" fmla="val 16954"/>
            </a:avLst>
          </a:prstGeom>
          <a:solidFill>
            <a:srgbClr val="ECEAE4"/>
          </a:solidFill>
          <a:ln/>
        </p:spPr>
        <p:txBody>
          <a:bodyPr wrap="square" lIns="112121" tIns="35921" rIns="0"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VCRM</a:t>
            </a:r>
            <a:endParaRPr lang="en-US" sz="1200" dirty="0"/>
          </a:p>
        </p:txBody>
      </p:sp>
      <p:sp>
        <p:nvSpPr>
          <p:cNvPr id="50" name="Shape 48"/>
          <p:cNvSpPr/>
          <p:nvPr/>
        </p:nvSpPr>
        <p:spPr>
          <a:xfrm>
            <a:off x="812800" y="4677866"/>
            <a:ext cx="2978150" cy="299641"/>
          </a:xfrm>
          <a:custGeom>
            <a:avLst/>
            <a:gdLst/>
            <a:ahLst/>
            <a:cxnLst/>
            <a:rect l="l" t="t" r="r" b="b"/>
            <a:pathLst>
              <a:path w="2978150" h="299641">
                <a:moveTo>
                  <a:pt x="50800" y="299641"/>
                </a:moveTo>
                <a:lnTo>
                  <a:pt x="50800" y="299641"/>
                </a:lnTo>
                <a:arcTo wR="50800" hR="50800" stAng="5400000" swAng="5400000"/>
                <a:lnTo>
                  <a:pt x="0" y="50800"/>
                </a:lnTo>
                <a:arcTo wR="50800" hR="50800" stAng="10800000" swAng="5400000"/>
                <a:lnTo>
                  <a:pt x="50800" y="0"/>
                </a:lnTo>
                <a:arcTo wR="12700" hR="50800" stAng="16200000" swAng="-5400000"/>
                <a:lnTo>
                  <a:pt x="38100" y="248841"/>
                </a:lnTo>
                <a:arcTo wR="12700" hR="50800" stAng="10800000" swAng="-5400000"/>
                <a:close/>
              </a:path>
            </a:pathLst>
          </a:custGeom>
          <a:solidFill>
            <a:srgbClr val="8A97A8"/>
          </a:solidFill>
          <a:ln/>
        </p:spPr>
      </p:sp>
      <p:sp>
        <p:nvSpPr>
          <p:cNvPr id="51" name="Text 49"/>
          <p:cNvSpPr/>
          <p:nvPr/>
        </p:nvSpPr>
        <p:spPr>
          <a:xfrm>
            <a:off x="3854450" y="4677866"/>
            <a:ext cx="1454150" cy="299641"/>
          </a:xfrm>
          <a:prstGeom prst="roundRect">
            <a:avLst>
              <a:gd name="adj" fmla="val 16954"/>
            </a:avLst>
          </a:prstGeom>
          <a:solidFill>
            <a:srgbClr val="ECEAE4"/>
          </a:solidFill>
          <a:ln/>
        </p:spPr>
        <p:txBody>
          <a:bodyPr wrap="square" lIns="112121" tIns="35921" rIns="23221" bIns="10521" rtlCol="0" anchor="t">
            <a:normAutofit/>
          </a:bodyPr>
          <a:lstStyle/>
          <a:p>
            <a:pPr marL="0" indent="0" algn="l">
              <a:lnSpc>
                <a:spcPts val="1560"/>
              </a:lnSpc>
              <a:buNone/>
            </a:pPr>
            <a:r>
              <a:rPr lang="en-US" sz="1200" dirty="0">
                <a:solidFill>
                  <a:srgbClr val="13233F"/>
                </a:solidFill>
                <a:latin typeface="Be Vietnam Pro" pitchFamily="34" charset="0"/>
                <a:ea typeface="Be Vietnam Pro" pitchFamily="34" charset="-122"/>
                <a:cs typeface="Be Vietnam Pro" pitchFamily="34" charset="-120"/>
              </a:rPr>
              <a:t>CRM1.0</a:t>
            </a:r>
            <a:endParaRPr lang="en-US" sz="1200" dirty="0"/>
          </a:p>
        </p:txBody>
      </p:sp>
      <p:sp>
        <p:nvSpPr>
          <p:cNvPr id="52" name="Shape 50"/>
          <p:cNvSpPr/>
          <p:nvPr/>
        </p:nvSpPr>
        <p:spPr>
          <a:xfrm>
            <a:off x="3854450" y="4677866"/>
            <a:ext cx="1454150" cy="299641"/>
          </a:xfrm>
          <a:custGeom>
            <a:avLst/>
            <a:gdLst/>
            <a:ahLst/>
            <a:cxnLst/>
            <a:rect l="l" t="t" r="r" b="b"/>
            <a:pathLst>
              <a:path w="1454150" h="299641">
                <a:moveTo>
                  <a:pt x="50800" y="299641"/>
                </a:moveTo>
                <a:lnTo>
                  <a:pt x="50800" y="299641"/>
                </a:lnTo>
                <a:arcTo wR="50800" hR="50800" stAng="5400000" swAng="5400000"/>
                <a:lnTo>
                  <a:pt x="0" y="50800"/>
                </a:lnTo>
                <a:arcTo wR="50800" hR="50800" stAng="10800000" swAng="5400000"/>
                <a:lnTo>
                  <a:pt x="50800" y="0"/>
                </a:lnTo>
                <a:arcTo wR="12700" hR="50800" stAng="16200000" swAng="-5400000"/>
                <a:lnTo>
                  <a:pt x="38100" y="248841"/>
                </a:lnTo>
                <a:arcTo wR="12700" hR="50800" stAng="10800000" swAng="-5400000"/>
                <a:close/>
              </a:path>
            </a:pathLst>
          </a:custGeom>
          <a:solidFill>
            <a:srgbClr val="8A97A8"/>
          </a:solidFill>
          <a:ln/>
        </p:spPr>
      </p:sp>
      <p:sp>
        <p:nvSpPr>
          <p:cNvPr id="53" name="Text 5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21  · </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bg>
      <p:bgPr>
        <a:solidFill>
          <a:srgbClr val="13233F"/>
        </a:solidFill>
        <a:effectLst/>
      </p:bgPr>
    </p:bg>
    <p:spTree>
      <p:nvGrpSpPr>
        <p:cNvPr id="1" name=""/>
        <p:cNvGrpSpPr/>
        <p:nvPr/>
      </p:nvGrpSpPr>
      <p:grpSpPr>
        <a:xfrm>
          <a:off x="0" y="0"/>
          <a:ext cx="0" cy="0"/>
          <a:chOff x="0" y="0"/>
          <a:chExt cx="0" cy="0"/>
        </a:xfrm>
      </p:grpSpPr>
      <p:sp>
        <p:nvSpPr>
          <p:cNvPr id="2" name="Text 0"/>
          <p:cNvSpPr/>
          <p:nvPr/>
        </p:nvSpPr>
        <p:spPr>
          <a:xfrm>
            <a:off x="812800" y="231030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E0A45C"/>
                </a:solidFill>
                <a:latin typeface="Be Vietnam Pro" pitchFamily="34" charset="0"/>
                <a:ea typeface="Be Vietnam Pro" pitchFamily="34" charset="-122"/>
                <a:cs typeface="Be Vietnam Pro" pitchFamily="34" charset="-120"/>
              </a:rPr>
              <a:t>PHỤ LỤC</a:t>
            </a:r>
            <a:endParaRPr lang="en-US" sz="1300" dirty="0"/>
          </a:p>
        </p:txBody>
      </p:sp>
      <p:sp>
        <p:nvSpPr>
          <p:cNvPr id="3" name="Text 1"/>
          <p:cNvSpPr/>
          <p:nvPr/>
        </p:nvSpPr>
        <p:spPr>
          <a:xfrm>
            <a:off x="812800" y="2795389"/>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1"/>
                </a:solidFill>
                <a:latin typeface="Be Vietnam Pro" pitchFamily="34" charset="0"/>
                <a:ea typeface="Be Vietnam Pro" pitchFamily="34" charset="-122"/>
                <a:cs typeface="Be Vietnam Pro" pitchFamily="34" charset="-120"/>
              </a:rPr>
              <a:t>Đặc tả chi tiết các tính năng trọng tâm</a:t>
            </a:r>
            <a:endParaRPr lang="en-US" sz="3600" dirty="0"/>
          </a:p>
        </p:txBody>
      </p:sp>
      <p:sp>
        <p:nvSpPr>
          <p:cNvPr id="4" name="Text 2"/>
          <p:cNvSpPr/>
          <p:nvPr/>
        </p:nvSpPr>
        <p:spPr>
          <a:xfrm>
            <a:off x="812800" y="3552230"/>
            <a:ext cx="54416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Be Vietnam Pro" pitchFamily="34" charset="0"/>
                <a:ea typeface="Be Vietnam Pro" pitchFamily="34" charset="-122"/>
                <a:cs typeface="Be Vietnam Pro" pitchFamily="34" charset="-120"/>
              </a:rPr>
              <a:t>A1</a:t>
            </a:r>
            <a:r>
              <a:rPr lang="en-US" sz="1400" dirty="0">
                <a:solidFill>
                  <a:srgbClr val="F6F5F1"/>
                </a:solidFill>
                <a:latin typeface="Be Vietnam Pro" pitchFamily="34" charset="0"/>
                <a:ea typeface="Be Vietnam Pro" pitchFamily="34" charset="-122"/>
                <a:cs typeface="Be Vietnam Pro" pitchFamily="34" charset="-120"/>
              </a:rPr>
              <a:t> · KH1–KH2 Hồ sơ 360, hồ sơ gốc</a:t>
            </a:r>
            <a:endParaRPr lang="en-US" sz="1400" dirty="0"/>
          </a:p>
        </p:txBody>
      </p:sp>
      <p:sp>
        <p:nvSpPr>
          <p:cNvPr id="5" name="Text 3"/>
          <p:cNvSpPr/>
          <p:nvPr/>
        </p:nvSpPr>
        <p:spPr>
          <a:xfrm>
            <a:off x="6096000" y="3552230"/>
            <a:ext cx="54416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Be Vietnam Pro" pitchFamily="34" charset="0"/>
                <a:ea typeface="Be Vietnam Pro" pitchFamily="34" charset="-122"/>
                <a:cs typeface="Be Vietnam Pro" pitchFamily="34" charset="-120"/>
              </a:rPr>
              <a:t>A5</a:t>
            </a:r>
            <a:r>
              <a:rPr lang="en-US" sz="1400" dirty="0">
                <a:solidFill>
                  <a:srgbClr val="F6F5F1"/>
                </a:solidFill>
                <a:latin typeface="Be Vietnam Pro" pitchFamily="34" charset="0"/>
                <a:ea typeface="Be Vietnam Pro" pitchFamily="34" charset="-122"/>
                <a:cs typeface="Be Vietnam Pro" pitchFamily="34" charset="-120"/>
              </a:rPr>
              <a:t> · PL2, PL5 Biên bản gặp khách hàng, AI</a:t>
            </a:r>
            <a:endParaRPr lang="en-US" sz="1400" dirty="0"/>
          </a:p>
        </p:txBody>
      </p:sp>
      <p:sp>
        <p:nvSpPr>
          <p:cNvPr id="6" name="Text 4"/>
          <p:cNvSpPr/>
          <p:nvPr/>
        </p:nvSpPr>
        <p:spPr>
          <a:xfrm>
            <a:off x="812800" y="3801070"/>
            <a:ext cx="54416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Be Vietnam Pro" pitchFamily="34" charset="0"/>
                <a:ea typeface="Be Vietnam Pro" pitchFamily="34" charset="-122"/>
                <a:cs typeface="Be Vietnam Pro" pitchFamily="34" charset="-120"/>
              </a:rPr>
              <a:t>A2</a:t>
            </a:r>
            <a:r>
              <a:rPr lang="en-US" sz="1400" dirty="0">
                <a:solidFill>
                  <a:srgbClr val="F6F5F1"/>
                </a:solidFill>
                <a:latin typeface="Be Vietnam Pro" pitchFamily="34" charset="0"/>
                <a:ea typeface="Be Vietnam Pro" pitchFamily="34" charset="-122"/>
                <a:cs typeface="Be Vietnam Pro" pitchFamily="34" charset="-120"/>
              </a:rPr>
              <a:t> · KH3–KH4 Tự động điền, điểm dữ liệu</a:t>
            </a:r>
            <a:endParaRPr lang="en-US" sz="1400" dirty="0"/>
          </a:p>
        </p:txBody>
      </p:sp>
      <p:sp>
        <p:nvSpPr>
          <p:cNvPr id="7" name="Text 5"/>
          <p:cNvSpPr/>
          <p:nvPr/>
        </p:nvSpPr>
        <p:spPr>
          <a:xfrm>
            <a:off x="6096000" y="3801070"/>
            <a:ext cx="54416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Be Vietnam Pro" pitchFamily="34" charset="0"/>
                <a:ea typeface="Be Vietnam Pro" pitchFamily="34" charset="-122"/>
                <a:cs typeface="Be Vietnam Pro" pitchFamily="34" charset="-120"/>
              </a:rPr>
              <a:t>A6</a:t>
            </a:r>
            <a:r>
              <a:rPr lang="en-US" sz="1400" dirty="0">
                <a:solidFill>
                  <a:srgbClr val="F6F5F1"/>
                </a:solidFill>
                <a:latin typeface="Be Vietnam Pro" pitchFamily="34" charset="0"/>
                <a:ea typeface="Be Vietnam Pro" pitchFamily="34" charset="-122"/>
                <a:cs typeface="Be Vietnam Pro" pitchFamily="34" charset="-120"/>
              </a:rPr>
              <a:t> · CD1, DV1 Chiến dịch, Yêu cầu khách hàng</a:t>
            </a:r>
            <a:endParaRPr lang="en-US" sz="1400" dirty="0"/>
          </a:p>
        </p:txBody>
      </p:sp>
      <p:sp>
        <p:nvSpPr>
          <p:cNvPr id="8" name="Text 6"/>
          <p:cNvSpPr/>
          <p:nvPr/>
        </p:nvSpPr>
        <p:spPr>
          <a:xfrm>
            <a:off x="812800" y="4049911"/>
            <a:ext cx="54416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Be Vietnam Pro" pitchFamily="34" charset="0"/>
                <a:ea typeface="Be Vietnam Pro" pitchFamily="34" charset="-122"/>
                <a:cs typeface="Be Vietnam Pro" pitchFamily="34" charset="-120"/>
              </a:rPr>
              <a:t>A3</a:t>
            </a:r>
            <a:r>
              <a:rPr lang="en-US" sz="1400" dirty="0">
                <a:solidFill>
                  <a:srgbClr val="F6F5F1"/>
                </a:solidFill>
                <a:latin typeface="Be Vietnam Pro" pitchFamily="34" charset="0"/>
                <a:ea typeface="Be Vietnam Pro" pitchFamily="34" charset="-122"/>
                <a:cs typeface="Be Vietnam Pro" pitchFamily="34" charset="-120"/>
              </a:rPr>
              <a:t> · PL1 Giai đoạn bán hàng chuẩn</a:t>
            </a:r>
            <a:endParaRPr lang="en-US" sz="1400" dirty="0"/>
          </a:p>
        </p:txBody>
      </p:sp>
      <p:sp>
        <p:nvSpPr>
          <p:cNvPr id="9" name="Text 7"/>
          <p:cNvSpPr/>
          <p:nvPr/>
        </p:nvSpPr>
        <p:spPr>
          <a:xfrm>
            <a:off x="6096000" y="4049911"/>
            <a:ext cx="54416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Be Vietnam Pro" pitchFamily="34" charset="0"/>
                <a:ea typeface="Be Vietnam Pro" pitchFamily="34" charset="-122"/>
                <a:cs typeface="Be Vietnam Pro" pitchFamily="34" charset="-120"/>
              </a:rPr>
              <a:t>A7</a:t>
            </a:r>
            <a:r>
              <a:rPr lang="en-US" sz="1400" dirty="0">
                <a:solidFill>
                  <a:srgbClr val="F6F5F1"/>
                </a:solidFill>
                <a:latin typeface="Be Vietnam Pro" pitchFamily="34" charset="0"/>
                <a:ea typeface="Be Vietnam Pro" pitchFamily="34" charset="-122"/>
                <a:cs typeface="Be Vietnam Pro" pitchFamily="34" charset="-120"/>
              </a:rPr>
              <a:t> · HS1, HS4–HS5 Bảng điều hành, KPI</a:t>
            </a:r>
            <a:endParaRPr lang="en-US" sz="1400" dirty="0"/>
          </a:p>
        </p:txBody>
      </p:sp>
      <p:sp>
        <p:nvSpPr>
          <p:cNvPr id="10" name="Text 8"/>
          <p:cNvSpPr/>
          <p:nvPr/>
        </p:nvSpPr>
        <p:spPr>
          <a:xfrm>
            <a:off x="812800" y="4298752"/>
            <a:ext cx="54416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Be Vietnam Pro" pitchFamily="34" charset="0"/>
                <a:ea typeface="Be Vietnam Pro" pitchFamily="34" charset="-122"/>
                <a:cs typeface="Be Vietnam Pro" pitchFamily="34" charset="-120"/>
              </a:rPr>
              <a:t>A4</a:t>
            </a:r>
            <a:r>
              <a:rPr lang="en-US" sz="1400" dirty="0">
                <a:solidFill>
                  <a:srgbClr val="F6F5F1"/>
                </a:solidFill>
                <a:latin typeface="Be Vietnam Pro" pitchFamily="34" charset="0"/>
                <a:ea typeface="Be Vietnam Pro" pitchFamily="34" charset="-122"/>
                <a:cs typeface="Be Vietnam Pro" pitchFamily="34" charset="-120"/>
              </a:rPr>
              <a:t> · PL4, PL6 Cẩm nang, AI chấm điểm</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6">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PHỤ LỤC A1 · QUẢN LÝ KHÁCH HÀNG · KH1–KH2</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Một khách hàng, một hồ sơ duy nhất</a:t>
            </a:r>
            <a:endParaRPr lang="en-US" sz="2800" dirty="0"/>
          </a:p>
        </p:txBody>
      </p:sp>
      <p:sp>
        <p:nvSpPr>
          <p:cNvPr id="4" name="Shape 2"/>
          <p:cNvSpPr/>
          <p:nvPr/>
        </p:nvSpPr>
        <p:spPr>
          <a:xfrm>
            <a:off x="815975" y="1488976"/>
            <a:ext cx="5187950" cy="4413349"/>
          </a:xfrm>
          <a:prstGeom prst="roundRect">
            <a:avLst>
              <a:gd name="adj" fmla="val 2230"/>
            </a:avLst>
          </a:prstGeom>
          <a:solidFill>
            <a:srgbClr val="FDFDFB"/>
          </a:solidFill>
          <a:ln w="6350">
            <a:solidFill>
              <a:srgbClr val="DEDBD2"/>
            </a:solidFill>
            <a:prstDash val="solid"/>
          </a:ln>
        </p:spPr>
      </p:sp>
      <p:sp>
        <p:nvSpPr>
          <p:cNvPr id="5" name="Text 3"/>
          <p:cNvSpPr/>
          <p:nvPr/>
        </p:nvSpPr>
        <p:spPr>
          <a:xfrm>
            <a:off x="10223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KH1 · Ngắn hạn · Dữ liệu · Thói quen</a:t>
            </a:r>
            <a:endParaRPr lang="en-US" sz="1200" dirty="0"/>
          </a:p>
        </p:txBody>
      </p:sp>
      <p:sp>
        <p:nvSpPr>
          <p:cNvPr id="6" name="Text 4"/>
          <p:cNvSpPr/>
          <p:nvPr/>
        </p:nvSpPr>
        <p:spPr>
          <a:xfrm>
            <a:off x="10223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Hồ sơ khách hàng 360</a:t>
            </a:r>
            <a:endParaRPr lang="en-US" sz="1600" dirty="0"/>
          </a:p>
        </p:txBody>
      </p:sp>
      <p:sp>
        <p:nvSpPr>
          <p:cNvPr id="7" name="Text 5"/>
          <p:cNvSpPr/>
          <p:nvPr/>
        </p:nvSpPr>
        <p:spPr>
          <a:xfrm>
            <a:off x="1022350" y="2254052"/>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Một màn hình duy nhất về khách hàng doanh nghiệp, thay các màn hình tra cứu khách hàng trên VCRM và Sales Support.</a:t>
            </a:r>
            <a:endParaRPr lang="en-US" sz="1200" dirty="0"/>
          </a:p>
        </p:txBody>
      </p:sp>
      <p:sp>
        <p:nvSpPr>
          <p:cNvPr id="8" name="Text 6"/>
          <p:cNvSpPr/>
          <p:nvPr/>
        </p:nvSpPr>
        <p:spPr>
          <a:xfrm>
            <a:off x="1022350" y="2756892"/>
            <a:ext cx="4918456" cy="109200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Hồ sơ pháp lý, người liên hệ, nhóm công ty liên quan</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Sản phẩm đang dùng, dư nợ, huy động, giao dịch 12 tháng lấy từ hệ thống lõi</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Dòng thời gian: cuộc gặp, cơ hội, yêu cầu của khách hàng</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Phân quyền theo RM quản lý, chi nhánh, cấp quản lý</a:t>
            </a:r>
            <a:endParaRPr lang="en-US" sz="1200" dirty="0"/>
          </a:p>
        </p:txBody>
      </p:sp>
      <p:sp>
        <p:nvSpPr>
          <p:cNvPr id="9" name="Shape 7"/>
          <p:cNvSpPr/>
          <p:nvPr/>
        </p:nvSpPr>
        <p:spPr>
          <a:xfrm>
            <a:off x="1022350" y="4720828"/>
            <a:ext cx="4775200" cy="1025922"/>
          </a:xfrm>
          <a:prstGeom prst="roundRect">
            <a:avLst>
              <a:gd name="adj" fmla="val 6190"/>
            </a:avLst>
          </a:prstGeom>
          <a:solidFill>
            <a:srgbClr val="F3F1EB"/>
          </a:solidFill>
          <a:ln/>
        </p:spPr>
      </p:sp>
      <p:sp>
        <p:nvSpPr>
          <p:cNvPr id="10" name="Text 8"/>
          <p:cNvSpPr/>
          <p:nvPr/>
        </p:nvSpPr>
        <p:spPr>
          <a:xfrm>
            <a:off x="1136650" y="4797028"/>
            <a:ext cx="468299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 trưởng phòng khách hàng doanh nghiệp, Hội sở</a:t>
            </a:r>
            <a:endParaRPr lang="en-US" sz="1200" dirty="0"/>
          </a:p>
        </p:txBody>
      </p:sp>
      <p:sp>
        <p:nvSpPr>
          <p:cNvPr id="11" name="Text 9"/>
          <p:cNvSpPr/>
          <p:nvPr/>
        </p:nvSpPr>
        <p:spPr>
          <a:xfrm>
            <a:off x="1136650" y="523378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nắm toàn cảnh khách hàng trên một màn hình</a:t>
            </a:r>
            <a:endParaRPr lang="en-US" sz="1200" dirty="0"/>
          </a:p>
        </p:txBody>
      </p:sp>
      <p:sp>
        <p:nvSpPr>
          <p:cNvPr id="12" name="Text 10"/>
          <p:cNvSpPr/>
          <p:nvPr/>
        </p:nvSpPr>
        <p:spPr>
          <a:xfrm>
            <a:off x="11366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 90% lượt tra cứu khách hàng diễn ra trên CRM1.0</a:t>
            </a:r>
            <a:endParaRPr lang="en-US" sz="1200" dirty="0"/>
          </a:p>
        </p:txBody>
      </p:sp>
      <p:sp>
        <p:nvSpPr>
          <p:cNvPr id="13" name="Shape 11"/>
          <p:cNvSpPr/>
          <p:nvPr/>
        </p:nvSpPr>
        <p:spPr>
          <a:xfrm>
            <a:off x="6188075" y="1488976"/>
            <a:ext cx="5187950" cy="4413349"/>
          </a:xfrm>
          <a:prstGeom prst="roundRect">
            <a:avLst>
              <a:gd name="adj" fmla="val 2230"/>
            </a:avLst>
          </a:prstGeom>
          <a:solidFill>
            <a:srgbClr val="FDFDFB"/>
          </a:solidFill>
          <a:ln w="6350">
            <a:solidFill>
              <a:srgbClr val="DEDBD2"/>
            </a:solidFill>
            <a:prstDash val="solid"/>
          </a:ln>
        </p:spPr>
      </p:sp>
      <p:sp>
        <p:nvSpPr>
          <p:cNvPr id="14" name="Text 12"/>
          <p:cNvSpPr/>
          <p:nvPr/>
        </p:nvSpPr>
        <p:spPr>
          <a:xfrm>
            <a:off x="63944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KH2 · Ngắn hạn · Dữ liệu</a:t>
            </a:r>
            <a:endParaRPr lang="en-US" sz="1200" dirty="0"/>
          </a:p>
        </p:txBody>
      </p:sp>
      <p:sp>
        <p:nvSpPr>
          <p:cNvPr id="15" name="Text 13"/>
          <p:cNvSpPr/>
          <p:nvPr/>
        </p:nvSpPr>
        <p:spPr>
          <a:xfrm>
            <a:off x="63944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Hồ sơ gốc và loại bỏ trùng lặp</a:t>
            </a:r>
            <a:endParaRPr lang="en-US" sz="1600" dirty="0"/>
          </a:p>
        </p:txBody>
      </p:sp>
      <p:sp>
        <p:nvSpPr>
          <p:cNvPr id="16" name="Text 14"/>
          <p:cNvSpPr/>
          <p:nvPr/>
        </p:nvSpPr>
        <p:spPr>
          <a:xfrm>
            <a:off x="6394450" y="2254052"/>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Mỗi doanh nghiệp chỉ có một hồ sơ gốc, dùng chung cho mọi hệ thống và báo cáo.</a:t>
            </a:r>
            <a:endParaRPr lang="en-US" sz="1200" dirty="0"/>
          </a:p>
        </p:txBody>
      </p:sp>
      <p:sp>
        <p:nvSpPr>
          <p:cNvPr id="17" name="Text 15"/>
          <p:cNvSpPr/>
          <p:nvPr/>
        </p:nvSpPr>
        <p:spPr>
          <a:xfrm>
            <a:off x="6394450" y="2756892"/>
            <a:ext cx="4918456" cy="109200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Khóa định danh: mã số thuế và mã CIF; chuẩn hóa tên, địa chỉ</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Quy tắc so khớp tìm và chấm điểm các cặp nghi trùng</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Trùng chắc chắn thì tự hợp nhất; nghi ngờ thì chuyển cán bộ quản lý dữ liệu duyệt</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Lưu vết mọi lần hợp nhất, cho phép hoàn tác</a:t>
            </a:r>
            <a:endParaRPr lang="en-US" sz="1200" dirty="0"/>
          </a:p>
        </p:txBody>
      </p:sp>
      <p:sp>
        <p:nvSpPr>
          <p:cNvPr id="18" name="Shape 16"/>
          <p:cNvSpPr/>
          <p:nvPr/>
        </p:nvSpPr>
        <p:spPr>
          <a:xfrm>
            <a:off x="6394450" y="4926509"/>
            <a:ext cx="4775200" cy="820241"/>
          </a:xfrm>
          <a:prstGeom prst="roundRect">
            <a:avLst>
              <a:gd name="adj" fmla="val 7742"/>
            </a:avLst>
          </a:prstGeom>
          <a:solidFill>
            <a:srgbClr val="F3F1EB"/>
          </a:solidFill>
          <a:ln/>
        </p:spPr>
      </p:sp>
      <p:sp>
        <p:nvSpPr>
          <p:cNvPr id="19" name="Text 17"/>
          <p:cNvSpPr/>
          <p:nvPr/>
        </p:nvSpPr>
        <p:spPr>
          <a:xfrm>
            <a:off x="6508750" y="500270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cán bộ quản lý dữ liệu, bộ phận quản lý dữ liệu</a:t>
            </a:r>
            <a:endParaRPr lang="en-US" sz="1200" dirty="0"/>
          </a:p>
        </p:txBody>
      </p:sp>
      <p:sp>
        <p:nvSpPr>
          <p:cNvPr id="20" name="Text 18"/>
          <p:cNvSpPr/>
          <p:nvPr/>
        </p:nvSpPr>
        <p:spPr>
          <a:xfrm>
            <a:off x="6508750" y="523378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dữ liệu tin cậy cho báo cáo, AI, chuyển đổi</a:t>
            </a:r>
            <a:endParaRPr lang="en-US" sz="1200" dirty="0"/>
          </a:p>
        </p:txBody>
      </p:sp>
      <p:sp>
        <p:nvSpPr>
          <p:cNvPr id="21" name="Text 19"/>
          <p:cNvSpPr/>
          <p:nvPr/>
        </p:nvSpPr>
        <p:spPr>
          <a:xfrm>
            <a:off x="65087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tỷ lệ trùng &lt; 5% (ngắn hạn), &lt; 2% (trung hạn)</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A1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7">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PHỤ LỤC A2 · QUẢN LÝ KHÁCH HÀNG · KH3–KH4</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RM bớt nhập, chất lượng dữ liệu đo được</a:t>
            </a:r>
            <a:endParaRPr lang="en-US" sz="2800" dirty="0"/>
          </a:p>
        </p:txBody>
      </p:sp>
      <p:sp>
        <p:nvSpPr>
          <p:cNvPr id="4" name="Shape 2"/>
          <p:cNvSpPr/>
          <p:nvPr/>
        </p:nvSpPr>
        <p:spPr>
          <a:xfrm>
            <a:off x="815975" y="1488976"/>
            <a:ext cx="5187950" cy="4413349"/>
          </a:xfrm>
          <a:prstGeom prst="roundRect">
            <a:avLst>
              <a:gd name="adj" fmla="val 2230"/>
            </a:avLst>
          </a:prstGeom>
          <a:solidFill>
            <a:srgbClr val="FDFDFB"/>
          </a:solidFill>
          <a:ln w="6350">
            <a:solidFill>
              <a:srgbClr val="DEDBD2"/>
            </a:solidFill>
            <a:prstDash val="solid"/>
          </a:ln>
        </p:spPr>
      </p:sp>
      <p:sp>
        <p:nvSpPr>
          <p:cNvPr id="5" name="Text 3"/>
          <p:cNvSpPr/>
          <p:nvPr/>
        </p:nvSpPr>
        <p:spPr>
          <a:xfrm>
            <a:off x="10223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KH3 · Ngắn hạn · Dữ liệu · Thói quen</a:t>
            </a:r>
            <a:endParaRPr lang="en-US" sz="1200" dirty="0"/>
          </a:p>
        </p:txBody>
      </p:sp>
      <p:sp>
        <p:nvSpPr>
          <p:cNvPr id="6" name="Text 4"/>
          <p:cNvSpPr/>
          <p:nvPr/>
        </p:nvSpPr>
        <p:spPr>
          <a:xfrm>
            <a:off x="10223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Tự động điền dữ liệu</a:t>
            </a:r>
            <a:endParaRPr lang="en-US" sz="1600" dirty="0"/>
          </a:p>
        </p:txBody>
      </p:sp>
      <p:sp>
        <p:nvSpPr>
          <p:cNvPr id="7" name="Text 5"/>
          <p:cNvSpPr/>
          <p:nvPr/>
        </p:nvSpPr>
        <p:spPr>
          <a:xfrm>
            <a:off x="1022350" y="2254052"/>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CRM tự lấy dữ liệu đã có ở hệ thống khác, RM không phải nhập lại.</a:t>
            </a:r>
            <a:endParaRPr lang="en-US" sz="1200" dirty="0"/>
          </a:p>
        </p:txBody>
      </p:sp>
      <p:sp>
        <p:nvSpPr>
          <p:cNvPr id="8" name="Text 6"/>
          <p:cNvSpPr/>
          <p:nvPr/>
        </p:nvSpPr>
        <p:spPr>
          <a:xfrm>
            <a:off x="1022350" y="2756892"/>
            <a:ext cx="4918456" cy="130532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Đồng bộ từ hệ thống lõi: mã CIF, sản phẩm, số dư, giao dịch</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Lấy hồ sơ tín dụng, hạn mức, trạng thái phê duyệt từ hệ thống tín dụng</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Tra thông tin đăng ký doanh nghiệp theo mã số thuế khi tạo khách hàng mới</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Trường tự động điền bị khóa sửa, ghi rõ nguồn dữ liệu</a:t>
            </a:r>
            <a:endParaRPr lang="en-US" sz="1200" dirty="0"/>
          </a:p>
        </p:txBody>
      </p:sp>
      <p:sp>
        <p:nvSpPr>
          <p:cNvPr id="9" name="Shape 7"/>
          <p:cNvSpPr/>
          <p:nvPr/>
        </p:nvSpPr>
        <p:spPr>
          <a:xfrm>
            <a:off x="1022350" y="4926509"/>
            <a:ext cx="4775200" cy="820241"/>
          </a:xfrm>
          <a:prstGeom prst="roundRect">
            <a:avLst>
              <a:gd name="adj" fmla="val 7742"/>
            </a:avLst>
          </a:prstGeom>
          <a:solidFill>
            <a:srgbClr val="F3F1EB"/>
          </a:solidFill>
          <a:ln/>
        </p:spPr>
      </p:sp>
      <p:sp>
        <p:nvSpPr>
          <p:cNvPr id="10" name="Text 8"/>
          <p:cNvSpPr/>
          <p:nvPr/>
        </p:nvSpPr>
        <p:spPr>
          <a:xfrm>
            <a:off x="1136650" y="500270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a:t>
            </a:r>
            <a:endParaRPr lang="en-US" sz="1200" dirty="0"/>
          </a:p>
        </p:txBody>
      </p:sp>
      <p:sp>
        <p:nvSpPr>
          <p:cNvPr id="11" name="Text 9"/>
          <p:cNvSpPr/>
          <p:nvPr/>
        </p:nvSpPr>
        <p:spPr>
          <a:xfrm>
            <a:off x="1136650" y="523378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giảm nhập tay, dữ liệu khớp hệ thống nguồn</a:t>
            </a:r>
            <a:endParaRPr lang="en-US" sz="1200" dirty="0"/>
          </a:p>
        </p:txBody>
      </p:sp>
      <p:sp>
        <p:nvSpPr>
          <p:cNvPr id="12" name="Text 10"/>
          <p:cNvSpPr/>
          <p:nvPr/>
        </p:nvSpPr>
        <p:spPr>
          <a:xfrm>
            <a:off x="11366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 60% trường điền tự động; thời gian tạo hồ sơ giảm 50%</a:t>
            </a:r>
            <a:endParaRPr lang="en-US" sz="1200" dirty="0"/>
          </a:p>
        </p:txBody>
      </p:sp>
      <p:sp>
        <p:nvSpPr>
          <p:cNvPr id="13" name="Shape 11"/>
          <p:cNvSpPr/>
          <p:nvPr/>
        </p:nvSpPr>
        <p:spPr>
          <a:xfrm>
            <a:off x="6188075" y="1488976"/>
            <a:ext cx="5187950" cy="4413349"/>
          </a:xfrm>
          <a:prstGeom prst="roundRect">
            <a:avLst>
              <a:gd name="adj" fmla="val 2230"/>
            </a:avLst>
          </a:prstGeom>
          <a:solidFill>
            <a:srgbClr val="FDFDFB"/>
          </a:solidFill>
          <a:ln w="6350">
            <a:solidFill>
              <a:srgbClr val="DEDBD2"/>
            </a:solidFill>
            <a:prstDash val="solid"/>
          </a:ln>
        </p:spPr>
      </p:sp>
      <p:sp>
        <p:nvSpPr>
          <p:cNvPr id="14" name="Text 12"/>
          <p:cNvSpPr/>
          <p:nvPr/>
        </p:nvSpPr>
        <p:spPr>
          <a:xfrm>
            <a:off x="63944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KH4 · Ngắn hạn · Dữ liệu · Thói quen</a:t>
            </a:r>
            <a:endParaRPr lang="en-US" sz="1200" dirty="0"/>
          </a:p>
        </p:txBody>
      </p:sp>
      <p:sp>
        <p:nvSpPr>
          <p:cNvPr id="15" name="Text 13"/>
          <p:cNvSpPr/>
          <p:nvPr/>
        </p:nvSpPr>
        <p:spPr>
          <a:xfrm>
            <a:off x="63944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Điểm chất lượng dữ liệu</a:t>
            </a:r>
            <a:endParaRPr lang="en-US" sz="1600" dirty="0"/>
          </a:p>
        </p:txBody>
      </p:sp>
      <p:sp>
        <p:nvSpPr>
          <p:cNvPr id="16" name="Text 14"/>
          <p:cNvSpPr/>
          <p:nvPr/>
        </p:nvSpPr>
        <p:spPr>
          <a:xfrm>
            <a:off x="6394450" y="2254052"/>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Biến chất lượng dữ liệu thành con số RM và quản lý nhìn thấy hằng ngày.</a:t>
            </a:r>
            <a:endParaRPr lang="en-US" sz="1200" dirty="0"/>
          </a:p>
        </p:txBody>
      </p:sp>
      <p:sp>
        <p:nvSpPr>
          <p:cNvPr id="17" name="Text 15"/>
          <p:cNvSpPr/>
          <p:nvPr/>
        </p:nvSpPr>
        <p:spPr>
          <a:xfrm>
            <a:off x="6394450" y="2756892"/>
            <a:ext cx="4918456" cy="109200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Mỗi hồ sơ khách hàng có điểm 0–100: đầy đủ, chính xác, cập nhật</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Chỉ ra trường còn thiếu ngay trên hồ sơ 360</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Xếp hạng chất lượng dữ liệu theo RM, phòng, chi nhánh</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Quy tắc kiểm tra theo từ điển dữ liệu do Hội sở ban hành</a:t>
            </a:r>
            <a:endParaRPr lang="en-US" sz="1200" dirty="0"/>
          </a:p>
        </p:txBody>
      </p:sp>
      <p:sp>
        <p:nvSpPr>
          <p:cNvPr id="18" name="Shape 16"/>
          <p:cNvSpPr/>
          <p:nvPr/>
        </p:nvSpPr>
        <p:spPr>
          <a:xfrm>
            <a:off x="6394450" y="4926509"/>
            <a:ext cx="4775200" cy="820241"/>
          </a:xfrm>
          <a:prstGeom prst="roundRect">
            <a:avLst>
              <a:gd name="adj" fmla="val 7742"/>
            </a:avLst>
          </a:prstGeom>
          <a:solidFill>
            <a:srgbClr val="F3F1EB"/>
          </a:solidFill>
          <a:ln/>
        </p:spPr>
      </p:sp>
      <p:sp>
        <p:nvSpPr>
          <p:cNvPr id="19" name="Text 17"/>
          <p:cNvSpPr/>
          <p:nvPr/>
        </p:nvSpPr>
        <p:spPr>
          <a:xfrm>
            <a:off x="6508750" y="500270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 quản lý chi nhánh, cán bộ quản lý dữ liệu</a:t>
            </a:r>
            <a:endParaRPr lang="en-US" sz="1200" dirty="0"/>
          </a:p>
        </p:txBody>
      </p:sp>
      <p:sp>
        <p:nvSpPr>
          <p:cNvPr id="20" name="Text 18"/>
          <p:cNvSpPr/>
          <p:nvPr/>
        </p:nvSpPr>
        <p:spPr>
          <a:xfrm>
            <a:off x="6508750" y="523378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chất lượng dữ liệu có người chịu trách nhiệm</a:t>
            </a:r>
            <a:endParaRPr lang="en-US" sz="1200" dirty="0"/>
          </a:p>
        </p:txBody>
      </p:sp>
      <p:sp>
        <p:nvSpPr>
          <p:cNvPr id="21" name="Text 19"/>
          <p:cNvSpPr/>
          <p:nvPr/>
        </p:nvSpPr>
        <p:spPr>
          <a:xfrm>
            <a:off x="65087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đầy đủ trường bắt buộc ≥ 80% → 90%</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A2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E5E"/>
                </a:solidFill>
                <a:latin typeface="Be Vietnam Pro" pitchFamily="34" charset="0"/>
                <a:ea typeface="Be Vietnam Pro" pitchFamily="34" charset="-122"/>
                <a:cs typeface="Be Vietnam Pro" pitchFamily="34" charset="-120"/>
              </a:rPr>
              <a:t>PHỤ LỤC A3 · SALES PIPELINE · PL1 · NGẮN HẠN</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Năm giai đoạn chuẩn, điều kiện chuyển rõ ràng</a:t>
            </a:r>
            <a:endParaRPr lang="en-US" sz="2800" dirty="0"/>
          </a:p>
        </p:txBody>
      </p:sp>
      <p:sp>
        <p:nvSpPr>
          <p:cNvPr id="4" name="Text 2"/>
          <p:cNvSpPr/>
          <p:nvPr/>
        </p:nvSpPr>
        <p:spPr>
          <a:xfrm>
            <a:off x="812800" y="1485801"/>
            <a:ext cx="1088339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3233F"/>
                </a:solidFill>
                <a:latin typeface="Be Vietnam Pro" pitchFamily="34" charset="0"/>
                <a:ea typeface="Be Vietnam Pro" pitchFamily="34" charset="-122"/>
                <a:cs typeface="Be Vietnam Pro" pitchFamily="34" charset="-120"/>
              </a:rPr>
              <a:t>Cải tiến phần quản lý khách hàng tiềm năng và cơ hội đã đưa vào sử dụng: một bộ giai đoạn cho toàn hàng, mỗi giai đoạn có điều kiện hoàn thành được hệ thống kiểm tra.</a:t>
            </a:r>
            <a:endParaRPr lang="en-US" sz="1300" dirty="0"/>
          </a:p>
        </p:txBody>
      </p:sp>
      <p:sp>
        <p:nvSpPr>
          <p:cNvPr id="5" name="Text 3"/>
          <p:cNvSpPr/>
          <p:nvPr/>
        </p:nvSpPr>
        <p:spPr>
          <a:xfrm>
            <a:off x="812800" y="2125762"/>
            <a:ext cx="2042120" cy="685800"/>
          </a:xfrm>
          <a:prstGeom prst="roundRect">
            <a:avLst>
              <a:gd name="adj" fmla="val 9259"/>
            </a:avLst>
          </a:prstGeom>
          <a:solidFill>
            <a:srgbClr val="2B6E5E"/>
          </a:solidFill>
          <a:ln/>
        </p:spPr>
        <p:txBody>
          <a:bodyPr wrap="square" lIns="108401" tIns="83001" rIns="54758" bIns="57601" rtlCol="0" anchor="t">
            <a:normAutofit/>
          </a:bodyPr>
          <a:lstStyle/>
          <a:p>
            <a:pPr marL="0" indent="0" algn="l">
              <a:lnSpc>
                <a:spcPts val="1820"/>
              </a:lnSpc>
              <a:buNone/>
            </a:pPr>
            <a:r>
              <a:rPr lang="en-US" sz="1300" b="1" dirty="0">
                <a:solidFill>
                  <a:srgbClr val="F6F5F1"/>
                </a:solidFill>
                <a:latin typeface="Be Vietnam Pro" pitchFamily="34" charset="0"/>
                <a:ea typeface="Be Vietnam Pro" pitchFamily="34" charset="-122"/>
                <a:cs typeface="Be Vietnam Pro" pitchFamily="34" charset="-120"/>
              </a:rPr>
              <a:t>1 · Tiếp cận</a:t>
            </a:r>
            <a:endParaRPr lang="en-US" sz="1300" dirty="0"/>
          </a:p>
        </p:txBody>
      </p:sp>
      <p:sp>
        <p:nvSpPr>
          <p:cNvPr id="6" name="Text 4"/>
          <p:cNvSpPr/>
          <p:nvPr/>
        </p:nvSpPr>
        <p:spPr>
          <a:xfrm>
            <a:off x="812800" y="2887762"/>
            <a:ext cx="210338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Có người liên hệ và nhu cầu sơ bộ</a:t>
            </a:r>
            <a:endParaRPr lang="en-US" sz="1200" dirty="0"/>
          </a:p>
        </p:txBody>
      </p:sp>
      <p:sp>
        <p:nvSpPr>
          <p:cNvPr id="7" name="Text 5"/>
          <p:cNvSpPr/>
          <p:nvPr/>
        </p:nvSpPr>
        <p:spPr>
          <a:xfrm>
            <a:off x="2943820" y="2125762"/>
            <a:ext cx="2042220" cy="685800"/>
          </a:xfrm>
          <a:prstGeom prst="roundRect">
            <a:avLst>
              <a:gd name="adj" fmla="val 9259"/>
            </a:avLst>
          </a:prstGeom>
          <a:solidFill>
            <a:srgbClr val="2B6E5E"/>
          </a:solidFill>
          <a:ln/>
        </p:spPr>
        <p:txBody>
          <a:bodyPr wrap="square" lIns="108401" tIns="83001" rIns="54755" bIns="57601" rtlCol="0" anchor="t">
            <a:normAutofit/>
          </a:bodyPr>
          <a:lstStyle/>
          <a:p>
            <a:pPr marL="0" indent="0" algn="l">
              <a:lnSpc>
                <a:spcPts val="1820"/>
              </a:lnSpc>
              <a:buNone/>
            </a:pPr>
            <a:r>
              <a:rPr lang="en-US" sz="1300" b="1" dirty="0">
                <a:solidFill>
                  <a:srgbClr val="F6F5F1"/>
                </a:solidFill>
                <a:latin typeface="Be Vietnam Pro" pitchFamily="34" charset="0"/>
                <a:ea typeface="Be Vietnam Pro" pitchFamily="34" charset="-122"/>
                <a:cs typeface="Be Vietnam Pro" pitchFamily="34" charset="-120"/>
              </a:rPr>
              <a:t>2 · Xác định nhu cầu</a:t>
            </a:r>
            <a:endParaRPr lang="en-US" sz="1300" dirty="0"/>
          </a:p>
        </p:txBody>
      </p:sp>
      <p:sp>
        <p:nvSpPr>
          <p:cNvPr id="8" name="Text 6"/>
          <p:cNvSpPr/>
          <p:nvPr/>
        </p:nvSpPr>
        <p:spPr>
          <a:xfrm>
            <a:off x="2943820" y="2887762"/>
            <a:ext cx="210348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Có biên bản gặp, nhu cầu, quy mô ước tính</a:t>
            </a:r>
            <a:endParaRPr lang="en-US" sz="1200" dirty="0"/>
          </a:p>
        </p:txBody>
      </p:sp>
      <p:sp>
        <p:nvSpPr>
          <p:cNvPr id="9" name="Text 7"/>
          <p:cNvSpPr/>
          <p:nvPr/>
        </p:nvSpPr>
        <p:spPr>
          <a:xfrm>
            <a:off x="5074940" y="2125762"/>
            <a:ext cx="2042120" cy="685800"/>
          </a:xfrm>
          <a:prstGeom prst="roundRect">
            <a:avLst>
              <a:gd name="adj" fmla="val 9259"/>
            </a:avLst>
          </a:prstGeom>
          <a:solidFill>
            <a:srgbClr val="2B6E5E"/>
          </a:solidFill>
          <a:ln/>
        </p:spPr>
        <p:txBody>
          <a:bodyPr wrap="square" lIns="108401" tIns="83001" rIns="54758" bIns="57601" rtlCol="0" anchor="t">
            <a:normAutofit/>
          </a:bodyPr>
          <a:lstStyle/>
          <a:p>
            <a:pPr marL="0" indent="0" algn="l">
              <a:lnSpc>
                <a:spcPts val="1820"/>
              </a:lnSpc>
              <a:buNone/>
            </a:pPr>
            <a:r>
              <a:rPr lang="en-US" sz="1300" b="1" dirty="0">
                <a:solidFill>
                  <a:srgbClr val="F6F5F1"/>
                </a:solidFill>
                <a:latin typeface="Be Vietnam Pro" pitchFamily="34" charset="0"/>
                <a:ea typeface="Be Vietnam Pro" pitchFamily="34" charset="-122"/>
                <a:cs typeface="Be Vietnam Pro" pitchFamily="34" charset="-120"/>
              </a:rPr>
              <a:t>3 · Đề xuất giải pháp</a:t>
            </a:r>
            <a:endParaRPr lang="en-US" sz="1300" dirty="0"/>
          </a:p>
        </p:txBody>
      </p:sp>
      <p:sp>
        <p:nvSpPr>
          <p:cNvPr id="10" name="Text 8"/>
          <p:cNvSpPr/>
          <p:nvPr/>
        </p:nvSpPr>
        <p:spPr>
          <a:xfrm>
            <a:off x="5074940" y="2887762"/>
            <a:ext cx="210338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Đã gửi đề xuất sản phẩm, giá cho khách hàng</a:t>
            </a:r>
            <a:endParaRPr lang="en-US" sz="1200" dirty="0"/>
          </a:p>
        </p:txBody>
      </p:sp>
      <p:sp>
        <p:nvSpPr>
          <p:cNvPr id="11" name="Text 9"/>
          <p:cNvSpPr/>
          <p:nvPr/>
        </p:nvSpPr>
        <p:spPr>
          <a:xfrm>
            <a:off x="7205960" y="2125762"/>
            <a:ext cx="2042220" cy="685800"/>
          </a:xfrm>
          <a:prstGeom prst="roundRect">
            <a:avLst>
              <a:gd name="adj" fmla="val 9259"/>
            </a:avLst>
          </a:prstGeom>
          <a:solidFill>
            <a:srgbClr val="2B6E5E"/>
          </a:solidFill>
          <a:ln/>
        </p:spPr>
        <p:txBody>
          <a:bodyPr wrap="square" lIns="108401" tIns="83001" rIns="54755" bIns="57601" rtlCol="0" anchor="t">
            <a:normAutofit/>
          </a:bodyPr>
          <a:lstStyle/>
          <a:p>
            <a:pPr marL="0" indent="0" algn="l">
              <a:lnSpc>
                <a:spcPts val="1820"/>
              </a:lnSpc>
              <a:buNone/>
            </a:pPr>
            <a:r>
              <a:rPr lang="en-US" sz="1300" b="1" dirty="0">
                <a:solidFill>
                  <a:srgbClr val="F6F5F1"/>
                </a:solidFill>
                <a:latin typeface="Be Vietnam Pro" pitchFamily="34" charset="0"/>
                <a:ea typeface="Be Vietnam Pro" pitchFamily="34" charset="-122"/>
                <a:cs typeface="Be Vietnam Pro" pitchFamily="34" charset="-120"/>
              </a:rPr>
              <a:t>4 · Thẩm định, phê duyệt</a:t>
            </a:r>
            <a:endParaRPr lang="en-US" sz="1300" dirty="0"/>
          </a:p>
        </p:txBody>
      </p:sp>
      <p:sp>
        <p:nvSpPr>
          <p:cNvPr id="12" name="Text 10"/>
          <p:cNvSpPr/>
          <p:nvPr/>
        </p:nvSpPr>
        <p:spPr>
          <a:xfrm>
            <a:off x="7205960" y="2887762"/>
            <a:ext cx="210348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Hồ sơ đã trình, có kết quả phê duyệt</a:t>
            </a:r>
            <a:endParaRPr lang="en-US" sz="1200" dirty="0"/>
          </a:p>
        </p:txBody>
      </p:sp>
      <p:sp>
        <p:nvSpPr>
          <p:cNvPr id="13" name="Text 11"/>
          <p:cNvSpPr/>
          <p:nvPr/>
        </p:nvSpPr>
        <p:spPr>
          <a:xfrm>
            <a:off x="9337080" y="2125762"/>
            <a:ext cx="2042120" cy="685800"/>
          </a:xfrm>
          <a:prstGeom prst="roundRect">
            <a:avLst>
              <a:gd name="adj" fmla="val 9259"/>
            </a:avLst>
          </a:prstGeom>
          <a:solidFill>
            <a:srgbClr val="13233F"/>
          </a:solidFill>
          <a:ln/>
        </p:spPr>
        <p:txBody>
          <a:bodyPr wrap="square" lIns="108401" tIns="83001" rIns="54758" bIns="57601" rtlCol="0" anchor="t">
            <a:normAutofit/>
          </a:bodyPr>
          <a:lstStyle/>
          <a:p>
            <a:pPr marL="0" indent="0" algn="l">
              <a:lnSpc>
                <a:spcPts val="1820"/>
              </a:lnSpc>
              <a:buNone/>
            </a:pPr>
            <a:r>
              <a:rPr lang="en-US" sz="1300" b="1" dirty="0">
                <a:solidFill>
                  <a:srgbClr val="F6F5F1"/>
                </a:solidFill>
                <a:latin typeface="Be Vietnam Pro" pitchFamily="34" charset="0"/>
                <a:ea typeface="Be Vietnam Pro" pitchFamily="34" charset="-122"/>
                <a:cs typeface="Be Vietnam Pro" pitchFamily="34" charset="-120"/>
              </a:rPr>
              <a:t>5 · Ký kết, giải ngân</a:t>
            </a:r>
            <a:endParaRPr lang="en-US" sz="1300" dirty="0"/>
          </a:p>
        </p:txBody>
      </p:sp>
      <p:sp>
        <p:nvSpPr>
          <p:cNvPr id="14" name="Text 12"/>
          <p:cNvSpPr/>
          <p:nvPr/>
        </p:nvSpPr>
        <p:spPr>
          <a:xfrm>
            <a:off x="9337080" y="2887762"/>
            <a:ext cx="210338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Be Vietnam Pro" pitchFamily="34" charset="0"/>
                <a:ea typeface="Be Vietnam Pro" pitchFamily="34" charset="-122"/>
                <a:cs typeface="Be Vietnam Pro" pitchFamily="34" charset="-120"/>
              </a:rPr>
              <a:t>Ghi nhận doanh số, hoặc đóng thất bại</a:t>
            </a:r>
            <a:endParaRPr lang="en-US" sz="1200" dirty="0"/>
          </a:p>
        </p:txBody>
      </p:sp>
      <p:sp>
        <p:nvSpPr>
          <p:cNvPr id="15" name="Shape 13"/>
          <p:cNvSpPr/>
          <p:nvPr/>
        </p:nvSpPr>
        <p:spPr>
          <a:xfrm>
            <a:off x="815975" y="3495377"/>
            <a:ext cx="2559050" cy="1405632"/>
          </a:xfrm>
          <a:prstGeom prst="roundRect">
            <a:avLst>
              <a:gd name="adj" fmla="val 6099"/>
            </a:avLst>
          </a:prstGeom>
          <a:solidFill>
            <a:srgbClr val="FDFDFB"/>
          </a:solidFill>
          <a:ln w="6350">
            <a:solidFill>
              <a:srgbClr val="DEDBD2"/>
            </a:solidFill>
            <a:prstDash val="solid"/>
          </a:ln>
        </p:spPr>
      </p:sp>
      <p:pic>
        <p:nvPicPr>
          <p:cNvPr id="16" name="Image 0" descr="Lock"/>
          <p:cNvPicPr>
            <a:picLocks noChangeAspect="1"/>
          </p:cNvPicPr>
          <p:nvPr/>
        </p:nvPicPr>
        <p:blipFill>
          <a:blip r:embed="rId3"/>
          <a:srcRect/>
          <a:stretch/>
        </p:blipFill>
        <p:spPr>
          <a:xfrm>
            <a:off x="958850" y="3625552"/>
            <a:ext cx="228600" cy="228600"/>
          </a:xfrm>
          <a:prstGeom prst="rect">
            <a:avLst/>
          </a:prstGeom>
        </p:spPr>
      </p:pic>
      <p:sp>
        <p:nvSpPr>
          <p:cNvPr id="17" name="Text 14"/>
          <p:cNvSpPr/>
          <p:nvPr/>
        </p:nvSpPr>
        <p:spPr>
          <a:xfrm>
            <a:off x="958850" y="3904952"/>
            <a:ext cx="2341499"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33F"/>
                </a:solidFill>
                <a:latin typeface="Be Vietnam Pro" pitchFamily="34" charset="0"/>
                <a:ea typeface="Be Vietnam Pro" pitchFamily="34" charset="-122"/>
                <a:cs typeface="Be Vietnam Pro" pitchFamily="34" charset="-120"/>
              </a:rPr>
              <a:t>Trường bắt buộc</a:t>
            </a:r>
            <a:endParaRPr lang="en-US" sz="1300" dirty="0"/>
          </a:p>
        </p:txBody>
      </p:sp>
      <p:sp>
        <p:nvSpPr>
          <p:cNvPr id="18" name="Text 15"/>
          <p:cNvSpPr/>
          <p:nvPr/>
        </p:nvSpPr>
        <p:spPr>
          <a:xfrm>
            <a:off x="958850" y="4153793"/>
            <a:ext cx="2341499"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Be Vietnam Pro" pitchFamily="34" charset="0"/>
                <a:ea typeface="Be Vietnam Pro" pitchFamily="34" charset="-122"/>
                <a:cs typeface="Be Vietnam Pro" pitchFamily="34" charset="-120"/>
              </a:rPr>
              <a:t>Chặn chuyển giai đoạn khi còn thiếu thông tin</a:t>
            </a:r>
            <a:endParaRPr lang="en-US" sz="1200" dirty="0"/>
          </a:p>
        </p:txBody>
      </p:sp>
      <p:sp>
        <p:nvSpPr>
          <p:cNvPr id="19" name="Shape 16"/>
          <p:cNvSpPr/>
          <p:nvPr/>
        </p:nvSpPr>
        <p:spPr>
          <a:xfrm>
            <a:off x="3482975" y="3495377"/>
            <a:ext cx="2559050" cy="1405632"/>
          </a:xfrm>
          <a:prstGeom prst="roundRect">
            <a:avLst>
              <a:gd name="adj" fmla="val 6099"/>
            </a:avLst>
          </a:prstGeom>
          <a:solidFill>
            <a:srgbClr val="FDFDFB"/>
          </a:solidFill>
          <a:ln w="6350">
            <a:solidFill>
              <a:srgbClr val="DEDBD2"/>
            </a:solidFill>
            <a:prstDash val="solid"/>
          </a:ln>
        </p:spPr>
      </p:sp>
      <p:pic>
        <p:nvPicPr>
          <p:cNvPr id="20" name="Image 1" descr="Chart"/>
          <p:cNvPicPr>
            <a:picLocks noChangeAspect="1"/>
          </p:cNvPicPr>
          <p:nvPr/>
        </p:nvPicPr>
        <p:blipFill>
          <a:blip r:embed="rId4"/>
          <a:srcRect/>
          <a:stretch/>
        </p:blipFill>
        <p:spPr>
          <a:xfrm>
            <a:off x="3625850" y="3625552"/>
            <a:ext cx="228600" cy="228600"/>
          </a:xfrm>
          <a:prstGeom prst="rect">
            <a:avLst/>
          </a:prstGeom>
        </p:spPr>
      </p:pic>
      <p:sp>
        <p:nvSpPr>
          <p:cNvPr id="21" name="Text 17"/>
          <p:cNvSpPr/>
          <p:nvPr/>
        </p:nvSpPr>
        <p:spPr>
          <a:xfrm>
            <a:off x="3625850" y="3904952"/>
            <a:ext cx="2341499"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33F"/>
                </a:solidFill>
                <a:latin typeface="Be Vietnam Pro" pitchFamily="34" charset="0"/>
                <a:ea typeface="Be Vietnam Pro" pitchFamily="34" charset="-122"/>
                <a:cs typeface="Be Vietnam Pro" pitchFamily="34" charset="-120"/>
              </a:rPr>
              <a:t>Xác suất theo giai đoạn</a:t>
            </a:r>
            <a:endParaRPr lang="en-US" sz="1300" dirty="0"/>
          </a:p>
        </p:txBody>
      </p:sp>
      <p:sp>
        <p:nvSpPr>
          <p:cNvPr id="22" name="Text 18"/>
          <p:cNvSpPr/>
          <p:nvPr/>
        </p:nvSpPr>
        <p:spPr>
          <a:xfrm>
            <a:off x="3625850" y="4153793"/>
            <a:ext cx="2341499"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Be Vietnam Pro" pitchFamily="34" charset="0"/>
                <a:ea typeface="Be Vietnam Pro" pitchFamily="34" charset="-122"/>
                <a:cs typeface="Be Vietnam Pro" pitchFamily="34" charset="-120"/>
              </a:rPr>
              <a:t>10–30–50–70–100% để dự báo doanh số</a:t>
            </a:r>
            <a:endParaRPr lang="en-US" sz="1200" dirty="0"/>
          </a:p>
        </p:txBody>
      </p:sp>
      <p:sp>
        <p:nvSpPr>
          <p:cNvPr id="23" name="Shape 19"/>
          <p:cNvSpPr/>
          <p:nvPr/>
        </p:nvSpPr>
        <p:spPr>
          <a:xfrm>
            <a:off x="6149975" y="3495377"/>
            <a:ext cx="2559050" cy="1405632"/>
          </a:xfrm>
          <a:prstGeom prst="roundRect">
            <a:avLst>
              <a:gd name="adj" fmla="val 6099"/>
            </a:avLst>
          </a:prstGeom>
          <a:solidFill>
            <a:srgbClr val="FDFDFB"/>
          </a:solidFill>
          <a:ln w="6350">
            <a:solidFill>
              <a:srgbClr val="DEDBD2"/>
            </a:solidFill>
            <a:prstDash val="solid"/>
          </a:ln>
        </p:spPr>
      </p:sp>
      <p:pic>
        <p:nvPicPr>
          <p:cNvPr id="24" name="Image 2" descr="Check"/>
          <p:cNvPicPr>
            <a:picLocks noChangeAspect="1"/>
          </p:cNvPicPr>
          <p:nvPr/>
        </p:nvPicPr>
        <p:blipFill>
          <a:blip r:embed="rId5"/>
          <a:srcRect/>
          <a:stretch/>
        </p:blipFill>
        <p:spPr>
          <a:xfrm>
            <a:off x="6292850" y="3625552"/>
            <a:ext cx="228600" cy="228600"/>
          </a:xfrm>
          <a:prstGeom prst="rect">
            <a:avLst/>
          </a:prstGeom>
        </p:spPr>
      </p:pic>
      <p:sp>
        <p:nvSpPr>
          <p:cNvPr id="25" name="Text 20"/>
          <p:cNvSpPr/>
          <p:nvPr/>
        </p:nvSpPr>
        <p:spPr>
          <a:xfrm>
            <a:off x="6292850" y="3904952"/>
            <a:ext cx="2341499"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33F"/>
                </a:solidFill>
                <a:latin typeface="Be Vietnam Pro" pitchFamily="34" charset="0"/>
                <a:ea typeface="Be Vietnam Pro" pitchFamily="34" charset="-122"/>
                <a:cs typeface="Be Vietnam Pro" pitchFamily="34" charset="-120"/>
              </a:rPr>
              <a:t>Lý do thất bại chuẩn</a:t>
            </a:r>
            <a:endParaRPr lang="en-US" sz="1300" dirty="0"/>
          </a:p>
        </p:txBody>
      </p:sp>
      <p:sp>
        <p:nvSpPr>
          <p:cNvPr id="26" name="Text 21"/>
          <p:cNvSpPr/>
          <p:nvPr/>
        </p:nvSpPr>
        <p:spPr>
          <a:xfrm>
            <a:off x="6292850" y="4153793"/>
            <a:ext cx="2341499"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Be Vietnam Pro" pitchFamily="34" charset="0"/>
                <a:ea typeface="Be Vietnam Pro" pitchFamily="34" charset="-122"/>
                <a:cs typeface="Be Vietnam Pro" pitchFamily="34" charset="-120"/>
              </a:rPr>
              <a:t>Giá, tài sản bảo đảm, đối thủ… để phân tích</a:t>
            </a:r>
            <a:endParaRPr lang="en-US" sz="1200" dirty="0"/>
          </a:p>
        </p:txBody>
      </p:sp>
      <p:sp>
        <p:nvSpPr>
          <p:cNvPr id="27" name="Shape 22"/>
          <p:cNvSpPr/>
          <p:nvPr/>
        </p:nvSpPr>
        <p:spPr>
          <a:xfrm>
            <a:off x="8816975" y="3495377"/>
            <a:ext cx="2559050" cy="1405632"/>
          </a:xfrm>
          <a:prstGeom prst="roundRect">
            <a:avLst>
              <a:gd name="adj" fmla="val 6099"/>
            </a:avLst>
          </a:prstGeom>
          <a:solidFill>
            <a:srgbClr val="FDFDFB"/>
          </a:solidFill>
          <a:ln w="6350">
            <a:solidFill>
              <a:srgbClr val="DEDBD2"/>
            </a:solidFill>
            <a:prstDash val="solid"/>
          </a:ln>
        </p:spPr>
      </p:sp>
      <p:pic>
        <p:nvPicPr>
          <p:cNvPr id="28" name="Image 3" descr="Clock"/>
          <p:cNvPicPr>
            <a:picLocks noChangeAspect="1"/>
          </p:cNvPicPr>
          <p:nvPr/>
        </p:nvPicPr>
        <p:blipFill>
          <a:blip r:embed="rId6"/>
          <a:srcRect/>
          <a:stretch/>
        </p:blipFill>
        <p:spPr>
          <a:xfrm>
            <a:off x="8959850" y="3625552"/>
            <a:ext cx="228600" cy="228600"/>
          </a:xfrm>
          <a:prstGeom prst="rect">
            <a:avLst/>
          </a:prstGeom>
        </p:spPr>
      </p:pic>
      <p:sp>
        <p:nvSpPr>
          <p:cNvPr id="29" name="Text 23"/>
          <p:cNvSpPr/>
          <p:nvPr/>
        </p:nvSpPr>
        <p:spPr>
          <a:xfrm>
            <a:off x="8959850" y="3904952"/>
            <a:ext cx="2341499"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3233F"/>
                </a:solidFill>
                <a:latin typeface="Be Vietnam Pro" pitchFamily="34" charset="0"/>
                <a:ea typeface="Be Vietnam Pro" pitchFamily="34" charset="-122"/>
                <a:cs typeface="Be Vietnam Pro" pitchFamily="34" charset="-120"/>
              </a:rPr>
              <a:t>Cảnh báo, đồng bộ</a:t>
            </a:r>
            <a:endParaRPr lang="en-US" sz="1300" dirty="0"/>
          </a:p>
        </p:txBody>
      </p:sp>
      <p:sp>
        <p:nvSpPr>
          <p:cNvPr id="30" name="Text 24"/>
          <p:cNvSpPr/>
          <p:nvPr/>
        </p:nvSpPr>
        <p:spPr>
          <a:xfrm>
            <a:off x="8959850" y="4153793"/>
            <a:ext cx="2341499"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Be Vietnam Pro" pitchFamily="34" charset="0"/>
                <a:ea typeface="Be Vietnam Pro" pitchFamily="34" charset="-122"/>
                <a:cs typeface="Be Vietnam Pro" pitchFamily="34" charset="-120"/>
              </a:rPr>
              <a:t>Cảnh báo cơ hội quá hạn; lấy kết quả phê duyệt từ hệ thống tín dụng</a:t>
            </a:r>
            <a:endParaRPr lang="en-US" sz="1200" dirty="0"/>
          </a:p>
        </p:txBody>
      </p:sp>
      <p:sp>
        <p:nvSpPr>
          <p:cNvPr id="31" name="Text 25"/>
          <p:cNvSpPr/>
          <p:nvPr/>
        </p:nvSpPr>
        <p:spPr>
          <a:xfrm>
            <a:off x="812800" y="508198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F"/>
                </a:solidFill>
                <a:latin typeface="Be Vietnam Pro" pitchFamily="34" charset="0"/>
                <a:ea typeface="Be Vietnam Pro" pitchFamily="34" charset="-122"/>
                <a:cs typeface="Be Vietnam Pro" pitchFamily="34" charset="-120"/>
              </a:rPr>
              <a:t>Người dùng:</a:t>
            </a:r>
            <a:r>
              <a:rPr lang="en-US" sz="1200" dirty="0">
                <a:solidFill>
                  <a:srgbClr val="13233F"/>
                </a:solidFill>
                <a:latin typeface="Be Vietnam Pro" pitchFamily="34" charset="0"/>
                <a:ea typeface="Be Vietnam Pro" pitchFamily="34" charset="-122"/>
                <a:cs typeface="Be Vietnam Pro" pitchFamily="34" charset="-120"/>
              </a:rPr>
              <a:t> RM, trưởng phòng  ·  </a:t>
            </a:r>
            <a:r>
              <a:rPr lang="en-US" sz="1200" b="1" dirty="0">
                <a:solidFill>
                  <a:srgbClr val="13233F"/>
                </a:solidFill>
                <a:latin typeface="Be Vietnam Pro" pitchFamily="34" charset="0"/>
                <a:ea typeface="Be Vietnam Pro" pitchFamily="34" charset="-122"/>
                <a:cs typeface="Be Vietnam Pro" pitchFamily="34" charset="-120"/>
              </a:rPr>
              <a:t>KPI:</a:t>
            </a:r>
            <a:r>
              <a:rPr lang="en-US" sz="1200" dirty="0">
                <a:solidFill>
                  <a:srgbClr val="13233F"/>
                </a:solidFill>
                <a:latin typeface="Be Vietnam Pro" pitchFamily="34" charset="0"/>
                <a:ea typeface="Be Vietnam Pro" pitchFamily="34" charset="-122"/>
                <a:cs typeface="Be Vietnam Pro" pitchFamily="34" charset="-120"/>
              </a:rPr>
              <a:t> 100% cơ hội theo giai đoạn chuẩn; đo được tỷ lệ chuyển đổi, thời gian từng giai đoạn</a:t>
            </a:r>
            <a:endParaRPr lang="en-US" sz="1200" dirty="0"/>
          </a:p>
        </p:txBody>
      </p:sp>
      <p:sp>
        <p:nvSpPr>
          <p:cNvPr id="32"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A3</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E5E"/>
                </a:solidFill>
                <a:latin typeface="Be Vietnam Pro" pitchFamily="34" charset="0"/>
                <a:ea typeface="Be Vietnam Pro" pitchFamily="34" charset="-122"/>
                <a:cs typeface="Be Vietnam Pro" pitchFamily="34" charset="-120"/>
              </a:rPr>
              <a:t>PHỤ LỤC A4 · SALES PIPELINE · PL4, PL6</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Bán đúng cách, ưu tiên đúng khách hàng</a:t>
            </a:r>
            <a:endParaRPr lang="en-US" sz="2800" dirty="0"/>
          </a:p>
        </p:txBody>
      </p:sp>
      <p:sp>
        <p:nvSpPr>
          <p:cNvPr id="4" name="Shape 2"/>
          <p:cNvSpPr/>
          <p:nvPr/>
        </p:nvSpPr>
        <p:spPr>
          <a:xfrm>
            <a:off x="815975" y="1488976"/>
            <a:ext cx="5187950" cy="4413349"/>
          </a:xfrm>
          <a:prstGeom prst="roundRect">
            <a:avLst>
              <a:gd name="adj" fmla="val 2230"/>
            </a:avLst>
          </a:prstGeom>
          <a:solidFill>
            <a:srgbClr val="FDFDFB"/>
          </a:solidFill>
          <a:ln w="6350">
            <a:solidFill>
              <a:srgbClr val="DEDBD2"/>
            </a:solidFill>
            <a:prstDash val="solid"/>
          </a:ln>
        </p:spPr>
      </p:sp>
      <p:sp>
        <p:nvSpPr>
          <p:cNvPr id="5" name="Text 3"/>
          <p:cNvSpPr/>
          <p:nvPr/>
        </p:nvSpPr>
        <p:spPr>
          <a:xfrm>
            <a:off x="10223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E5E"/>
                </a:solidFill>
                <a:latin typeface="Be Vietnam Pro" pitchFamily="34" charset="0"/>
                <a:ea typeface="Be Vietnam Pro" pitchFamily="34" charset="-122"/>
                <a:cs typeface="Be Vietnam Pro" pitchFamily="34" charset="-120"/>
              </a:rPr>
              <a:t>PL4 · Trung hạn · Thói quen · Quy trình</a:t>
            </a:r>
            <a:endParaRPr lang="en-US" sz="1200" dirty="0"/>
          </a:p>
        </p:txBody>
      </p:sp>
      <p:sp>
        <p:nvSpPr>
          <p:cNvPr id="6" name="Text 4"/>
          <p:cNvSpPr/>
          <p:nvPr/>
        </p:nvSpPr>
        <p:spPr>
          <a:xfrm>
            <a:off x="10223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Cẩm nang bán hàng theo phân khúc</a:t>
            </a:r>
            <a:endParaRPr lang="en-US" sz="1600" dirty="0"/>
          </a:p>
        </p:txBody>
      </p:sp>
      <p:sp>
        <p:nvSpPr>
          <p:cNvPr id="7" name="Text 5"/>
          <p:cNvSpPr/>
          <p:nvPr/>
        </p:nvSpPr>
        <p:spPr>
          <a:xfrm>
            <a:off x="1022350" y="2254052"/>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Hướng dẫn bán hàng chuẩn, hiện ngay trong từng giai đoạn cơ hội.</a:t>
            </a:r>
            <a:endParaRPr lang="en-US" sz="1200" dirty="0"/>
          </a:p>
        </p:txBody>
      </p:sp>
      <p:sp>
        <p:nvSpPr>
          <p:cNvPr id="8" name="Text 6"/>
          <p:cNvSpPr/>
          <p:nvPr/>
        </p:nvSpPr>
        <p:spPr>
          <a:xfrm>
            <a:off x="1022350" y="2756892"/>
            <a:ext cx="4918456" cy="130532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Bộ cẩm nang cho doanh nghiệp vừa và nhỏ, doanh nghiệp lớn, FDI, theo nhóm sản phẩm</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Mỗi giai đoạn: câu hỏi khai thác, tài liệu, sản phẩm nên chào kèm</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Danh mục hồ sơ cần có trước khi trình thẩm định</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Tự tạo nhắc việc khi cơ hội chuyển giai đoạn</a:t>
            </a:r>
            <a:endParaRPr lang="en-US" sz="1200" dirty="0"/>
          </a:p>
        </p:txBody>
      </p:sp>
      <p:sp>
        <p:nvSpPr>
          <p:cNvPr id="9" name="Shape 7"/>
          <p:cNvSpPr/>
          <p:nvPr/>
        </p:nvSpPr>
        <p:spPr>
          <a:xfrm>
            <a:off x="1022350" y="4926509"/>
            <a:ext cx="4775200" cy="820241"/>
          </a:xfrm>
          <a:prstGeom prst="roundRect">
            <a:avLst>
              <a:gd name="adj" fmla="val 7742"/>
            </a:avLst>
          </a:prstGeom>
          <a:solidFill>
            <a:srgbClr val="F3F1EB"/>
          </a:solidFill>
          <a:ln/>
        </p:spPr>
      </p:sp>
      <p:sp>
        <p:nvSpPr>
          <p:cNvPr id="10" name="Text 8"/>
          <p:cNvSpPr/>
          <p:nvPr/>
        </p:nvSpPr>
        <p:spPr>
          <a:xfrm>
            <a:off x="1136650" y="500270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 đặc biệt là RM mới</a:t>
            </a:r>
            <a:endParaRPr lang="en-US" sz="1200" dirty="0"/>
          </a:p>
        </p:txBody>
      </p:sp>
      <p:sp>
        <p:nvSpPr>
          <p:cNvPr id="11" name="Text 9"/>
          <p:cNvSpPr/>
          <p:nvPr/>
        </p:nvSpPr>
        <p:spPr>
          <a:xfrm>
            <a:off x="1136650" y="523378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cách bán thống nhất, rút ngắn đào tạo</a:t>
            </a:r>
            <a:endParaRPr lang="en-US" sz="1200" dirty="0"/>
          </a:p>
        </p:txBody>
      </p:sp>
      <p:sp>
        <p:nvSpPr>
          <p:cNvPr id="12" name="Text 10"/>
          <p:cNvSpPr/>
          <p:nvPr/>
        </p:nvSpPr>
        <p:spPr>
          <a:xfrm>
            <a:off x="11366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thời gian ở mỗi giai đoạn giảm 20%</a:t>
            </a:r>
            <a:endParaRPr lang="en-US" sz="1200" dirty="0"/>
          </a:p>
        </p:txBody>
      </p:sp>
      <p:sp>
        <p:nvSpPr>
          <p:cNvPr id="13" name="Shape 11"/>
          <p:cNvSpPr/>
          <p:nvPr/>
        </p:nvSpPr>
        <p:spPr>
          <a:xfrm>
            <a:off x="6188075" y="1488976"/>
            <a:ext cx="5187950" cy="4413349"/>
          </a:xfrm>
          <a:prstGeom prst="roundRect">
            <a:avLst>
              <a:gd name="adj" fmla="val 2230"/>
            </a:avLst>
          </a:prstGeom>
          <a:solidFill>
            <a:srgbClr val="FDFDFB"/>
          </a:solidFill>
          <a:ln w="6350">
            <a:solidFill>
              <a:srgbClr val="DEDBD2"/>
            </a:solidFill>
            <a:prstDash val="solid"/>
          </a:ln>
        </p:spPr>
      </p:sp>
      <p:sp>
        <p:nvSpPr>
          <p:cNvPr id="14" name="Text 12"/>
          <p:cNvSpPr/>
          <p:nvPr/>
        </p:nvSpPr>
        <p:spPr>
          <a:xfrm>
            <a:off x="63944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E5E"/>
                </a:solidFill>
                <a:latin typeface="Be Vietnam Pro" pitchFamily="34" charset="0"/>
                <a:ea typeface="Be Vietnam Pro" pitchFamily="34" charset="-122"/>
                <a:cs typeface="Be Vietnam Pro" pitchFamily="34" charset="-120"/>
              </a:rPr>
              <a:t>PL6 · Trung hạn · Thói quen · Quy trình</a:t>
            </a:r>
            <a:endParaRPr lang="en-US" sz="1200" dirty="0"/>
          </a:p>
        </p:txBody>
      </p:sp>
      <p:sp>
        <p:nvSpPr>
          <p:cNvPr id="15" name="Text 13"/>
          <p:cNvSpPr/>
          <p:nvPr/>
        </p:nvSpPr>
        <p:spPr>
          <a:xfrm>
            <a:off x="63944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AI chấm điểm khách hàng tiềm năng</a:t>
            </a:r>
            <a:endParaRPr lang="en-US" sz="1600" dirty="0"/>
          </a:p>
        </p:txBody>
      </p:sp>
      <p:sp>
        <p:nvSpPr>
          <p:cNvPr id="16" name="Text 14"/>
          <p:cNvSpPr/>
          <p:nvPr/>
        </p:nvSpPr>
        <p:spPr>
          <a:xfrm>
            <a:off x="6394450" y="2254052"/>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Giúp RM dồn thời gian vào khách hàng dễ chuyển đổi.</a:t>
            </a:r>
            <a:endParaRPr lang="en-US" sz="1200" dirty="0"/>
          </a:p>
        </p:txBody>
      </p:sp>
      <p:sp>
        <p:nvSpPr>
          <p:cNvPr id="17" name="Text 15"/>
          <p:cNvSpPr/>
          <p:nvPr/>
        </p:nvSpPr>
        <p:spPr>
          <a:xfrm>
            <a:off x="6394450" y="2543572"/>
            <a:ext cx="4918456" cy="878681"/>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Chấm điểm khách hàng tiềm năng, học từ lịch sử trên CRM</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Giải thích điểm: ngành, quy mô, giao dịch, mức tương tác</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Hiện lý do gợi ý để RM hiểu và tự quyết định</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RM đánh giá gợi ý đúng, sai để mô hình học lại</a:t>
            </a:r>
            <a:endParaRPr lang="en-US" sz="1200" dirty="0"/>
          </a:p>
        </p:txBody>
      </p:sp>
      <p:sp>
        <p:nvSpPr>
          <p:cNvPr id="18" name="Shape 16"/>
          <p:cNvSpPr/>
          <p:nvPr/>
        </p:nvSpPr>
        <p:spPr>
          <a:xfrm>
            <a:off x="6394450" y="4720828"/>
            <a:ext cx="4775200" cy="1025922"/>
          </a:xfrm>
          <a:prstGeom prst="roundRect">
            <a:avLst>
              <a:gd name="adj" fmla="val 6190"/>
            </a:avLst>
          </a:prstGeom>
          <a:solidFill>
            <a:srgbClr val="F3F1EB"/>
          </a:solidFill>
          <a:ln/>
        </p:spPr>
      </p:sp>
      <p:sp>
        <p:nvSpPr>
          <p:cNvPr id="19" name="Text 17"/>
          <p:cNvSpPr/>
          <p:nvPr/>
        </p:nvSpPr>
        <p:spPr>
          <a:xfrm>
            <a:off x="6508750" y="4797028"/>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 Hội sở khi lập chiến dịch</a:t>
            </a:r>
            <a:endParaRPr lang="en-US" sz="1200" dirty="0"/>
          </a:p>
        </p:txBody>
      </p:sp>
      <p:sp>
        <p:nvSpPr>
          <p:cNvPr id="20" name="Text 18"/>
          <p:cNvSpPr/>
          <p:nvPr/>
        </p:nvSpPr>
        <p:spPr>
          <a:xfrm>
            <a:off x="6508750" y="5028109"/>
            <a:ext cx="468299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tập trung khách hàng tiềm năng, tăng tỷ lệ chuyển đổi</a:t>
            </a:r>
            <a:endParaRPr lang="en-US" sz="1200" dirty="0"/>
          </a:p>
        </p:txBody>
      </p:sp>
      <p:sp>
        <p:nvSpPr>
          <p:cNvPr id="21" name="Text 19"/>
          <p:cNvSpPr/>
          <p:nvPr/>
        </p:nvSpPr>
        <p:spPr>
          <a:xfrm>
            <a:off x="65087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nhóm điểm cao chuyển đổi gấp 2 lần nhóm khác</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A4  ·  Gợi ý sản phẩm từ hành vi giao dịch: GD5, module Giao dịch</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5FA8"/>
                </a:solidFill>
                <a:latin typeface="Be Vietnam Pro" pitchFamily="34" charset="0"/>
                <a:ea typeface="Be Vietnam Pro" pitchFamily="34" charset="-122"/>
                <a:cs typeface="Be Vietnam Pro" pitchFamily="34" charset="-120"/>
              </a:rPr>
              <a:t>PHỤ LỤC A5 · SALES PIPELINE · PL2, PL5</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Ghi nhận mọi tương tác, tốn ít thời gian nhất</a:t>
            </a:r>
            <a:endParaRPr lang="en-US" sz="2800" dirty="0"/>
          </a:p>
        </p:txBody>
      </p:sp>
      <p:sp>
        <p:nvSpPr>
          <p:cNvPr id="4" name="Shape 2"/>
          <p:cNvSpPr/>
          <p:nvPr/>
        </p:nvSpPr>
        <p:spPr>
          <a:xfrm>
            <a:off x="815975" y="1488976"/>
            <a:ext cx="5187950" cy="4413349"/>
          </a:xfrm>
          <a:prstGeom prst="roundRect">
            <a:avLst>
              <a:gd name="adj" fmla="val 2230"/>
            </a:avLst>
          </a:prstGeom>
          <a:solidFill>
            <a:srgbClr val="FDFDFB"/>
          </a:solidFill>
          <a:ln w="6350">
            <a:solidFill>
              <a:srgbClr val="DEDBD2"/>
            </a:solidFill>
            <a:prstDash val="solid"/>
          </a:ln>
        </p:spPr>
      </p:sp>
      <p:sp>
        <p:nvSpPr>
          <p:cNvPr id="5" name="Text 3"/>
          <p:cNvSpPr/>
          <p:nvPr/>
        </p:nvSpPr>
        <p:spPr>
          <a:xfrm>
            <a:off x="10223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PL2 · Ngắn hạn · Cả 3 mục tiêu</a:t>
            </a:r>
            <a:endParaRPr lang="en-US" sz="1200" dirty="0"/>
          </a:p>
        </p:txBody>
      </p:sp>
      <p:sp>
        <p:nvSpPr>
          <p:cNvPr id="6" name="Text 4"/>
          <p:cNvSpPr/>
          <p:nvPr/>
        </p:nvSpPr>
        <p:spPr>
          <a:xfrm>
            <a:off x="10223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Biên bản gặp khách hàng trên điện thoại</a:t>
            </a:r>
            <a:endParaRPr lang="en-US" sz="1600" dirty="0"/>
          </a:p>
        </p:txBody>
      </p:sp>
      <p:sp>
        <p:nvSpPr>
          <p:cNvPr id="7" name="Text 5"/>
          <p:cNvSpPr/>
          <p:nvPr/>
        </p:nvSpPr>
        <p:spPr>
          <a:xfrm>
            <a:off x="1022350" y="2254052"/>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Ghi nhận cuộc gặp, cuộc gọi với khách hàng ngay sau khi diễn ra, trên điện thoại.</a:t>
            </a:r>
            <a:endParaRPr lang="en-US" sz="1200" dirty="0"/>
          </a:p>
        </p:txBody>
      </p:sp>
      <p:sp>
        <p:nvSpPr>
          <p:cNvPr id="8" name="Text 6"/>
          <p:cNvSpPr/>
          <p:nvPr/>
        </p:nvSpPr>
        <p:spPr>
          <a:xfrm>
            <a:off x="1022350" y="2756892"/>
            <a:ext cx="4918456" cy="151864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Mẫu biên bản theo loại: gặp lần đầu, khảo sát, đàm phán, chăm sóc</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Gắn vào khách hàng, cơ hội; hiện trên dòng thời gian hồ sơ 360</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Tạo việc tiếp theo, cập nhật giai đoạn cơ hội ngay trong biên bản</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Dùng được khi mạng yếu, tự đồng bộ khi có kết nối</a:t>
            </a:r>
            <a:endParaRPr lang="en-US" sz="1200" dirty="0"/>
          </a:p>
        </p:txBody>
      </p:sp>
      <p:sp>
        <p:nvSpPr>
          <p:cNvPr id="9" name="Shape 7"/>
          <p:cNvSpPr/>
          <p:nvPr/>
        </p:nvSpPr>
        <p:spPr>
          <a:xfrm>
            <a:off x="1022350" y="4720828"/>
            <a:ext cx="4775200" cy="1025922"/>
          </a:xfrm>
          <a:prstGeom prst="roundRect">
            <a:avLst>
              <a:gd name="adj" fmla="val 6190"/>
            </a:avLst>
          </a:prstGeom>
          <a:solidFill>
            <a:srgbClr val="F3F1EB"/>
          </a:solidFill>
          <a:ln/>
        </p:spPr>
      </p:sp>
      <p:sp>
        <p:nvSpPr>
          <p:cNvPr id="10" name="Text 8"/>
          <p:cNvSpPr/>
          <p:nvPr/>
        </p:nvSpPr>
        <p:spPr>
          <a:xfrm>
            <a:off x="1136650" y="4797028"/>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 chuyên viên hỗ trợ</a:t>
            </a:r>
            <a:endParaRPr lang="en-US" sz="1200" dirty="0"/>
          </a:p>
        </p:txBody>
      </p:sp>
      <p:sp>
        <p:nvSpPr>
          <p:cNvPr id="11" name="Text 9"/>
          <p:cNvSpPr/>
          <p:nvPr/>
        </p:nvSpPr>
        <p:spPr>
          <a:xfrm>
            <a:off x="1136650" y="5028109"/>
            <a:ext cx="468299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ghi nhận trong 2 phút, không mất thông tin khách hàng</a:t>
            </a:r>
            <a:endParaRPr lang="en-US" sz="1200" dirty="0"/>
          </a:p>
        </p:txBody>
      </p:sp>
      <p:sp>
        <p:nvSpPr>
          <p:cNvPr id="12" name="Text 10"/>
          <p:cNvSpPr/>
          <p:nvPr/>
        </p:nvSpPr>
        <p:spPr>
          <a:xfrm>
            <a:off x="11366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cuộc gặp có biên bản ≥ 60% → 80%</a:t>
            </a:r>
            <a:endParaRPr lang="en-US" sz="1200" dirty="0"/>
          </a:p>
        </p:txBody>
      </p:sp>
      <p:sp>
        <p:nvSpPr>
          <p:cNvPr id="13" name="Shape 11"/>
          <p:cNvSpPr/>
          <p:nvPr/>
        </p:nvSpPr>
        <p:spPr>
          <a:xfrm>
            <a:off x="6188075" y="1488976"/>
            <a:ext cx="5187950" cy="4413349"/>
          </a:xfrm>
          <a:prstGeom prst="roundRect">
            <a:avLst>
              <a:gd name="adj" fmla="val 2230"/>
            </a:avLst>
          </a:prstGeom>
          <a:solidFill>
            <a:srgbClr val="FDFDFB"/>
          </a:solidFill>
          <a:ln w="6350">
            <a:solidFill>
              <a:srgbClr val="DEDBD2"/>
            </a:solidFill>
            <a:prstDash val="solid"/>
          </a:ln>
        </p:spPr>
      </p:sp>
      <p:sp>
        <p:nvSpPr>
          <p:cNvPr id="14" name="Text 12"/>
          <p:cNvSpPr/>
          <p:nvPr/>
        </p:nvSpPr>
        <p:spPr>
          <a:xfrm>
            <a:off x="63944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E5E"/>
                </a:solidFill>
                <a:latin typeface="Be Vietnam Pro" pitchFamily="34" charset="0"/>
                <a:ea typeface="Be Vietnam Pro" pitchFamily="34" charset="-122"/>
                <a:cs typeface="Be Vietnam Pro" pitchFamily="34" charset="-120"/>
              </a:rPr>
              <a:t>PL5 · Trung hạn · Dữ liệu · Thói quen</a:t>
            </a:r>
            <a:endParaRPr lang="en-US" sz="1200" dirty="0"/>
          </a:p>
        </p:txBody>
      </p:sp>
      <p:sp>
        <p:nvSpPr>
          <p:cNvPr id="15" name="Text 13"/>
          <p:cNvSpPr/>
          <p:nvPr/>
        </p:nvSpPr>
        <p:spPr>
          <a:xfrm>
            <a:off x="63944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AI lập biên bản, tóm tắt khách hàng</a:t>
            </a:r>
            <a:endParaRPr lang="en-US" sz="1600" dirty="0"/>
          </a:p>
        </p:txBody>
      </p:sp>
      <p:sp>
        <p:nvSpPr>
          <p:cNvPr id="16" name="Text 14"/>
          <p:cNvSpPr/>
          <p:nvPr/>
        </p:nvSpPr>
        <p:spPr>
          <a:xfrm>
            <a:off x="6394450" y="2254052"/>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Giảm thời gian ghi chép và chuẩn bị trước buổi gặp.</a:t>
            </a:r>
            <a:endParaRPr lang="en-US" sz="1200" dirty="0"/>
          </a:p>
        </p:txBody>
      </p:sp>
      <p:sp>
        <p:nvSpPr>
          <p:cNvPr id="17" name="Text 15"/>
          <p:cNvSpPr/>
          <p:nvPr/>
        </p:nvSpPr>
        <p:spPr>
          <a:xfrm>
            <a:off x="6394450" y="2543572"/>
            <a:ext cx="4918456" cy="1731963"/>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RM ghi âm hoặc đọc ghi chú, AI chuyển thành biên bản theo mẫu</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AI tách nhu cầu, việc tiếp theo; RM xem và xác nhận trước khi lưu</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Trước buổi gặp: tóm tắt khách hàng từ giao dịch, tương tác, cơ hội mở</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Chạy trên hạ tầng ngân hàng, dữ liệu khách hàng không ra ngoài</a:t>
            </a:r>
            <a:endParaRPr lang="en-US" sz="1200" dirty="0"/>
          </a:p>
        </p:txBody>
      </p:sp>
      <p:sp>
        <p:nvSpPr>
          <p:cNvPr id="18" name="Shape 16"/>
          <p:cNvSpPr/>
          <p:nvPr/>
        </p:nvSpPr>
        <p:spPr>
          <a:xfrm>
            <a:off x="6394450" y="4926509"/>
            <a:ext cx="4775200" cy="820241"/>
          </a:xfrm>
          <a:prstGeom prst="roundRect">
            <a:avLst>
              <a:gd name="adj" fmla="val 7742"/>
            </a:avLst>
          </a:prstGeom>
          <a:solidFill>
            <a:srgbClr val="F3F1EB"/>
          </a:solidFill>
          <a:ln/>
        </p:spPr>
      </p:sp>
      <p:sp>
        <p:nvSpPr>
          <p:cNvPr id="19" name="Text 17"/>
          <p:cNvSpPr/>
          <p:nvPr/>
        </p:nvSpPr>
        <p:spPr>
          <a:xfrm>
            <a:off x="6508750" y="500270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a:t>
            </a:r>
            <a:endParaRPr lang="en-US" sz="1200" dirty="0"/>
          </a:p>
        </p:txBody>
      </p:sp>
      <p:sp>
        <p:nvSpPr>
          <p:cNvPr id="20" name="Text 18"/>
          <p:cNvSpPr/>
          <p:nvPr/>
        </p:nvSpPr>
        <p:spPr>
          <a:xfrm>
            <a:off x="6508750" y="523378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biên bản đầy đủ hơn, RM có thêm thời gian bán</a:t>
            </a:r>
            <a:endParaRPr lang="en-US" sz="1200" dirty="0"/>
          </a:p>
        </p:txBody>
      </p:sp>
      <p:sp>
        <p:nvSpPr>
          <p:cNvPr id="21" name="Text 19"/>
          <p:cNvSpPr/>
          <p:nvPr/>
        </p:nvSpPr>
        <p:spPr>
          <a:xfrm>
            <a:off x="65087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thời gian lập biên bản giảm 50%</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A5  ·  PL5 dùng chung mô hình AI với KH7 (tóm tắt khách hàng)</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E5E"/>
                </a:solidFill>
                <a:latin typeface="Be Vietnam Pro" pitchFamily="34" charset="0"/>
                <a:ea typeface="Be Vietnam Pro" pitchFamily="34" charset="-122"/>
                <a:cs typeface="Be Vietnam Pro" pitchFamily="34" charset="-120"/>
              </a:rPr>
              <a:t>PHỤ LỤC A6 · CHIẾN DỊCH, DỊCH VỤ KHÁCH HÀNG · CD1, DV1</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Khép kín vòng chiến dịch và phục vụ khách hàng</a:t>
            </a:r>
            <a:endParaRPr lang="en-US" sz="2800" dirty="0"/>
          </a:p>
        </p:txBody>
      </p:sp>
      <p:sp>
        <p:nvSpPr>
          <p:cNvPr id="4" name="Shape 2"/>
          <p:cNvSpPr/>
          <p:nvPr/>
        </p:nvSpPr>
        <p:spPr>
          <a:xfrm>
            <a:off x="815975" y="1488976"/>
            <a:ext cx="5187950" cy="4413349"/>
          </a:xfrm>
          <a:prstGeom prst="roundRect">
            <a:avLst>
              <a:gd name="adj" fmla="val 2230"/>
            </a:avLst>
          </a:prstGeom>
          <a:solidFill>
            <a:srgbClr val="FDFDFB"/>
          </a:solidFill>
          <a:ln w="6350">
            <a:solidFill>
              <a:srgbClr val="DEDBD2"/>
            </a:solidFill>
            <a:prstDash val="solid"/>
          </a:ln>
        </p:spPr>
      </p:sp>
      <p:sp>
        <p:nvSpPr>
          <p:cNvPr id="5" name="Text 3"/>
          <p:cNvSpPr/>
          <p:nvPr/>
        </p:nvSpPr>
        <p:spPr>
          <a:xfrm>
            <a:off x="10223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E5E"/>
                </a:solidFill>
                <a:latin typeface="Be Vietnam Pro" pitchFamily="34" charset="0"/>
                <a:ea typeface="Be Vietnam Pro" pitchFamily="34" charset="-122"/>
                <a:cs typeface="Be Vietnam Pro" pitchFamily="34" charset="-120"/>
              </a:rPr>
              <a:t>CD1 · Trung hạn · Dữ liệu · Quy trình</a:t>
            </a:r>
            <a:endParaRPr lang="en-US" sz="1200" dirty="0"/>
          </a:p>
        </p:txBody>
      </p:sp>
      <p:sp>
        <p:nvSpPr>
          <p:cNvPr id="6" name="Text 4"/>
          <p:cNvSpPr/>
          <p:nvPr/>
        </p:nvSpPr>
        <p:spPr>
          <a:xfrm>
            <a:off x="10223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Quản lý chiến dịch</a:t>
            </a:r>
            <a:endParaRPr lang="en-US" sz="1600" dirty="0"/>
          </a:p>
        </p:txBody>
      </p:sp>
      <p:sp>
        <p:nvSpPr>
          <p:cNvPr id="7" name="Text 5"/>
          <p:cNvSpPr/>
          <p:nvPr/>
        </p:nvSpPr>
        <p:spPr>
          <a:xfrm>
            <a:off x="1022350" y="2254052"/>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Quản lý chiến dịch từ Hội sở đến RM, đo được đến doanh số.</a:t>
            </a:r>
            <a:endParaRPr lang="en-US" sz="1200" dirty="0"/>
          </a:p>
        </p:txBody>
      </p:sp>
      <p:sp>
        <p:nvSpPr>
          <p:cNvPr id="8" name="Text 6"/>
          <p:cNvSpPr/>
          <p:nvPr/>
        </p:nvSpPr>
        <p:spPr>
          <a:xfrm>
            <a:off x="1022350" y="2543572"/>
            <a:ext cx="4918456" cy="109200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Hội sở lọc tệp khách hàng mục tiêu theo tiêu chí từ hồ sơ 360</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Tạo danh sách khách hàng, giao RM kèm hạn liên hệ</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RM cập nhật kết quả; khách hàng quan tâm thì chuyển thành cơ hội</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Báo cáo tỷ lệ tiếp cận, chuyển đổi, doanh số theo chiến dịch</a:t>
            </a:r>
            <a:endParaRPr lang="en-US" sz="1200" dirty="0"/>
          </a:p>
        </p:txBody>
      </p:sp>
      <p:sp>
        <p:nvSpPr>
          <p:cNvPr id="9" name="Shape 7"/>
          <p:cNvSpPr/>
          <p:nvPr/>
        </p:nvSpPr>
        <p:spPr>
          <a:xfrm>
            <a:off x="1022350" y="4720828"/>
            <a:ext cx="4775200" cy="1025922"/>
          </a:xfrm>
          <a:prstGeom prst="roundRect">
            <a:avLst>
              <a:gd name="adj" fmla="val 6190"/>
            </a:avLst>
          </a:prstGeom>
          <a:solidFill>
            <a:srgbClr val="F3F1EB"/>
          </a:solidFill>
          <a:ln/>
        </p:spPr>
      </p:sp>
      <p:sp>
        <p:nvSpPr>
          <p:cNvPr id="10" name="Text 8"/>
          <p:cNvSpPr/>
          <p:nvPr/>
        </p:nvSpPr>
        <p:spPr>
          <a:xfrm>
            <a:off x="1136650" y="4797028"/>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Hội sở (sản phẩm, marketing), RM</a:t>
            </a:r>
            <a:endParaRPr lang="en-US" sz="1200" dirty="0"/>
          </a:p>
        </p:txBody>
      </p:sp>
      <p:sp>
        <p:nvSpPr>
          <p:cNvPr id="11" name="Text 9"/>
          <p:cNvSpPr/>
          <p:nvPr/>
        </p:nvSpPr>
        <p:spPr>
          <a:xfrm>
            <a:off x="1136650" y="5028109"/>
            <a:ext cx="468299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bỏ giao khách hàng tiềm năng qua Excel, biết chiến dịch nào hiệu quả</a:t>
            </a:r>
            <a:endParaRPr lang="en-US" sz="1200" dirty="0"/>
          </a:p>
        </p:txBody>
      </p:sp>
      <p:sp>
        <p:nvSpPr>
          <p:cNvPr id="12" name="Text 10"/>
          <p:cNvSpPr/>
          <p:nvPr/>
        </p:nvSpPr>
        <p:spPr>
          <a:xfrm>
            <a:off x="11366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 90% khách hàng chiến dịch được liên hệ đúng hạn</a:t>
            </a:r>
            <a:endParaRPr lang="en-US" sz="1200" dirty="0"/>
          </a:p>
        </p:txBody>
      </p:sp>
      <p:sp>
        <p:nvSpPr>
          <p:cNvPr id="13" name="Shape 11"/>
          <p:cNvSpPr/>
          <p:nvPr/>
        </p:nvSpPr>
        <p:spPr>
          <a:xfrm>
            <a:off x="6188075" y="1488976"/>
            <a:ext cx="5187950" cy="4413349"/>
          </a:xfrm>
          <a:prstGeom prst="roundRect">
            <a:avLst>
              <a:gd name="adj" fmla="val 2230"/>
            </a:avLst>
          </a:prstGeom>
          <a:solidFill>
            <a:srgbClr val="FDFDFB"/>
          </a:solidFill>
          <a:ln w="6350">
            <a:solidFill>
              <a:srgbClr val="DEDBD2"/>
            </a:solidFill>
            <a:prstDash val="solid"/>
          </a:ln>
        </p:spPr>
      </p:sp>
      <p:sp>
        <p:nvSpPr>
          <p:cNvPr id="14" name="Text 12"/>
          <p:cNvSpPr/>
          <p:nvPr/>
        </p:nvSpPr>
        <p:spPr>
          <a:xfrm>
            <a:off x="63944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E5E"/>
                </a:solidFill>
                <a:latin typeface="Be Vietnam Pro" pitchFamily="34" charset="0"/>
                <a:ea typeface="Be Vietnam Pro" pitchFamily="34" charset="-122"/>
                <a:cs typeface="Be Vietnam Pro" pitchFamily="34" charset="-120"/>
              </a:rPr>
              <a:t>DV1 · Trung hạn · Dữ liệu · Quy trình</a:t>
            </a:r>
            <a:endParaRPr lang="en-US" sz="1200" dirty="0"/>
          </a:p>
        </p:txBody>
      </p:sp>
      <p:sp>
        <p:nvSpPr>
          <p:cNvPr id="15" name="Text 13"/>
          <p:cNvSpPr/>
          <p:nvPr/>
        </p:nvSpPr>
        <p:spPr>
          <a:xfrm>
            <a:off x="63944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Yêu cầu khách hàng</a:t>
            </a:r>
            <a:endParaRPr lang="en-US" sz="1600" dirty="0"/>
          </a:p>
        </p:txBody>
      </p:sp>
      <p:sp>
        <p:nvSpPr>
          <p:cNvPr id="16" name="Text 14"/>
          <p:cNvSpPr/>
          <p:nvPr/>
        </p:nvSpPr>
        <p:spPr>
          <a:xfrm>
            <a:off x="6394450" y="2254052"/>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Ghi nhận và theo dõi xử lý yêu cầu, khiếu nại của khách hàng doanh nghiệp trên CRM.</a:t>
            </a:r>
            <a:endParaRPr lang="en-US" sz="1200" dirty="0"/>
          </a:p>
        </p:txBody>
      </p:sp>
      <p:sp>
        <p:nvSpPr>
          <p:cNvPr id="17" name="Text 15"/>
          <p:cNvSpPr/>
          <p:nvPr/>
        </p:nvSpPr>
        <p:spPr>
          <a:xfrm>
            <a:off x="6394450" y="2756892"/>
            <a:ext cx="4918456" cy="878681"/>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RM tạo yêu cầu, phân loại theo danh mục chuẩn</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Tự phân công đơn vị xử lý, đặt thời hạn xử lý theo loại yêu cầu</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Cảnh báo sắp quá hạn; RM theo dõi để phản hồi khách hàng</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Hiện trên dòng thời gian hồ sơ 360</a:t>
            </a:r>
            <a:endParaRPr lang="en-US" sz="1200" dirty="0"/>
          </a:p>
        </p:txBody>
      </p:sp>
      <p:sp>
        <p:nvSpPr>
          <p:cNvPr id="18" name="Shape 16"/>
          <p:cNvSpPr/>
          <p:nvPr/>
        </p:nvSpPr>
        <p:spPr>
          <a:xfrm>
            <a:off x="6394450" y="4926509"/>
            <a:ext cx="4775200" cy="820241"/>
          </a:xfrm>
          <a:prstGeom prst="roundRect">
            <a:avLst>
              <a:gd name="adj" fmla="val 7742"/>
            </a:avLst>
          </a:prstGeom>
          <a:solidFill>
            <a:srgbClr val="F3F1EB"/>
          </a:solidFill>
          <a:ln/>
        </p:spPr>
      </p:sp>
      <p:sp>
        <p:nvSpPr>
          <p:cNvPr id="19" name="Text 17"/>
          <p:cNvSpPr/>
          <p:nvPr/>
        </p:nvSpPr>
        <p:spPr>
          <a:xfrm>
            <a:off x="6508750" y="500270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 đơn vị nghiệp vụ, dịch vụ khách hàng</a:t>
            </a:r>
            <a:endParaRPr lang="en-US" sz="1200" dirty="0"/>
          </a:p>
        </p:txBody>
      </p:sp>
      <p:sp>
        <p:nvSpPr>
          <p:cNvPr id="20" name="Text 18"/>
          <p:cNvSpPr/>
          <p:nvPr/>
        </p:nvSpPr>
        <p:spPr>
          <a:xfrm>
            <a:off x="6508750" y="523378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phục vụ khách hàng nhất quán, đủ dữ liệu 360</a:t>
            </a:r>
            <a:endParaRPr lang="en-US" sz="1200" dirty="0"/>
          </a:p>
        </p:txBody>
      </p:sp>
      <p:sp>
        <p:nvSpPr>
          <p:cNvPr id="21" name="Text 19"/>
          <p:cNvSpPr/>
          <p:nvPr/>
        </p:nvSpPr>
        <p:spPr>
          <a:xfrm>
            <a:off x="65087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 90% yêu cầu xử lý đúng hạn</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A6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540F"/>
                </a:solidFill>
                <a:latin typeface="Be Vietnam Pro" pitchFamily="34" charset="0"/>
                <a:ea typeface="Be Vietnam Pro" pitchFamily="34" charset="-122"/>
                <a:cs typeface="Be Vietnam Pro" pitchFamily="34" charset="-120"/>
              </a:rPr>
              <a:t>PHỤ LỤC A7 · HIỆU SUẤT HOẠT ĐỘNG · HS1, HS4–HS5</a:t>
            </a:r>
            <a:endParaRPr lang="en-US" sz="1200" dirty="0"/>
          </a:p>
        </p:txBody>
      </p:sp>
      <p:sp>
        <p:nvSpPr>
          <p:cNvPr id="3" name="Text 1"/>
          <p:cNvSpPr/>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3233F"/>
                </a:solidFill>
                <a:latin typeface="Be Vietnam Pro" pitchFamily="34" charset="0"/>
                <a:ea typeface="Be Vietnam Pro" pitchFamily="34" charset="-122"/>
                <a:cs typeface="Be Vietnam Pro" pitchFamily="34" charset="-120"/>
              </a:rPr>
              <a:t>Điều hành bằng CRM, duy trì thói quen dùng CRM</a:t>
            </a:r>
            <a:endParaRPr lang="en-US" sz="2800" dirty="0"/>
          </a:p>
        </p:txBody>
      </p:sp>
      <p:sp>
        <p:nvSpPr>
          <p:cNvPr id="4" name="Shape 2"/>
          <p:cNvSpPr/>
          <p:nvPr/>
        </p:nvSpPr>
        <p:spPr>
          <a:xfrm>
            <a:off x="815975" y="1488976"/>
            <a:ext cx="5187950" cy="4413349"/>
          </a:xfrm>
          <a:prstGeom prst="roundRect">
            <a:avLst>
              <a:gd name="adj" fmla="val 2230"/>
            </a:avLst>
          </a:prstGeom>
          <a:solidFill>
            <a:srgbClr val="FDFDFB"/>
          </a:solidFill>
          <a:ln w="6350">
            <a:solidFill>
              <a:srgbClr val="DEDBD2"/>
            </a:solidFill>
            <a:prstDash val="solid"/>
          </a:ln>
        </p:spPr>
      </p:sp>
      <p:sp>
        <p:nvSpPr>
          <p:cNvPr id="5" name="Text 3"/>
          <p:cNvSpPr/>
          <p:nvPr/>
        </p:nvSpPr>
        <p:spPr>
          <a:xfrm>
            <a:off x="10223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5FA8"/>
                </a:solidFill>
                <a:latin typeface="Be Vietnam Pro" pitchFamily="34" charset="0"/>
                <a:ea typeface="Be Vietnam Pro" pitchFamily="34" charset="-122"/>
                <a:cs typeface="Be Vietnam Pro" pitchFamily="34" charset="-120"/>
              </a:rPr>
              <a:t>HS1 · Ngắn hạn · Thói quen · Quy trình</a:t>
            </a:r>
            <a:endParaRPr lang="en-US" sz="1200" dirty="0"/>
          </a:p>
        </p:txBody>
      </p:sp>
      <p:sp>
        <p:nvSpPr>
          <p:cNvPr id="6" name="Text 4"/>
          <p:cNvSpPr/>
          <p:nvPr/>
        </p:nvSpPr>
        <p:spPr>
          <a:xfrm>
            <a:off x="10223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Bảng điều hành cho RM và quản lý</a:t>
            </a:r>
            <a:endParaRPr lang="en-US" sz="1600" dirty="0"/>
          </a:p>
        </p:txBody>
      </p:sp>
      <p:sp>
        <p:nvSpPr>
          <p:cNvPr id="7" name="Text 5"/>
          <p:cNvSpPr/>
          <p:nvPr/>
        </p:nvSpPr>
        <p:spPr>
          <a:xfrm>
            <a:off x="1022350" y="2254052"/>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Mỗi cấp thấy đúng số liệu cần để bán hàng và điều hành.</a:t>
            </a:r>
            <a:endParaRPr lang="en-US" sz="1200" dirty="0"/>
          </a:p>
        </p:txBody>
      </p:sp>
      <p:sp>
        <p:nvSpPr>
          <p:cNvPr id="8" name="Text 6"/>
          <p:cNvSpPr/>
          <p:nvPr/>
        </p:nvSpPr>
        <p:spPr>
          <a:xfrm>
            <a:off x="1022350" y="2543572"/>
            <a:ext cx="4918456" cy="151864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RM: việc hôm nay, cơ hội của mình, khách hàng lâu chưa chăm sóc</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Chi nhánh: cơ hội theo từng giai đoạn, tỷ lệ chuyển đổi, tiến độ chỉ tiêu</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Hội sở: so sánh chi nhánh, chất lượng dữ liệu, mức độ sử dụng</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Đi từ số tổng xuống từng cơ hội; dùng trực tiếp khi họp giao ban</a:t>
            </a:r>
            <a:endParaRPr lang="en-US" sz="1200" dirty="0"/>
          </a:p>
        </p:txBody>
      </p:sp>
      <p:sp>
        <p:nvSpPr>
          <p:cNvPr id="9" name="Shape 7"/>
          <p:cNvSpPr/>
          <p:nvPr/>
        </p:nvSpPr>
        <p:spPr>
          <a:xfrm>
            <a:off x="1022350" y="4720828"/>
            <a:ext cx="4775200" cy="1025922"/>
          </a:xfrm>
          <a:prstGeom prst="roundRect">
            <a:avLst>
              <a:gd name="adj" fmla="val 6190"/>
            </a:avLst>
          </a:prstGeom>
          <a:solidFill>
            <a:srgbClr val="F3F1EB"/>
          </a:solidFill>
          <a:ln/>
        </p:spPr>
      </p:sp>
      <p:sp>
        <p:nvSpPr>
          <p:cNvPr id="10" name="Text 8"/>
          <p:cNvSpPr/>
          <p:nvPr/>
        </p:nvSpPr>
        <p:spPr>
          <a:xfrm>
            <a:off x="1136650" y="4797028"/>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 trưởng phòng, giám đốc chi nhánh, Hội sở</a:t>
            </a:r>
            <a:endParaRPr lang="en-US" sz="1200" dirty="0"/>
          </a:p>
        </p:txBody>
      </p:sp>
      <p:sp>
        <p:nvSpPr>
          <p:cNvPr id="11" name="Text 9"/>
          <p:cNvSpPr/>
          <p:nvPr/>
        </p:nvSpPr>
        <p:spPr>
          <a:xfrm>
            <a:off x="1136650" y="502810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điều hành bằng CRM, bỏ báo cáo Excel thủ công</a:t>
            </a:r>
            <a:endParaRPr lang="en-US" sz="1200" dirty="0"/>
          </a:p>
        </p:txBody>
      </p:sp>
      <p:sp>
        <p:nvSpPr>
          <p:cNvPr id="12" name="Text 10"/>
          <p:cNvSpPr/>
          <p:nvPr/>
        </p:nvSpPr>
        <p:spPr>
          <a:xfrm>
            <a:off x="1136650" y="5259189"/>
            <a:ext cx="468299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100% họp giao ban khách hàng doanh nghiệp dùng bảng điều hành CRM</a:t>
            </a:r>
            <a:endParaRPr lang="en-US" sz="1200" dirty="0"/>
          </a:p>
        </p:txBody>
      </p:sp>
      <p:sp>
        <p:nvSpPr>
          <p:cNvPr id="13" name="Shape 11"/>
          <p:cNvSpPr/>
          <p:nvPr/>
        </p:nvSpPr>
        <p:spPr>
          <a:xfrm>
            <a:off x="6188075" y="1488976"/>
            <a:ext cx="5187950" cy="4413349"/>
          </a:xfrm>
          <a:prstGeom prst="roundRect">
            <a:avLst>
              <a:gd name="adj" fmla="val 2230"/>
            </a:avLst>
          </a:prstGeom>
          <a:solidFill>
            <a:srgbClr val="FDFDFB"/>
          </a:solidFill>
          <a:ln w="6350">
            <a:solidFill>
              <a:srgbClr val="DEDBD2"/>
            </a:solidFill>
            <a:prstDash val="solid"/>
          </a:ln>
        </p:spPr>
      </p:sp>
      <p:sp>
        <p:nvSpPr>
          <p:cNvPr id="14" name="Text 12"/>
          <p:cNvSpPr/>
          <p:nvPr/>
        </p:nvSpPr>
        <p:spPr>
          <a:xfrm>
            <a:off x="6394450" y="164455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6E5E"/>
                </a:solidFill>
                <a:latin typeface="Be Vietnam Pro" pitchFamily="34" charset="0"/>
                <a:ea typeface="Be Vietnam Pro" pitchFamily="34" charset="-122"/>
                <a:cs typeface="Be Vietnam Pro" pitchFamily="34" charset="-120"/>
              </a:rPr>
              <a:t>HS4–HS5 · Trung hạn · Thói quen</a:t>
            </a:r>
            <a:endParaRPr lang="en-US" sz="1200" dirty="0"/>
          </a:p>
        </p:txBody>
      </p:sp>
      <p:sp>
        <p:nvSpPr>
          <p:cNvPr id="15" name="Text 13"/>
          <p:cNvSpPr/>
          <p:nvPr/>
        </p:nvSpPr>
        <p:spPr>
          <a:xfrm>
            <a:off x="6394450" y="193407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F"/>
                </a:solidFill>
                <a:latin typeface="Be Vietnam Pro" pitchFamily="34" charset="0"/>
                <a:ea typeface="Be Vietnam Pro" pitchFamily="34" charset="-122"/>
                <a:cs typeface="Be Vietnam Pro" pitchFamily="34" charset="-120"/>
              </a:rPr>
              <a:t>Thi đua và KPI trên CRM</a:t>
            </a:r>
            <a:endParaRPr lang="en-US" sz="1600" dirty="0"/>
          </a:p>
        </p:txBody>
      </p:sp>
      <p:sp>
        <p:nvSpPr>
          <p:cNvPr id="16" name="Text 14"/>
          <p:cNvSpPr/>
          <p:nvPr/>
        </p:nvSpPr>
        <p:spPr>
          <a:xfrm>
            <a:off x="6394450" y="2254052"/>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F"/>
                </a:solidFill>
                <a:latin typeface="Be Vietnam Pro" pitchFamily="34" charset="0"/>
                <a:ea typeface="Be Vietnam Pro" pitchFamily="34" charset="-122"/>
                <a:cs typeface="Be Vietnam Pro" pitchFamily="34" charset="-120"/>
              </a:rPr>
              <a:t>Gắn việc dùng CRM với ghi nhận, thi đua và đánh giá.</a:t>
            </a:r>
            <a:endParaRPr lang="en-US" sz="1200" dirty="0"/>
          </a:p>
        </p:txBody>
      </p:sp>
      <p:sp>
        <p:nvSpPr>
          <p:cNvPr id="17" name="Text 15"/>
          <p:cNvSpPr/>
          <p:nvPr/>
        </p:nvSpPr>
        <p:spPr>
          <a:xfrm>
            <a:off x="6394450" y="2543572"/>
            <a:ext cx="4918456" cy="1305322"/>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Tính điểm hành vi tốt: lập biên bản, hoàn thiện hồ sơ, đóng cơ hội</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Huy hiệu, bảng xếp hạng RM, phòng, chi nhánh theo tháng, quý</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Đẩy chỉ số sử dụng CRM sang hệ thống KPI đánh giá</a:t>
            </a:r>
            <a:endParaRPr lang="en-US" sz="1200" dirty="0"/>
          </a:p>
          <a:p>
            <a:pPr marL="182880" indent="-155194" algn="l">
              <a:lnSpc>
                <a:spcPts val="1680"/>
              </a:lnSpc>
              <a:buSzPct val="100000"/>
              <a:buChar char="•"/>
            </a:pPr>
            <a:r>
              <a:rPr lang="en-US" sz="1200" dirty="0">
                <a:solidFill>
                  <a:srgbClr val="3D4A5C"/>
                </a:solidFill>
                <a:latin typeface="Be Vietnam Pro" pitchFamily="34" charset="0"/>
                <a:ea typeface="Be Vietnam Pro" pitchFamily="34" charset="-122"/>
                <a:cs typeface="Be Vietnam Pro" pitchFamily="34" charset="-120"/>
              </a:rPr>
              <a:t>Doanh số chỉ ghi nhận khi có cơ hội tương ứng trên CRM</a:t>
            </a:r>
            <a:endParaRPr lang="en-US" sz="1200" dirty="0"/>
          </a:p>
        </p:txBody>
      </p:sp>
      <p:sp>
        <p:nvSpPr>
          <p:cNvPr id="18" name="Shape 16"/>
          <p:cNvSpPr/>
          <p:nvPr/>
        </p:nvSpPr>
        <p:spPr>
          <a:xfrm>
            <a:off x="6394450" y="4926509"/>
            <a:ext cx="4775200" cy="820241"/>
          </a:xfrm>
          <a:prstGeom prst="roundRect">
            <a:avLst>
              <a:gd name="adj" fmla="val 7742"/>
            </a:avLst>
          </a:prstGeom>
          <a:solidFill>
            <a:srgbClr val="F3F1EB"/>
          </a:solidFill>
          <a:ln/>
        </p:spPr>
      </p:sp>
      <p:sp>
        <p:nvSpPr>
          <p:cNvPr id="19" name="Text 17"/>
          <p:cNvSpPr/>
          <p:nvPr/>
        </p:nvSpPr>
        <p:spPr>
          <a:xfrm>
            <a:off x="6508750" y="500270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Người dùng:</a:t>
            </a:r>
            <a:r>
              <a:rPr lang="en-US" sz="1200" dirty="0">
                <a:solidFill>
                  <a:srgbClr val="3D4A5C"/>
                </a:solidFill>
                <a:latin typeface="Be Vietnam Pro" pitchFamily="34" charset="0"/>
                <a:ea typeface="Be Vietnam Pro" pitchFamily="34" charset="-122"/>
                <a:cs typeface="Be Vietnam Pro" pitchFamily="34" charset="-120"/>
              </a:rPr>
              <a:t> RM, quản lý, Khối nhân sự</a:t>
            </a:r>
            <a:endParaRPr lang="en-US" sz="1200" dirty="0"/>
          </a:p>
        </p:txBody>
      </p:sp>
      <p:sp>
        <p:nvSpPr>
          <p:cNvPr id="20" name="Text 18"/>
          <p:cNvSpPr/>
          <p:nvPr/>
        </p:nvSpPr>
        <p:spPr>
          <a:xfrm>
            <a:off x="6508750" y="5233789"/>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Giá trị:</a:t>
            </a:r>
            <a:r>
              <a:rPr lang="en-US" sz="1200" dirty="0">
                <a:solidFill>
                  <a:srgbClr val="3D4A5C"/>
                </a:solidFill>
                <a:latin typeface="Be Vietnam Pro" pitchFamily="34" charset="0"/>
                <a:ea typeface="Be Vietnam Pro" pitchFamily="34" charset="-122"/>
                <a:cs typeface="Be Vietnam Pro" pitchFamily="34" charset="-120"/>
              </a:rPr>
              <a:t> thói quen dùng CRM được duy trì lâu dài</a:t>
            </a:r>
            <a:endParaRPr lang="en-US" sz="1200" dirty="0"/>
          </a:p>
        </p:txBody>
      </p:sp>
      <p:sp>
        <p:nvSpPr>
          <p:cNvPr id="21" name="Text 19"/>
          <p:cNvSpPr/>
          <p:nvPr/>
        </p:nvSpPr>
        <p:spPr>
          <a:xfrm>
            <a:off x="6508750" y="5464870"/>
            <a:ext cx="4682998"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D4A5C"/>
                </a:solidFill>
                <a:latin typeface="Be Vietnam Pro" pitchFamily="34" charset="0"/>
                <a:ea typeface="Be Vietnam Pro" pitchFamily="34" charset="-122"/>
                <a:cs typeface="Be Vietnam Pro" pitchFamily="34" charset="-120"/>
              </a:rPr>
              <a:t>KPI:</a:t>
            </a:r>
            <a:r>
              <a:rPr lang="en-US" sz="1200" dirty="0">
                <a:solidFill>
                  <a:srgbClr val="3D4A5C"/>
                </a:solidFill>
                <a:latin typeface="Be Vietnam Pro" pitchFamily="34" charset="0"/>
                <a:ea typeface="Be Vietnam Pro" pitchFamily="34" charset="-122"/>
                <a:cs typeface="Be Vietnam Pro" pitchFamily="34" charset="-120"/>
              </a:rPr>
              <a:t> ≥ 85% RM dùng hằng tháng; ≥ 90% doanh số gắn cơ hội</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B"/>
                </a:solidFill>
                <a:latin typeface="Be Vietnam Pro" pitchFamily="34" charset="0"/>
                <a:ea typeface="Be Vietnam Pro" pitchFamily="34" charset="-122"/>
                <a:cs typeface="Be Vietnam Pro" pitchFamily="34" charset="-120"/>
              </a:rPr>
              <a:t>CRM1.0 · Đề bài 1  |  A7  ·  Khi quản lý điều hành bằng CRM, RM sẽ cập nhật CRM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6009</Words>
  <Application>Microsoft Office PowerPoint</Application>
  <PresentationFormat>Widescreen</PresentationFormat>
  <Paragraphs>643</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Be Vietnam Pro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CRM1.0 VietinBank – Lộ trình</dc:title>
  <dc:subject>PptxGenJS Presentation</dc:subject>
  <dc:creator>PptxGenJS</dc:creator>
  <cp:lastModifiedBy>Trình Thị Liên (VH-KS&amp;M-KDOL)</cp:lastModifiedBy>
  <cp:revision>13</cp:revision>
  <dcterms:created xsi:type="dcterms:W3CDTF">2026-09-30T02:50:01Z</dcterms:created>
  <dcterms:modified xsi:type="dcterms:W3CDTF">2026-09-30T07:26:10Z</dcterms:modified>
</cp:coreProperties>
</file>